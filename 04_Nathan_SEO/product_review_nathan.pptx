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16" d="100"/>
          <a:sy n="116" d="100"/>
        </p:scale>
        <p:origin x="67" y="-1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1342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Nathan, student ID A1963344. Capstone client is Aphrodite's Harvest — an Adelaide-based apiary. Today's review covers my individual contribution: SEO strategy, live implementation, and Chapter 7 of the Self-Management Toolkit.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 came in with an under-optimised site and two goals: more organic traffic for course enrolments, and self-sufficiency after handover. My work addressed both. Chapter 7 is the handover document; everything else is the live implementation.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task. All 8 items are complete. For each one, point to its demo path — these are exactly what we'll screen-share. The backlog/journal also cross-references all of these.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decision: RankMath over Yoast because the free tier covers everything this small business needs, and it integrates directly into Elementor. Every page had missing or generic meta — I rewrote all five to include the focus keyword within character limits.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keyword strategy mixes transactional local terms for conversion (courses, shop) with high-volume informational terms (varroa mite, what is raw honey) to build topical authority. The blog posts are the main authority-building play — they rank for informational queries and funnel users toward course pages via internal links.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staging vs live comparison is the cleanest proof of implementation. Walk through each row. The most important point: every change uses the RankMath GUI and Elementor visual editor — no code — so Aphrodite can maintain and extend the site herself after handover.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pillars of supporting documentation. Chapter 7 is the main written artefact. The backlog verifies the quantity and quality of work over the semester. Live site evidence is demonstrable during the screen share. Research methodology is documented within Chapter 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your run-sheet during the viva. Have all 8 tabs/windows open before the session starts. Start with the visual comparison (staging vs live) — it's the strongest proof-of-implementation moment. Finish with Chapter 7 since it ties everything together.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CLOs to show the assessor you understand how your work maps to course outcomes. Be specific — don't just read the slide, add one sentence of your own reflection for each CLO.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deliverables are open and ready. Summarise: Chapter 7 is the handover document. Live implementation covers RankMath, meta, image alt text, blogs, and homepage redesign. Demo runs are in order on the previous slide. Thank the supervisor.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200"/>
        </a:solidFill>
        <a:effectLst/>
      </p:bgPr>
    </p:bg>
    <p:spTree>
      <p:nvGrpSpPr>
        <p:cNvPr id="1" name=""/>
        <p:cNvGrpSpPr/>
        <p:nvPr/>
      </p:nvGrpSpPr>
      <p:grpSpPr>
        <a:xfrm>
          <a:off x="0" y="0"/>
          <a:ext cx="0" cy="0"/>
          <a:chOff x="0" y="0"/>
          <a:chExt cx="0" cy="0"/>
        </a:xfrm>
      </p:grpSpPr>
      <p:sp>
        <p:nvSpPr>
          <p:cNvPr id="2" name="Shape 0"/>
          <p:cNvSpPr/>
          <p:nvPr/>
        </p:nvSpPr>
        <p:spPr>
          <a:xfrm>
            <a:off x="7406640" y="164592"/>
            <a:ext cx="438912" cy="438912"/>
          </a:xfrm>
          <a:prstGeom prst="ellipse">
            <a:avLst/>
          </a:prstGeom>
          <a:solidFill>
            <a:srgbClr val="D4870A">
              <a:alpha val="22000"/>
            </a:srgbClr>
          </a:solidFill>
          <a:ln w="6350">
            <a:solidFill>
              <a:srgbClr val="D4870A">
                <a:alpha val="50000"/>
              </a:srgbClr>
            </a:solidFill>
            <a:prstDash val="solid"/>
          </a:ln>
        </p:spPr>
      </p:sp>
      <p:sp>
        <p:nvSpPr>
          <p:cNvPr id="3" name="Shape 1"/>
          <p:cNvSpPr/>
          <p:nvPr/>
        </p:nvSpPr>
        <p:spPr>
          <a:xfrm>
            <a:off x="7955280" y="164592"/>
            <a:ext cx="438912" cy="438912"/>
          </a:xfrm>
          <a:prstGeom prst="ellipse">
            <a:avLst/>
          </a:prstGeom>
          <a:solidFill>
            <a:srgbClr val="D4870A">
              <a:alpha val="22000"/>
            </a:srgbClr>
          </a:solidFill>
          <a:ln w="6350">
            <a:solidFill>
              <a:srgbClr val="D4870A">
                <a:alpha val="50000"/>
              </a:srgbClr>
            </a:solidFill>
            <a:prstDash val="solid"/>
          </a:ln>
        </p:spPr>
      </p:sp>
      <p:sp>
        <p:nvSpPr>
          <p:cNvPr id="4" name="Shape 2"/>
          <p:cNvSpPr/>
          <p:nvPr/>
        </p:nvSpPr>
        <p:spPr>
          <a:xfrm>
            <a:off x="8503920" y="164592"/>
            <a:ext cx="438912" cy="438912"/>
          </a:xfrm>
          <a:prstGeom prst="ellipse">
            <a:avLst/>
          </a:prstGeom>
          <a:solidFill>
            <a:srgbClr val="D4870A">
              <a:alpha val="22000"/>
            </a:srgbClr>
          </a:solidFill>
          <a:ln w="6350">
            <a:solidFill>
              <a:srgbClr val="D4870A">
                <a:alpha val="50000"/>
              </a:srgbClr>
            </a:solidFill>
            <a:prstDash val="solid"/>
          </a:ln>
        </p:spPr>
      </p:sp>
      <p:sp>
        <p:nvSpPr>
          <p:cNvPr id="5" name="Shape 3"/>
          <p:cNvSpPr/>
          <p:nvPr/>
        </p:nvSpPr>
        <p:spPr>
          <a:xfrm>
            <a:off x="7132320" y="594360"/>
            <a:ext cx="438912" cy="438912"/>
          </a:xfrm>
          <a:prstGeom prst="ellipse">
            <a:avLst/>
          </a:prstGeom>
          <a:solidFill>
            <a:srgbClr val="D4870A">
              <a:alpha val="22000"/>
            </a:srgbClr>
          </a:solidFill>
          <a:ln w="6350">
            <a:solidFill>
              <a:srgbClr val="D4870A">
                <a:alpha val="50000"/>
              </a:srgbClr>
            </a:solidFill>
            <a:prstDash val="solid"/>
          </a:ln>
        </p:spPr>
      </p:sp>
      <p:sp>
        <p:nvSpPr>
          <p:cNvPr id="6" name="Shape 4"/>
          <p:cNvSpPr/>
          <p:nvPr/>
        </p:nvSpPr>
        <p:spPr>
          <a:xfrm>
            <a:off x="7680960" y="594360"/>
            <a:ext cx="438912" cy="438912"/>
          </a:xfrm>
          <a:prstGeom prst="ellipse">
            <a:avLst/>
          </a:prstGeom>
          <a:solidFill>
            <a:srgbClr val="D4870A">
              <a:alpha val="22000"/>
            </a:srgbClr>
          </a:solidFill>
          <a:ln w="6350">
            <a:solidFill>
              <a:srgbClr val="D4870A">
                <a:alpha val="50000"/>
              </a:srgbClr>
            </a:solidFill>
            <a:prstDash val="solid"/>
          </a:ln>
        </p:spPr>
      </p:sp>
      <p:sp>
        <p:nvSpPr>
          <p:cNvPr id="7" name="Shape 5"/>
          <p:cNvSpPr/>
          <p:nvPr/>
        </p:nvSpPr>
        <p:spPr>
          <a:xfrm>
            <a:off x="8229600" y="594360"/>
            <a:ext cx="438912" cy="438912"/>
          </a:xfrm>
          <a:prstGeom prst="ellipse">
            <a:avLst/>
          </a:prstGeom>
          <a:solidFill>
            <a:srgbClr val="D4870A">
              <a:alpha val="22000"/>
            </a:srgbClr>
          </a:solidFill>
          <a:ln w="6350">
            <a:solidFill>
              <a:srgbClr val="D4870A">
                <a:alpha val="50000"/>
              </a:srgbClr>
            </a:solidFill>
            <a:prstDash val="solid"/>
          </a:ln>
        </p:spPr>
      </p:sp>
      <p:sp>
        <p:nvSpPr>
          <p:cNvPr id="8" name="Shape 6"/>
          <p:cNvSpPr/>
          <p:nvPr/>
        </p:nvSpPr>
        <p:spPr>
          <a:xfrm>
            <a:off x="8778240" y="594360"/>
            <a:ext cx="438912" cy="438912"/>
          </a:xfrm>
          <a:prstGeom prst="ellipse">
            <a:avLst/>
          </a:prstGeom>
          <a:solidFill>
            <a:srgbClr val="D4870A">
              <a:alpha val="22000"/>
            </a:srgbClr>
          </a:solidFill>
          <a:ln w="6350">
            <a:solidFill>
              <a:srgbClr val="D4870A">
                <a:alpha val="50000"/>
              </a:srgbClr>
            </a:solidFill>
            <a:prstDash val="solid"/>
          </a:ln>
        </p:spPr>
      </p:sp>
      <p:sp>
        <p:nvSpPr>
          <p:cNvPr id="9" name="Shape 7"/>
          <p:cNvSpPr/>
          <p:nvPr/>
        </p:nvSpPr>
        <p:spPr>
          <a:xfrm>
            <a:off x="7406640" y="1024128"/>
            <a:ext cx="438912" cy="438912"/>
          </a:xfrm>
          <a:prstGeom prst="ellipse">
            <a:avLst/>
          </a:prstGeom>
          <a:solidFill>
            <a:srgbClr val="D4870A">
              <a:alpha val="22000"/>
            </a:srgbClr>
          </a:solidFill>
          <a:ln w="6350">
            <a:solidFill>
              <a:srgbClr val="D4870A">
                <a:alpha val="50000"/>
              </a:srgbClr>
            </a:solidFill>
            <a:prstDash val="solid"/>
          </a:ln>
        </p:spPr>
      </p:sp>
      <p:sp>
        <p:nvSpPr>
          <p:cNvPr id="10" name="Shape 8"/>
          <p:cNvSpPr/>
          <p:nvPr/>
        </p:nvSpPr>
        <p:spPr>
          <a:xfrm>
            <a:off x="7955280" y="1024128"/>
            <a:ext cx="438912" cy="438912"/>
          </a:xfrm>
          <a:prstGeom prst="ellipse">
            <a:avLst/>
          </a:prstGeom>
          <a:solidFill>
            <a:srgbClr val="D4870A">
              <a:alpha val="22000"/>
            </a:srgbClr>
          </a:solidFill>
          <a:ln w="6350">
            <a:solidFill>
              <a:srgbClr val="D4870A">
                <a:alpha val="50000"/>
              </a:srgbClr>
            </a:solidFill>
            <a:prstDash val="solid"/>
          </a:ln>
        </p:spPr>
      </p:sp>
      <p:sp>
        <p:nvSpPr>
          <p:cNvPr id="11" name="Shape 9"/>
          <p:cNvSpPr/>
          <p:nvPr/>
        </p:nvSpPr>
        <p:spPr>
          <a:xfrm>
            <a:off x="8503920" y="1024128"/>
            <a:ext cx="438912" cy="438912"/>
          </a:xfrm>
          <a:prstGeom prst="ellipse">
            <a:avLst/>
          </a:prstGeom>
          <a:solidFill>
            <a:srgbClr val="D4870A">
              <a:alpha val="22000"/>
            </a:srgbClr>
          </a:solidFill>
          <a:ln w="6350">
            <a:solidFill>
              <a:srgbClr val="D4870A">
                <a:alpha val="50000"/>
              </a:srgbClr>
            </a:solidFill>
            <a:prstDash val="solid"/>
          </a:ln>
        </p:spPr>
      </p:sp>
      <p:sp>
        <p:nvSpPr>
          <p:cNvPr id="12" name="Shape 10"/>
          <p:cNvSpPr/>
          <p:nvPr/>
        </p:nvSpPr>
        <p:spPr>
          <a:xfrm>
            <a:off x="502920" y="365760"/>
            <a:ext cx="1005840" cy="1005840"/>
          </a:xfrm>
          <a:prstGeom prst="ellipse">
            <a:avLst/>
          </a:prstGeom>
          <a:solidFill>
            <a:srgbClr val="D4870A">
              <a:alpha val="85000"/>
            </a:srgbClr>
          </a:solidFill>
          <a:ln w="25400">
            <a:solidFill>
              <a:srgbClr val="F5A623"/>
            </a:solidFill>
            <a:prstDash val="solid"/>
          </a:ln>
        </p:spPr>
      </p:sp>
      <p:sp>
        <p:nvSpPr>
          <p:cNvPr id="13" name="Text 11"/>
          <p:cNvSpPr/>
          <p:nvPr/>
        </p:nvSpPr>
        <p:spPr>
          <a:xfrm>
            <a:off x="502920" y="347472"/>
            <a:ext cx="1005840" cy="1005840"/>
          </a:xfrm>
          <a:prstGeom prst="rect">
            <a:avLst/>
          </a:prstGeom>
          <a:noFill/>
          <a:ln/>
        </p:spPr>
        <p:txBody>
          <a:bodyPr wrap="square" rtlCol="0" anchor="ctr"/>
          <a:lstStyle/>
          <a:p>
            <a:pPr marL="0" indent="0" algn="ctr">
              <a:buNone/>
            </a:pPr>
            <a:r>
              <a:rPr lang="en-US" sz="3600" dirty="0">
                <a:solidFill>
                  <a:srgbClr val="000000"/>
                </a:solidFill>
              </a:rPr>
              <a:t>🐝</a:t>
            </a:r>
            <a:endParaRPr lang="en-US" sz="3600" dirty="0"/>
          </a:p>
        </p:txBody>
      </p:sp>
      <p:sp>
        <p:nvSpPr>
          <p:cNvPr id="14" name="Text 12"/>
          <p:cNvSpPr/>
          <p:nvPr/>
        </p:nvSpPr>
        <p:spPr>
          <a:xfrm>
            <a:off x="1691640" y="274320"/>
            <a:ext cx="5943600" cy="685800"/>
          </a:xfrm>
          <a:prstGeom prst="rect">
            <a:avLst/>
          </a:prstGeom>
          <a:noFill/>
          <a:ln/>
        </p:spPr>
        <p:txBody>
          <a:bodyPr wrap="square" lIns="0" tIns="0" rIns="0" bIns="0" rtlCol="0" anchor="ctr"/>
          <a:lstStyle/>
          <a:p>
            <a:pPr marL="0" indent="0" algn="l">
              <a:buNone/>
            </a:pPr>
            <a:r>
              <a:rPr lang="en-US" sz="3200" b="1" dirty="0">
                <a:solidFill>
                  <a:srgbClr val="F5A623"/>
                </a:solidFill>
                <a:latin typeface="Arial" pitchFamily="34" charset="0"/>
                <a:ea typeface="Arial" pitchFamily="34" charset="-122"/>
                <a:cs typeface="Arial" pitchFamily="34" charset="-120"/>
              </a:rPr>
              <a:t>APHRODITE'S HARVEST</a:t>
            </a:r>
            <a:endParaRPr lang="en-US" sz="3200" dirty="0"/>
          </a:p>
        </p:txBody>
      </p:sp>
      <p:sp>
        <p:nvSpPr>
          <p:cNvPr id="15" name="Text 13"/>
          <p:cNvSpPr/>
          <p:nvPr/>
        </p:nvSpPr>
        <p:spPr>
          <a:xfrm>
            <a:off x="1691640" y="914400"/>
            <a:ext cx="5943600" cy="411480"/>
          </a:xfrm>
          <a:prstGeom prst="rect">
            <a:avLst/>
          </a:prstGeom>
          <a:noFill/>
          <a:ln/>
        </p:spPr>
        <p:txBody>
          <a:bodyPr wrap="square" lIns="0" tIns="0" rIns="0" bIns="0" rtlCol="0" anchor="ctr"/>
          <a:lstStyle/>
          <a:p>
            <a:pPr marL="0" indent="0" algn="l">
              <a:buNone/>
            </a:pPr>
            <a:r>
              <a:rPr lang="en-US" sz="1800" dirty="0">
                <a:solidFill>
                  <a:srgbClr val="D4870A"/>
                </a:solidFill>
                <a:latin typeface="Arial" pitchFamily="34" charset="0"/>
                <a:ea typeface="Arial" pitchFamily="34" charset="-122"/>
                <a:cs typeface="Arial" pitchFamily="34" charset="-120"/>
              </a:rPr>
              <a:t>SEO Strategy &amp; Implementation</a:t>
            </a:r>
            <a:endParaRPr lang="en-US" sz="1800" dirty="0"/>
          </a:p>
        </p:txBody>
      </p:sp>
      <p:sp>
        <p:nvSpPr>
          <p:cNvPr id="16" name="Text 14"/>
          <p:cNvSpPr/>
          <p:nvPr/>
        </p:nvSpPr>
        <p:spPr>
          <a:xfrm>
            <a:off x="1691640" y="1298448"/>
            <a:ext cx="5943600" cy="320040"/>
          </a:xfrm>
          <a:prstGeom prst="rect">
            <a:avLst/>
          </a:prstGeom>
          <a:noFill/>
          <a:ln/>
        </p:spPr>
        <p:txBody>
          <a:bodyPr wrap="square" lIns="0" tIns="0" rIns="0" bIns="0" rtlCol="0" anchor="ctr"/>
          <a:lstStyle/>
          <a:p>
            <a:pPr marL="0" indent="0" algn="l">
              <a:buNone/>
            </a:pPr>
            <a:r>
              <a:rPr lang="en-US" sz="1300" dirty="0">
                <a:solidFill>
                  <a:srgbClr val="AAAAAA"/>
                </a:solidFill>
                <a:latin typeface="Arial" pitchFamily="34" charset="0"/>
                <a:ea typeface="Arial" pitchFamily="34" charset="-122"/>
                <a:cs typeface="Arial" pitchFamily="34" charset="-120"/>
              </a:rPr>
              <a:t>Product Review  Individual Contribution Showcase</a:t>
            </a:r>
            <a:endParaRPr lang="en-US" sz="1300" dirty="0"/>
          </a:p>
        </p:txBody>
      </p:sp>
      <p:sp>
        <p:nvSpPr>
          <p:cNvPr id="17" name="Shape 15"/>
          <p:cNvSpPr/>
          <p:nvPr/>
        </p:nvSpPr>
        <p:spPr>
          <a:xfrm>
            <a:off x="502920" y="1737360"/>
            <a:ext cx="8138160" cy="18288"/>
          </a:xfrm>
          <a:prstGeom prst="rect">
            <a:avLst/>
          </a:prstGeom>
          <a:solidFill>
            <a:srgbClr val="D4870A">
              <a:alpha val="60000"/>
            </a:srgbClr>
          </a:solidFill>
          <a:ln w="12700">
            <a:solidFill>
              <a:srgbClr val="FFFFFF">
                <a:alpha val="0"/>
              </a:srgbClr>
            </a:solidFill>
            <a:prstDash val="solid"/>
          </a:ln>
        </p:spPr>
      </p:sp>
      <p:sp>
        <p:nvSpPr>
          <p:cNvPr id="18" name="Shape 16"/>
          <p:cNvSpPr/>
          <p:nvPr/>
        </p:nvSpPr>
        <p:spPr>
          <a:xfrm>
            <a:off x="502920" y="1874520"/>
            <a:ext cx="1920240" cy="868680"/>
          </a:xfrm>
          <a:prstGeom prst="roundRect">
            <a:avLst>
              <a:gd name="adj" fmla="val 8421"/>
            </a:avLst>
          </a:prstGeom>
          <a:solidFill>
            <a:srgbClr val="2A1800"/>
          </a:solidFill>
          <a:ln w="12700">
            <a:solidFill>
              <a:srgbClr val="D4870A"/>
            </a:solidFill>
            <a:prstDash val="solid"/>
          </a:ln>
        </p:spPr>
      </p:sp>
      <p:sp>
        <p:nvSpPr>
          <p:cNvPr id="19" name="Text 17"/>
          <p:cNvSpPr/>
          <p:nvPr/>
        </p:nvSpPr>
        <p:spPr>
          <a:xfrm>
            <a:off x="502920" y="1920240"/>
            <a:ext cx="1920240" cy="274320"/>
          </a:xfrm>
          <a:prstGeom prst="rect">
            <a:avLst/>
          </a:prstGeom>
          <a:noFill/>
          <a:ln/>
        </p:spPr>
        <p:txBody>
          <a:bodyPr wrap="square" lIns="0" tIns="0" rIns="0" bIns="0" rtlCol="0" anchor="ctr"/>
          <a:lstStyle/>
          <a:p>
            <a:pPr marL="0" indent="0" algn="ctr">
              <a:buNone/>
            </a:pPr>
            <a:r>
              <a:rPr lang="en-US" sz="900" b="1" dirty="0">
                <a:solidFill>
                  <a:srgbClr val="D4870A"/>
                </a:solidFill>
                <a:latin typeface="Arial" pitchFamily="34" charset="0"/>
                <a:ea typeface="Arial" pitchFamily="34" charset="-122"/>
                <a:cs typeface="Arial" pitchFamily="34" charset="-120"/>
              </a:rPr>
              <a:t>STUDENT</a:t>
            </a:r>
            <a:endParaRPr lang="en-US" sz="900" dirty="0"/>
          </a:p>
        </p:txBody>
      </p:sp>
      <p:sp>
        <p:nvSpPr>
          <p:cNvPr id="20" name="Text 18"/>
          <p:cNvSpPr/>
          <p:nvPr/>
        </p:nvSpPr>
        <p:spPr>
          <a:xfrm>
            <a:off x="502920" y="2176272"/>
            <a:ext cx="1920240" cy="457200"/>
          </a:xfrm>
          <a:prstGeom prst="rect">
            <a:avLst/>
          </a:prstGeom>
          <a:noFill/>
          <a:ln/>
        </p:spPr>
        <p:txBody>
          <a:bodyPr wrap="square" lIns="0" tIns="0" rIns="0" bIns="0" rtlCol="0" anchor="ctr"/>
          <a:lstStyle/>
          <a:p>
            <a:pPr marL="0" indent="0" algn="ctr">
              <a:buNone/>
            </a:pPr>
            <a:r>
              <a:rPr lang="en-US" sz="1100" dirty="0">
                <a:solidFill>
                  <a:srgbClr val="FFFFFF"/>
                </a:solidFill>
                <a:latin typeface="Arial" pitchFamily="34" charset="0"/>
                <a:ea typeface="Arial" pitchFamily="34" charset="-122"/>
                <a:cs typeface="Arial" pitchFamily="34" charset="-120"/>
              </a:rPr>
              <a:t>Nathan  |  A1963344</a:t>
            </a:r>
            <a:endParaRPr lang="en-US" sz="1100" dirty="0"/>
          </a:p>
        </p:txBody>
      </p:sp>
      <p:sp>
        <p:nvSpPr>
          <p:cNvPr id="21" name="Shape 19"/>
          <p:cNvSpPr/>
          <p:nvPr/>
        </p:nvSpPr>
        <p:spPr>
          <a:xfrm>
            <a:off x="2606040" y="1874520"/>
            <a:ext cx="1920240" cy="868680"/>
          </a:xfrm>
          <a:prstGeom prst="roundRect">
            <a:avLst>
              <a:gd name="adj" fmla="val 8421"/>
            </a:avLst>
          </a:prstGeom>
          <a:solidFill>
            <a:srgbClr val="2A1800"/>
          </a:solidFill>
          <a:ln w="12700">
            <a:solidFill>
              <a:srgbClr val="D4870A"/>
            </a:solidFill>
            <a:prstDash val="solid"/>
          </a:ln>
        </p:spPr>
      </p:sp>
      <p:sp>
        <p:nvSpPr>
          <p:cNvPr id="22" name="Text 20"/>
          <p:cNvSpPr/>
          <p:nvPr/>
        </p:nvSpPr>
        <p:spPr>
          <a:xfrm>
            <a:off x="2606040" y="1920240"/>
            <a:ext cx="1920240" cy="274320"/>
          </a:xfrm>
          <a:prstGeom prst="rect">
            <a:avLst/>
          </a:prstGeom>
          <a:noFill/>
          <a:ln/>
        </p:spPr>
        <p:txBody>
          <a:bodyPr wrap="square" lIns="0" tIns="0" rIns="0" bIns="0" rtlCol="0" anchor="ctr"/>
          <a:lstStyle/>
          <a:p>
            <a:pPr marL="0" indent="0" algn="ctr">
              <a:buNone/>
            </a:pPr>
            <a:r>
              <a:rPr lang="en-US" sz="900" b="1" dirty="0">
                <a:solidFill>
                  <a:srgbClr val="D4870A"/>
                </a:solidFill>
                <a:latin typeface="Arial" pitchFamily="34" charset="0"/>
                <a:ea typeface="Arial" pitchFamily="34" charset="-122"/>
                <a:cs typeface="Arial" pitchFamily="34" charset="-120"/>
              </a:rPr>
              <a:t>CLIENT</a:t>
            </a:r>
            <a:endParaRPr lang="en-US" sz="900" dirty="0"/>
          </a:p>
        </p:txBody>
      </p:sp>
      <p:sp>
        <p:nvSpPr>
          <p:cNvPr id="23" name="Text 21"/>
          <p:cNvSpPr/>
          <p:nvPr/>
        </p:nvSpPr>
        <p:spPr>
          <a:xfrm>
            <a:off x="2606040" y="2176272"/>
            <a:ext cx="1920240" cy="457200"/>
          </a:xfrm>
          <a:prstGeom prst="rect">
            <a:avLst/>
          </a:prstGeom>
          <a:noFill/>
          <a:ln/>
        </p:spPr>
        <p:txBody>
          <a:bodyPr wrap="square" lIns="0" tIns="0" rIns="0" bIns="0" rtlCol="0" anchor="ctr"/>
          <a:lstStyle/>
          <a:p>
            <a:pPr marL="0" indent="0" algn="ctr">
              <a:buNone/>
            </a:pPr>
            <a:r>
              <a:rPr lang="en-US" sz="1100" dirty="0">
                <a:solidFill>
                  <a:srgbClr val="FFFFFF"/>
                </a:solidFill>
                <a:latin typeface="Arial" pitchFamily="34" charset="0"/>
                <a:ea typeface="Arial" pitchFamily="34" charset="-122"/>
                <a:cs typeface="Arial" pitchFamily="34" charset="-120"/>
              </a:rPr>
              <a:t>Aphrodite's Harvest</a:t>
            </a:r>
            <a:endParaRPr lang="en-US" sz="1100" dirty="0"/>
          </a:p>
        </p:txBody>
      </p:sp>
      <p:sp>
        <p:nvSpPr>
          <p:cNvPr id="24" name="Shape 22"/>
          <p:cNvSpPr/>
          <p:nvPr/>
        </p:nvSpPr>
        <p:spPr>
          <a:xfrm>
            <a:off x="4709160" y="1874520"/>
            <a:ext cx="1920240" cy="868680"/>
          </a:xfrm>
          <a:prstGeom prst="roundRect">
            <a:avLst>
              <a:gd name="adj" fmla="val 8421"/>
            </a:avLst>
          </a:prstGeom>
          <a:solidFill>
            <a:srgbClr val="2A1800"/>
          </a:solidFill>
          <a:ln w="12700">
            <a:solidFill>
              <a:srgbClr val="D4870A"/>
            </a:solidFill>
            <a:prstDash val="solid"/>
          </a:ln>
        </p:spPr>
      </p:sp>
      <p:sp>
        <p:nvSpPr>
          <p:cNvPr id="25" name="Text 23"/>
          <p:cNvSpPr/>
          <p:nvPr/>
        </p:nvSpPr>
        <p:spPr>
          <a:xfrm>
            <a:off x="4709160" y="1920240"/>
            <a:ext cx="1920240" cy="274320"/>
          </a:xfrm>
          <a:prstGeom prst="rect">
            <a:avLst/>
          </a:prstGeom>
          <a:noFill/>
          <a:ln/>
        </p:spPr>
        <p:txBody>
          <a:bodyPr wrap="square" lIns="0" tIns="0" rIns="0" bIns="0" rtlCol="0" anchor="ctr"/>
          <a:lstStyle/>
          <a:p>
            <a:pPr marL="0" indent="0" algn="ctr">
              <a:buNone/>
            </a:pPr>
            <a:r>
              <a:rPr lang="en-US" sz="900" b="1" dirty="0">
                <a:solidFill>
                  <a:srgbClr val="D4870A"/>
                </a:solidFill>
                <a:latin typeface="Arial" pitchFamily="34" charset="0"/>
                <a:ea typeface="Arial" pitchFamily="34" charset="-122"/>
                <a:cs typeface="Arial" pitchFamily="34" charset="-120"/>
              </a:rPr>
              <a:t>COURSE</a:t>
            </a:r>
            <a:endParaRPr lang="en-US" sz="900" dirty="0"/>
          </a:p>
        </p:txBody>
      </p:sp>
      <p:sp>
        <p:nvSpPr>
          <p:cNvPr id="26" name="Text 24"/>
          <p:cNvSpPr/>
          <p:nvPr/>
        </p:nvSpPr>
        <p:spPr>
          <a:xfrm>
            <a:off x="4709160" y="2176272"/>
            <a:ext cx="1920240" cy="457200"/>
          </a:xfrm>
          <a:prstGeom prst="rect">
            <a:avLst/>
          </a:prstGeom>
          <a:noFill/>
          <a:ln/>
        </p:spPr>
        <p:txBody>
          <a:bodyPr wrap="square" lIns="0" tIns="0" rIns="0" bIns="0" rtlCol="0" anchor="ctr"/>
          <a:lstStyle/>
          <a:p>
            <a:pPr marL="0" indent="0" algn="ctr">
              <a:buNone/>
            </a:pPr>
            <a:r>
              <a:rPr lang="en-US" sz="1100" dirty="0">
                <a:solidFill>
                  <a:srgbClr val="FFFFFF"/>
                </a:solidFill>
                <a:latin typeface="Arial" pitchFamily="34" charset="0"/>
                <a:ea typeface="Arial" pitchFamily="34" charset="-122"/>
                <a:cs typeface="Arial" pitchFamily="34" charset="-120"/>
              </a:rPr>
              <a:t>CAPSTONE  |   2026 S1</a:t>
            </a:r>
            <a:endParaRPr lang="en-US" sz="1100" dirty="0"/>
          </a:p>
        </p:txBody>
      </p:sp>
      <p:sp>
        <p:nvSpPr>
          <p:cNvPr id="27" name="Shape 25"/>
          <p:cNvSpPr/>
          <p:nvPr/>
        </p:nvSpPr>
        <p:spPr>
          <a:xfrm>
            <a:off x="6812280" y="1874520"/>
            <a:ext cx="1920240" cy="868680"/>
          </a:xfrm>
          <a:prstGeom prst="roundRect">
            <a:avLst>
              <a:gd name="adj" fmla="val 8421"/>
            </a:avLst>
          </a:prstGeom>
          <a:solidFill>
            <a:srgbClr val="2A1800"/>
          </a:solidFill>
          <a:ln w="12700">
            <a:solidFill>
              <a:srgbClr val="D4870A"/>
            </a:solidFill>
            <a:prstDash val="solid"/>
          </a:ln>
        </p:spPr>
      </p:sp>
      <p:sp>
        <p:nvSpPr>
          <p:cNvPr id="28" name="Text 26"/>
          <p:cNvSpPr/>
          <p:nvPr/>
        </p:nvSpPr>
        <p:spPr>
          <a:xfrm>
            <a:off x="6812280" y="1920240"/>
            <a:ext cx="1920240" cy="274320"/>
          </a:xfrm>
          <a:prstGeom prst="rect">
            <a:avLst/>
          </a:prstGeom>
          <a:noFill/>
          <a:ln/>
        </p:spPr>
        <p:txBody>
          <a:bodyPr wrap="square" lIns="0" tIns="0" rIns="0" bIns="0" rtlCol="0" anchor="ctr"/>
          <a:lstStyle/>
          <a:p>
            <a:pPr marL="0" indent="0" algn="ctr">
              <a:buNone/>
            </a:pPr>
            <a:r>
              <a:rPr lang="en-US" sz="900" b="1" dirty="0">
                <a:solidFill>
                  <a:srgbClr val="D4870A"/>
                </a:solidFill>
                <a:latin typeface="Arial" pitchFamily="34" charset="0"/>
                <a:ea typeface="Arial" pitchFamily="34" charset="-122"/>
                <a:cs typeface="Arial" pitchFamily="34" charset="-120"/>
              </a:rPr>
              <a:t>DATE</a:t>
            </a:r>
            <a:endParaRPr lang="en-US" sz="900" dirty="0"/>
          </a:p>
        </p:txBody>
      </p:sp>
      <p:sp>
        <p:nvSpPr>
          <p:cNvPr id="29" name="Text 27"/>
          <p:cNvSpPr/>
          <p:nvPr/>
        </p:nvSpPr>
        <p:spPr>
          <a:xfrm>
            <a:off x="6812280" y="2176272"/>
            <a:ext cx="1920240" cy="457200"/>
          </a:xfrm>
          <a:prstGeom prst="rect">
            <a:avLst/>
          </a:prstGeom>
          <a:noFill/>
          <a:ln/>
        </p:spPr>
        <p:txBody>
          <a:bodyPr wrap="square" lIns="0" tIns="0" rIns="0" bIns="0" rtlCol="0" anchor="ctr"/>
          <a:lstStyle/>
          <a:p>
            <a:pPr marL="0" indent="0" algn="ctr">
              <a:buNone/>
            </a:pPr>
            <a:r>
              <a:rPr lang="en-US" sz="1100" dirty="0">
                <a:solidFill>
                  <a:srgbClr val="FFFFFF"/>
                </a:solidFill>
                <a:latin typeface="Arial" pitchFamily="34" charset="0"/>
                <a:ea typeface="Arial" pitchFamily="34" charset="-122"/>
                <a:cs typeface="Arial" pitchFamily="34" charset="-120"/>
              </a:rPr>
              <a:t>12 June 2026</a:t>
            </a:r>
            <a:endParaRPr lang="en-US" sz="1100" dirty="0"/>
          </a:p>
        </p:txBody>
      </p:sp>
      <p:sp>
        <p:nvSpPr>
          <p:cNvPr id="30" name="Text 28"/>
          <p:cNvSpPr/>
          <p:nvPr/>
        </p:nvSpPr>
        <p:spPr>
          <a:xfrm>
            <a:off x="0" y="4663440"/>
            <a:ext cx="9144000" cy="320040"/>
          </a:xfrm>
          <a:prstGeom prst="rect">
            <a:avLst/>
          </a:prstGeom>
          <a:noFill/>
          <a:ln/>
        </p:spPr>
        <p:txBody>
          <a:bodyPr wrap="square" lIns="0" tIns="0" rIns="0" bIns="0" rtlCol="0" anchor="ctr"/>
          <a:lstStyle/>
          <a:p>
            <a:pPr marL="0" indent="0" algn="ctr">
              <a:buNone/>
            </a:pPr>
            <a:r>
              <a:rPr lang="en-US" sz="1100" dirty="0">
                <a:solidFill>
                  <a:srgbClr val="888888"/>
                </a:solidFill>
                <a:latin typeface="Arial" pitchFamily="34" charset="0"/>
                <a:ea typeface="Arial" pitchFamily="34" charset="-122"/>
                <a:cs typeface="Arial" pitchFamily="34" charset="-120"/>
              </a:rPr>
              <a:t>Adelaide Beekeeping Training &amp; Support  |  aphroditesharvest.com.au</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8E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lIns="0" tIns="0" rIns="0" bIns="0" rtlCol="0" anchor="ctr"/>
          <a:lstStyle/>
          <a:p>
            <a:pPr marL="0" indent="0" algn="l">
              <a:buNone/>
            </a:pPr>
            <a:r>
              <a:rPr lang="en-US" sz="2800" b="1" dirty="0">
                <a:solidFill>
                  <a:srgbClr val="B8860B"/>
                </a:solidFill>
                <a:latin typeface="Arial" pitchFamily="34" charset="0"/>
                <a:ea typeface="Arial" pitchFamily="34" charset="-122"/>
                <a:cs typeface="Arial" pitchFamily="34" charset="-120"/>
              </a:rPr>
              <a:t>Project Overview</a:t>
            </a:r>
            <a:endParaRPr lang="en-US" sz="2800" dirty="0"/>
          </a:p>
        </p:txBody>
      </p:sp>
      <p:sp>
        <p:nvSpPr>
          <p:cNvPr id="3" name="Shape 1"/>
          <p:cNvSpPr/>
          <p:nvPr/>
        </p:nvSpPr>
        <p:spPr>
          <a:xfrm>
            <a:off x="457200" y="758952"/>
            <a:ext cx="8229600" cy="22860"/>
          </a:xfrm>
          <a:prstGeom prst="rect">
            <a:avLst/>
          </a:prstGeom>
          <a:solidFill>
            <a:srgbClr val="D4870A"/>
          </a:solidFill>
          <a:ln w="12700">
            <a:solidFill>
              <a:srgbClr val="FFFFFF">
                <a:alpha val="0"/>
              </a:srgbClr>
            </a:solidFill>
            <a:prstDash val="solid"/>
          </a:ln>
        </p:spPr>
      </p:sp>
      <p:sp>
        <p:nvSpPr>
          <p:cNvPr id="4" name="Shape 2"/>
          <p:cNvSpPr/>
          <p:nvPr/>
        </p:nvSpPr>
        <p:spPr>
          <a:xfrm>
            <a:off x="411480" y="914400"/>
            <a:ext cx="4023360" cy="3474720"/>
          </a:xfrm>
          <a:prstGeom prst="roundRect">
            <a:avLst>
              <a:gd name="adj" fmla="val 2632"/>
            </a:avLst>
          </a:prstGeom>
          <a:solidFill>
            <a:srgbClr val="FFFFFF"/>
          </a:solidFill>
          <a:ln w="12700">
            <a:solidFill>
              <a:srgbClr val="D4870A"/>
            </a:solidFill>
            <a:prstDash val="solid"/>
          </a:ln>
          <a:effectLst>
            <a:outerShdw blurRad="63500" dist="25400" dir="2700000" algn="bl" rotWithShape="0">
              <a:srgbClr val="000000">
                <a:alpha val="13000"/>
              </a:srgbClr>
            </a:outerShdw>
          </a:effectLst>
        </p:spPr>
      </p:sp>
      <p:sp>
        <p:nvSpPr>
          <p:cNvPr id="5" name="Text 3"/>
          <p:cNvSpPr/>
          <p:nvPr/>
        </p:nvSpPr>
        <p:spPr>
          <a:xfrm>
            <a:off x="502920" y="1005840"/>
            <a:ext cx="3840480" cy="347472"/>
          </a:xfrm>
          <a:prstGeom prst="rect">
            <a:avLst/>
          </a:prstGeom>
          <a:noFill/>
          <a:ln/>
        </p:spPr>
        <p:txBody>
          <a:bodyPr wrap="square" lIns="0" tIns="0" rIns="0" bIns="0" rtlCol="0" anchor="ctr"/>
          <a:lstStyle/>
          <a:p>
            <a:pPr marL="0" indent="0">
              <a:buNone/>
            </a:pPr>
            <a:r>
              <a:rPr lang="en-US" sz="1500" b="1" dirty="0">
                <a:solidFill>
                  <a:srgbClr val="B8860B"/>
                </a:solidFill>
                <a:latin typeface="Arial" pitchFamily="34" charset="0"/>
                <a:ea typeface="Arial" pitchFamily="34" charset="-122"/>
                <a:cs typeface="Arial" pitchFamily="34" charset="-120"/>
              </a:rPr>
              <a:t>The Client</a:t>
            </a:r>
            <a:endParaRPr lang="en-US" sz="1500" dirty="0"/>
          </a:p>
        </p:txBody>
      </p:sp>
      <p:sp>
        <p:nvSpPr>
          <p:cNvPr id="6" name="Text 4"/>
          <p:cNvSpPr/>
          <p:nvPr/>
        </p:nvSpPr>
        <p:spPr>
          <a:xfrm>
            <a:off x="594360" y="1389888"/>
            <a:ext cx="3749040" cy="2651760"/>
          </a:xfrm>
          <a:prstGeom prst="rect">
            <a:avLst/>
          </a:prstGeom>
          <a:noFill/>
          <a:ln/>
        </p:spPr>
        <p:txBody>
          <a:bodyPr wrap="square" rtlCol="0" anchor="t"/>
          <a:lstStyle/>
          <a:p>
            <a:pPr marL="0" indent="0">
              <a:spcAft>
                <a:spcPts val="400"/>
              </a:spcAft>
              <a:buNone/>
            </a:pPr>
            <a:r>
              <a:rPr lang="en-US" sz="1300" b="1" dirty="0">
                <a:solidFill>
                  <a:srgbClr val="1A1200"/>
                </a:solidFill>
                <a:latin typeface="Arial" pitchFamily="34" charset="0"/>
                <a:ea typeface="Arial" pitchFamily="34" charset="-122"/>
                <a:cs typeface="Arial" pitchFamily="34" charset="-120"/>
              </a:rPr>
              <a:t>Aphrodite's Harvest</a:t>
            </a:r>
            <a:endParaRPr lang="en-US" sz="1300" dirty="0"/>
          </a:p>
          <a:p>
            <a:pPr marL="0" indent="0">
              <a:spcAft>
                <a:spcPts val="400"/>
              </a:spcAft>
              <a:buNone/>
            </a:pPr>
            <a:r>
              <a:rPr lang="en-US" sz="1300" dirty="0">
                <a:solidFill>
                  <a:srgbClr val="1A1200"/>
                </a:solidFill>
                <a:latin typeface="Arial" pitchFamily="34" charset="0"/>
                <a:ea typeface="Arial" pitchFamily="34" charset="-122"/>
                <a:cs typeface="Arial" pitchFamily="34" charset="-120"/>
              </a:rPr>
              <a:t>Adelaide-based apiary &amp; beekeeping educator</a:t>
            </a:r>
            <a:endParaRPr lang="en-US" sz="1300" dirty="0"/>
          </a:p>
          <a:p>
            <a:pPr marL="0" indent="0">
              <a:spcAft>
                <a:spcPts val="400"/>
              </a:spcAft>
              <a:buNone/>
            </a:pPr>
            <a:r>
              <a:rPr lang="en-US" sz="1300" dirty="0">
                <a:solidFill>
                  <a:srgbClr val="1A1200"/>
                </a:solidFill>
                <a:latin typeface="Arial" pitchFamily="34" charset="0"/>
                <a:ea typeface="Arial" pitchFamily="34" charset="-122"/>
                <a:cs typeface="Arial" pitchFamily="34" charset="-120"/>
              </a:rPr>
              <a:t> </a:t>
            </a:r>
            <a:endParaRPr lang="en-US" sz="1300" dirty="0"/>
          </a:p>
          <a:p>
            <a:pPr marL="342900" indent="-342900">
              <a:spcAft>
                <a:spcPts val="400"/>
              </a:spcAft>
              <a:buSzPct val="100000"/>
              <a:buChar char="•"/>
            </a:pPr>
            <a:r>
              <a:rPr lang="en-US" sz="1300" dirty="0">
                <a:solidFill>
                  <a:srgbClr val="1A1200"/>
                </a:solidFill>
                <a:latin typeface="Arial" pitchFamily="34" charset="0"/>
                <a:ea typeface="Arial" pitchFamily="34" charset="-122"/>
                <a:cs typeface="Arial" pitchFamily="34" charset="-120"/>
              </a:rPr>
              <a:t>30+ years experience - second-generation beekeeper</a:t>
            </a:r>
            <a:endParaRPr lang="en-US" sz="1300" dirty="0"/>
          </a:p>
          <a:p>
            <a:pPr marL="342900" indent="-342900">
              <a:spcAft>
                <a:spcPts val="400"/>
              </a:spcAft>
              <a:buSzPct val="100000"/>
              <a:buChar char="•"/>
            </a:pPr>
            <a:r>
              <a:rPr lang="en-US" sz="1300" dirty="0">
                <a:solidFill>
                  <a:srgbClr val="1A1200"/>
                </a:solidFill>
                <a:latin typeface="Arial" pitchFamily="34" charset="0"/>
                <a:ea typeface="Arial" pitchFamily="34" charset="-122"/>
                <a:cs typeface="Arial" pitchFamily="34" charset="-120"/>
              </a:rPr>
              <a:t>Offers courses, hive support, and raw honey products</a:t>
            </a:r>
            <a:endParaRPr lang="en-US" sz="1300" dirty="0"/>
          </a:p>
          <a:p>
            <a:pPr marL="342900" indent="-342900">
              <a:spcAft>
                <a:spcPts val="400"/>
              </a:spcAft>
              <a:buSzPct val="100000"/>
              <a:buChar char="•"/>
            </a:pPr>
            <a:r>
              <a:rPr lang="en-US" sz="1300" dirty="0">
                <a:solidFill>
                  <a:srgbClr val="1A1200"/>
                </a:solidFill>
                <a:latin typeface="Arial" pitchFamily="34" charset="0"/>
                <a:ea typeface="Arial" pitchFamily="34" charset="-122"/>
                <a:cs typeface="Arial" pitchFamily="34" charset="-120"/>
              </a:rPr>
              <a:t>WordPress / Elementor website</a:t>
            </a:r>
            <a:endParaRPr lang="en-US" sz="1300" dirty="0"/>
          </a:p>
          <a:p>
            <a:pPr marL="342900" indent="-342900">
              <a:spcAft>
                <a:spcPts val="400"/>
              </a:spcAft>
              <a:buSzPct val="100000"/>
              <a:buChar char="•"/>
            </a:pPr>
            <a:r>
              <a:rPr lang="en-US" sz="1300" dirty="0">
                <a:solidFill>
                  <a:srgbClr val="1A1200"/>
                </a:solidFill>
                <a:latin typeface="Arial" pitchFamily="34" charset="0"/>
                <a:ea typeface="Arial" pitchFamily="34" charset="-122"/>
                <a:cs typeface="Arial" pitchFamily="34" charset="-120"/>
              </a:rPr>
              <a:t>Goal: grow organic traffic — no paid ads</a:t>
            </a:r>
            <a:endParaRPr lang="en-US" sz="1300" dirty="0"/>
          </a:p>
        </p:txBody>
      </p:sp>
      <p:sp>
        <p:nvSpPr>
          <p:cNvPr id="7" name="Shape 5"/>
          <p:cNvSpPr/>
          <p:nvPr/>
        </p:nvSpPr>
        <p:spPr>
          <a:xfrm>
            <a:off x="4663440" y="914400"/>
            <a:ext cx="4023360" cy="3474720"/>
          </a:xfrm>
          <a:prstGeom prst="roundRect">
            <a:avLst>
              <a:gd name="adj" fmla="val 2632"/>
            </a:avLst>
          </a:prstGeom>
          <a:solidFill>
            <a:srgbClr val="1C1200"/>
          </a:solidFill>
          <a:ln w="12700">
            <a:solidFill>
              <a:srgbClr val="D4870A"/>
            </a:solidFill>
            <a:prstDash val="solid"/>
          </a:ln>
          <a:effectLst>
            <a:outerShdw blurRad="63500" dist="25400" dir="2700000" algn="bl" rotWithShape="0">
              <a:srgbClr val="000000">
                <a:alpha val="13000"/>
              </a:srgbClr>
            </a:outerShdw>
          </a:effectLst>
        </p:spPr>
      </p:sp>
      <p:sp>
        <p:nvSpPr>
          <p:cNvPr id="8" name="Text 6"/>
          <p:cNvSpPr/>
          <p:nvPr/>
        </p:nvSpPr>
        <p:spPr>
          <a:xfrm>
            <a:off x="4754880" y="1005840"/>
            <a:ext cx="3840480" cy="347472"/>
          </a:xfrm>
          <a:prstGeom prst="rect">
            <a:avLst/>
          </a:prstGeom>
          <a:noFill/>
          <a:ln/>
        </p:spPr>
        <p:txBody>
          <a:bodyPr wrap="square" lIns="0" tIns="0" rIns="0" bIns="0" rtlCol="0" anchor="ctr"/>
          <a:lstStyle/>
          <a:p>
            <a:pPr marL="0" indent="0">
              <a:buNone/>
            </a:pPr>
            <a:r>
              <a:rPr lang="en-US" sz="1500" b="1" dirty="0">
                <a:solidFill>
                  <a:srgbClr val="F5A623"/>
                </a:solidFill>
                <a:latin typeface="Arial" pitchFamily="34" charset="0"/>
                <a:ea typeface="Arial" pitchFamily="34" charset="-122"/>
                <a:cs typeface="Arial" pitchFamily="34" charset="-120"/>
              </a:rPr>
              <a:t>My Contribution</a:t>
            </a:r>
            <a:endParaRPr lang="en-US" sz="1500" dirty="0"/>
          </a:p>
        </p:txBody>
      </p:sp>
      <p:sp>
        <p:nvSpPr>
          <p:cNvPr id="9" name="Text 7"/>
          <p:cNvSpPr/>
          <p:nvPr/>
        </p:nvSpPr>
        <p:spPr>
          <a:xfrm>
            <a:off x="4754880" y="1389888"/>
            <a:ext cx="3794760" cy="2743200"/>
          </a:xfrm>
          <a:prstGeom prst="rect">
            <a:avLst/>
          </a:prstGeom>
          <a:noFill/>
          <a:ln/>
        </p:spPr>
        <p:txBody>
          <a:bodyPr wrap="square" rtlCol="0" anchor="t"/>
          <a:lstStyle/>
          <a:p>
            <a:pPr marL="342900" indent="-342900">
              <a:spcAft>
                <a:spcPts val="400"/>
              </a:spcAft>
              <a:buSzPct val="100000"/>
              <a:buChar char="•"/>
            </a:pPr>
            <a:r>
              <a:rPr lang="en-US" sz="1300" dirty="0">
                <a:solidFill>
                  <a:srgbClr val="FFFFFF"/>
                </a:solidFill>
                <a:latin typeface="Arial" pitchFamily="34" charset="0"/>
                <a:ea typeface="Arial" pitchFamily="34" charset="-122"/>
                <a:cs typeface="Arial" pitchFamily="34" charset="-120"/>
              </a:rPr>
              <a:t>Chapter 7 - SEO Self-Management Toolkit</a:t>
            </a:r>
            <a:endParaRPr lang="en-US" sz="1300" dirty="0"/>
          </a:p>
          <a:p>
            <a:pPr marL="342900" indent="-342900">
              <a:spcAft>
                <a:spcPts val="400"/>
              </a:spcAft>
              <a:buSzPct val="100000"/>
              <a:buChar char="•"/>
            </a:pPr>
            <a:r>
              <a:rPr lang="en-US" sz="1300" dirty="0">
                <a:solidFill>
                  <a:srgbClr val="FFFFFF"/>
                </a:solidFill>
                <a:latin typeface="Arial" pitchFamily="34" charset="0"/>
                <a:ea typeface="Arial" pitchFamily="34" charset="-122"/>
                <a:cs typeface="Arial" pitchFamily="34" charset="-120"/>
              </a:rPr>
              <a:t>Live technical SEO on production WordPress site</a:t>
            </a:r>
            <a:endParaRPr lang="en-US" sz="1300" dirty="0"/>
          </a:p>
          <a:p>
            <a:pPr marL="342900" indent="-342900">
              <a:spcAft>
                <a:spcPts val="400"/>
              </a:spcAft>
              <a:buSzPct val="100000"/>
              <a:buChar char="•"/>
            </a:pPr>
            <a:r>
              <a:rPr lang="en-US" sz="1300" dirty="0">
                <a:solidFill>
                  <a:srgbClr val="FFFFFF"/>
                </a:solidFill>
                <a:latin typeface="Arial" pitchFamily="34" charset="0"/>
                <a:ea typeface="Arial" pitchFamily="34" charset="-122"/>
                <a:cs typeface="Arial" pitchFamily="34" charset="-120"/>
              </a:rPr>
              <a:t>RankMath install &amp; full configuration</a:t>
            </a:r>
            <a:endParaRPr lang="en-US" sz="1300" dirty="0"/>
          </a:p>
          <a:p>
            <a:pPr marL="342900" indent="-342900">
              <a:spcAft>
                <a:spcPts val="400"/>
              </a:spcAft>
              <a:buSzPct val="100000"/>
              <a:buChar char="•"/>
            </a:pPr>
            <a:r>
              <a:rPr lang="en-US" sz="1300" dirty="0">
                <a:solidFill>
                  <a:srgbClr val="FFFFFF"/>
                </a:solidFill>
                <a:latin typeface="Arial" pitchFamily="34" charset="0"/>
                <a:ea typeface="Arial" pitchFamily="34" charset="-122"/>
                <a:cs typeface="Arial" pitchFamily="34" charset="-120"/>
              </a:rPr>
              <a:t>Meta optimisation across 5 core pages</a:t>
            </a:r>
            <a:endParaRPr lang="en-US" sz="1300" dirty="0"/>
          </a:p>
          <a:p>
            <a:pPr marL="342900" indent="-342900">
              <a:spcAft>
                <a:spcPts val="400"/>
              </a:spcAft>
              <a:buSzPct val="100000"/>
              <a:buChar char="•"/>
            </a:pPr>
            <a:r>
              <a:rPr lang="en-US" sz="1300" dirty="0">
                <a:solidFill>
                  <a:srgbClr val="FFFFFF"/>
                </a:solidFill>
                <a:latin typeface="Arial" pitchFamily="34" charset="0"/>
                <a:ea typeface="Arial" pitchFamily="34" charset="-122"/>
                <a:cs typeface="Arial" pitchFamily="34" charset="-120"/>
              </a:rPr>
              <a:t>Image alt-text audit &amp; remediation</a:t>
            </a:r>
            <a:endParaRPr lang="en-US" sz="1300" dirty="0"/>
          </a:p>
          <a:p>
            <a:pPr marL="342900" indent="-342900">
              <a:spcAft>
                <a:spcPts val="400"/>
              </a:spcAft>
              <a:buSzPct val="100000"/>
              <a:buChar char="•"/>
            </a:pPr>
            <a:r>
              <a:rPr lang="en-US" sz="1300" dirty="0">
                <a:solidFill>
                  <a:srgbClr val="FFFFFF"/>
                </a:solidFill>
                <a:latin typeface="Arial" pitchFamily="34" charset="0"/>
                <a:ea typeface="Arial" pitchFamily="34" charset="-122"/>
                <a:cs typeface="Arial" pitchFamily="34" charset="-120"/>
              </a:rPr>
              <a:t>2 publish-ready SEO blog posts</a:t>
            </a:r>
            <a:endParaRPr lang="en-US" sz="1300" dirty="0"/>
          </a:p>
          <a:p>
            <a:pPr marL="342900" indent="-342900">
              <a:spcAft>
                <a:spcPts val="400"/>
              </a:spcAft>
              <a:buSzPct val="100000"/>
              <a:buChar char="•"/>
            </a:pPr>
            <a:r>
              <a:rPr lang="en-US" sz="1300" dirty="0">
                <a:solidFill>
                  <a:srgbClr val="FFFFFF"/>
                </a:solidFill>
                <a:latin typeface="Arial" pitchFamily="34" charset="0"/>
                <a:ea typeface="Arial" pitchFamily="34" charset="-122"/>
                <a:cs typeface="Arial" pitchFamily="34" charset="-120"/>
              </a:rPr>
              <a:t>Keyword research &amp; target matrix</a:t>
            </a:r>
            <a:endParaRPr lang="en-US" sz="1300" dirty="0"/>
          </a:p>
        </p:txBody>
      </p:sp>
      <p:sp>
        <p:nvSpPr>
          <p:cNvPr id="10" name="Text 8"/>
          <p:cNvSpPr/>
          <p:nvPr/>
        </p:nvSpPr>
        <p:spPr>
          <a:xfrm>
            <a:off x="411480" y="4526280"/>
            <a:ext cx="8321040" cy="347472"/>
          </a:xfrm>
          <a:prstGeom prst="rect">
            <a:avLst/>
          </a:prstGeom>
          <a:noFill/>
          <a:ln/>
        </p:spPr>
        <p:txBody>
          <a:bodyPr wrap="square" lIns="0" tIns="0" rIns="0" bIns="0" rtlCol="0" anchor="ctr"/>
          <a:lstStyle/>
          <a:p>
            <a:pPr marL="0" indent="0" algn="ctr">
              <a:buNone/>
            </a:pPr>
            <a:r>
              <a:rPr lang="en-US" sz="1100" i="1" dirty="0">
                <a:solidFill>
                  <a:srgbClr val="888888"/>
                </a:solidFill>
                <a:latin typeface="Arial" pitchFamily="34" charset="0"/>
                <a:ea typeface="Arial" pitchFamily="34" charset="-122"/>
                <a:cs typeface="Arial" pitchFamily="34" charset="-120"/>
              </a:rPr>
              <a:t>Deliverable: a plain-language SEO Toolkit enabling the client to self-manage after project end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8E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457200"/>
          </a:xfrm>
          <a:prstGeom prst="rect">
            <a:avLst/>
          </a:prstGeom>
          <a:noFill/>
          <a:ln/>
        </p:spPr>
        <p:txBody>
          <a:bodyPr wrap="square" lIns="0" tIns="0" rIns="0" bIns="0" rtlCol="0" anchor="ctr"/>
          <a:lstStyle/>
          <a:p>
            <a:pPr marL="0" indent="0" algn="l">
              <a:buNone/>
            </a:pPr>
            <a:r>
              <a:rPr lang="en-US" sz="2600" b="1" dirty="0">
                <a:solidFill>
                  <a:srgbClr val="B8860B"/>
                </a:solidFill>
                <a:latin typeface="Arial" pitchFamily="34" charset="0"/>
                <a:ea typeface="Arial" pitchFamily="34" charset="-122"/>
                <a:cs typeface="Arial" pitchFamily="34" charset="-120"/>
              </a:rPr>
              <a:t>Individual Contribution  </a:t>
            </a:r>
            <a:endParaRPr lang="en-US" sz="2600" dirty="0"/>
          </a:p>
        </p:txBody>
      </p:sp>
      <p:sp>
        <p:nvSpPr>
          <p:cNvPr id="3" name="Shape 1"/>
          <p:cNvSpPr/>
          <p:nvPr/>
        </p:nvSpPr>
        <p:spPr>
          <a:xfrm>
            <a:off x="457200" y="685800"/>
            <a:ext cx="8229600" cy="22860"/>
          </a:xfrm>
          <a:prstGeom prst="rect">
            <a:avLst/>
          </a:prstGeom>
          <a:solidFill>
            <a:srgbClr val="D4870A"/>
          </a:solidFill>
          <a:ln w="12700">
            <a:solidFill>
              <a:srgbClr val="FFFFFF">
                <a:alpha val="0"/>
              </a:srgbClr>
            </a:solidFill>
            <a:prstDash val="solid"/>
          </a:ln>
        </p:spPr>
      </p:sp>
      <p:sp>
        <p:nvSpPr>
          <p:cNvPr id="4" name="Shape 2"/>
          <p:cNvSpPr/>
          <p:nvPr/>
        </p:nvSpPr>
        <p:spPr>
          <a:xfrm>
            <a:off x="411480" y="777240"/>
            <a:ext cx="3877056" cy="347472"/>
          </a:xfrm>
          <a:prstGeom prst="rect">
            <a:avLst/>
          </a:prstGeom>
          <a:solidFill>
            <a:srgbClr val="1C1200"/>
          </a:solidFill>
          <a:ln w="12700">
            <a:solidFill>
              <a:srgbClr val="FFFFFF">
                <a:alpha val="0"/>
              </a:srgbClr>
            </a:solidFill>
            <a:prstDash val="solid"/>
          </a:ln>
        </p:spPr>
      </p:sp>
      <p:sp>
        <p:nvSpPr>
          <p:cNvPr id="5" name="Text 3"/>
          <p:cNvSpPr/>
          <p:nvPr/>
        </p:nvSpPr>
        <p:spPr>
          <a:xfrm>
            <a:off x="484632" y="777240"/>
            <a:ext cx="3785616" cy="347472"/>
          </a:xfrm>
          <a:prstGeom prst="rect">
            <a:avLst/>
          </a:prstGeom>
          <a:noFill/>
          <a:ln/>
        </p:spPr>
        <p:txBody>
          <a:bodyPr wrap="square" lIns="0" tIns="0" rIns="0" bIns="0" rtlCol="0" anchor="ctr"/>
          <a:lstStyle/>
          <a:p>
            <a:pPr marL="0" indent="0">
              <a:buNone/>
            </a:pPr>
            <a:r>
              <a:rPr lang="en-US" sz="1100" b="1" dirty="0">
                <a:solidFill>
                  <a:srgbClr val="F5A623"/>
                </a:solidFill>
                <a:latin typeface="Arial" pitchFamily="34" charset="0"/>
                <a:ea typeface="Arial" pitchFamily="34" charset="-122"/>
                <a:cs typeface="Arial" pitchFamily="34" charset="-120"/>
              </a:rPr>
              <a:t>Task / Deliverable</a:t>
            </a:r>
            <a:endParaRPr lang="en-US" sz="1100" dirty="0"/>
          </a:p>
        </p:txBody>
      </p:sp>
      <p:sp>
        <p:nvSpPr>
          <p:cNvPr id="6" name="Shape 4"/>
          <p:cNvSpPr/>
          <p:nvPr/>
        </p:nvSpPr>
        <p:spPr>
          <a:xfrm>
            <a:off x="4434840" y="777240"/>
            <a:ext cx="1499616" cy="347472"/>
          </a:xfrm>
          <a:prstGeom prst="rect">
            <a:avLst/>
          </a:prstGeom>
          <a:solidFill>
            <a:srgbClr val="1C1200"/>
          </a:solidFill>
          <a:ln w="12700">
            <a:solidFill>
              <a:srgbClr val="FFFFFF">
                <a:alpha val="0"/>
              </a:srgbClr>
            </a:solidFill>
            <a:prstDash val="solid"/>
          </a:ln>
        </p:spPr>
      </p:sp>
      <p:sp>
        <p:nvSpPr>
          <p:cNvPr id="7" name="Text 5"/>
          <p:cNvSpPr/>
          <p:nvPr/>
        </p:nvSpPr>
        <p:spPr>
          <a:xfrm>
            <a:off x="4507992" y="777240"/>
            <a:ext cx="1408176" cy="347472"/>
          </a:xfrm>
          <a:prstGeom prst="rect">
            <a:avLst/>
          </a:prstGeom>
          <a:noFill/>
          <a:ln/>
        </p:spPr>
        <p:txBody>
          <a:bodyPr wrap="square" lIns="0" tIns="0" rIns="0" bIns="0" rtlCol="0" anchor="ctr"/>
          <a:lstStyle/>
          <a:p>
            <a:pPr marL="0" indent="0">
              <a:buNone/>
            </a:pPr>
            <a:r>
              <a:rPr lang="en-US" sz="1100" b="1" dirty="0">
                <a:solidFill>
                  <a:srgbClr val="F5A623"/>
                </a:solidFill>
                <a:latin typeface="Arial" pitchFamily="34" charset="0"/>
                <a:ea typeface="Arial" pitchFamily="34" charset="-122"/>
                <a:cs typeface="Arial" pitchFamily="34" charset="-120"/>
              </a:rPr>
              <a:t>Status</a:t>
            </a:r>
            <a:endParaRPr lang="en-US" sz="1100" dirty="0"/>
          </a:p>
        </p:txBody>
      </p:sp>
      <p:sp>
        <p:nvSpPr>
          <p:cNvPr id="8" name="Shape 6"/>
          <p:cNvSpPr/>
          <p:nvPr/>
        </p:nvSpPr>
        <p:spPr>
          <a:xfrm>
            <a:off x="6080760" y="777240"/>
            <a:ext cx="2505456" cy="347472"/>
          </a:xfrm>
          <a:prstGeom prst="rect">
            <a:avLst/>
          </a:prstGeom>
          <a:solidFill>
            <a:srgbClr val="1C1200"/>
          </a:solidFill>
          <a:ln w="12700">
            <a:solidFill>
              <a:srgbClr val="FFFFFF">
                <a:alpha val="0"/>
              </a:srgbClr>
            </a:solidFill>
            <a:prstDash val="solid"/>
          </a:ln>
        </p:spPr>
      </p:sp>
      <p:sp>
        <p:nvSpPr>
          <p:cNvPr id="9" name="Text 7"/>
          <p:cNvSpPr/>
          <p:nvPr/>
        </p:nvSpPr>
        <p:spPr>
          <a:xfrm>
            <a:off x="6153912" y="777240"/>
            <a:ext cx="2414016" cy="347472"/>
          </a:xfrm>
          <a:prstGeom prst="rect">
            <a:avLst/>
          </a:prstGeom>
          <a:noFill/>
          <a:ln/>
        </p:spPr>
        <p:txBody>
          <a:bodyPr wrap="square" lIns="0" tIns="0" rIns="0" bIns="0" rtlCol="0" anchor="ctr"/>
          <a:lstStyle/>
          <a:p>
            <a:pPr marL="0" indent="0">
              <a:buNone/>
            </a:pPr>
            <a:r>
              <a:rPr lang="en-US" sz="1100" b="1" dirty="0">
                <a:solidFill>
                  <a:srgbClr val="F5A623"/>
                </a:solidFill>
                <a:latin typeface="Arial" pitchFamily="34" charset="0"/>
                <a:ea typeface="Arial" pitchFamily="34" charset="-122"/>
                <a:cs typeface="Arial" pitchFamily="34" charset="-120"/>
              </a:rPr>
              <a:t>Demo Path</a:t>
            </a:r>
            <a:endParaRPr lang="en-US" sz="1100" dirty="0"/>
          </a:p>
        </p:txBody>
      </p:sp>
      <p:sp>
        <p:nvSpPr>
          <p:cNvPr id="10" name="Shape 8"/>
          <p:cNvSpPr/>
          <p:nvPr/>
        </p:nvSpPr>
        <p:spPr>
          <a:xfrm>
            <a:off x="411480" y="1161288"/>
            <a:ext cx="3877056" cy="393192"/>
          </a:xfrm>
          <a:prstGeom prst="rect">
            <a:avLst/>
          </a:prstGeom>
          <a:solidFill>
            <a:srgbClr val="FFFDF5"/>
          </a:solidFill>
          <a:ln w="6350">
            <a:solidFill>
              <a:srgbClr val="E0C060"/>
            </a:solidFill>
            <a:prstDash val="solid"/>
          </a:ln>
        </p:spPr>
      </p:sp>
      <p:sp>
        <p:nvSpPr>
          <p:cNvPr id="11" name="Text 9"/>
          <p:cNvSpPr/>
          <p:nvPr/>
        </p:nvSpPr>
        <p:spPr>
          <a:xfrm>
            <a:off x="502920" y="1161288"/>
            <a:ext cx="3730752" cy="393192"/>
          </a:xfrm>
          <a:prstGeom prst="rect">
            <a:avLst/>
          </a:prstGeom>
          <a:noFill/>
          <a:ln/>
        </p:spPr>
        <p:txBody>
          <a:bodyPr wrap="square" lIns="0" tIns="0" rIns="0" bIns="0" rtlCol="0" anchor="ctr"/>
          <a:lstStyle/>
          <a:p>
            <a:pPr marL="0" indent="0">
              <a:buNone/>
            </a:pPr>
            <a:r>
              <a:rPr lang="en-US" sz="1100" dirty="0">
                <a:solidFill>
                  <a:srgbClr val="1A1200"/>
                </a:solidFill>
                <a:latin typeface="Arial" pitchFamily="34" charset="0"/>
                <a:ea typeface="Arial" pitchFamily="34" charset="-122"/>
                <a:cs typeface="Arial" pitchFamily="34" charset="-120"/>
              </a:rPr>
              <a:t>Chapter 7 - SEO Self-Management Toolkit</a:t>
            </a:r>
            <a:endParaRPr lang="en-US" sz="1100" dirty="0"/>
          </a:p>
        </p:txBody>
      </p:sp>
      <p:sp>
        <p:nvSpPr>
          <p:cNvPr id="12" name="Shape 10"/>
          <p:cNvSpPr/>
          <p:nvPr/>
        </p:nvSpPr>
        <p:spPr>
          <a:xfrm>
            <a:off x="4434840" y="1161288"/>
            <a:ext cx="1499616" cy="393192"/>
          </a:xfrm>
          <a:prstGeom prst="rect">
            <a:avLst/>
          </a:prstGeom>
          <a:solidFill>
            <a:srgbClr val="E6F4E6"/>
          </a:solidFill>
          <a:ln w="6350">
            <a:solidFill>
              <a:srgbClr val="E0C060"/>
            </a:solidFill>
            <a:prstDash val="solid"/>
          </a:ln>
        </p:spPr>
      </p:sp>
      <p:pic>
        <p:nvPicPr>
          <p:cNvPr id="13" name="Image 0" descr="preencoded.png"/>
          <p:cNvPicPr>
            <a:picLocks noChangeAspect="1"/>
          </p:cNvPicPr>
          <p:nvPr/>
        </p:nvPicPr>
        <p:blipFill>
          <a:blip r:embed="rId3"/>
          <a:stretch>
            <a:fillRect/>
          </a:stretch>
        </p:blipFill>
        <p:spPr>
          <a:xfrm>
            <a:off x="4599432" y="1252728"/>
            <a:ext cx="201168" cy="201168"/>
          </a:xfrm>
          <a:prstGeom prst="rect">
            <a:avLst/>
          </a:prstGeom>
        </p:spPr>
      </p:pic>
      <p:sp>
        <p:nvSpPr>
          <p:cNvPr id="14" name="Text 11"/>
          <p:cNvSpPr/>
          <p:nvPr/>
        </p:nvSpPr>
        <p:spPr>
          <a:xfrm>
            <a:off x="4818888" y="1161288"/>
            <a:ext cx="1005840" cy="393192"/>
          </a:xfrm>
          <a:prstGeom prst="rect">
            <a:avLst/>
          </a:prstGeom>
          <a:noFill/>
          <a:ln/>
        </p:spPr>
        <p:txBody>
          <a:bodyPr wrap="square" lIns="0" tIns="0" rIns="0" bIns="0" rtlCol="0" anchor="ctr"/>
          <a:lstStyle/>
          <a:p>
            <a:pPr marL="0" indent="0">
              <a:buNone/>
            </a:pPr>
            <a:r>
              <a:rPr lang="en-US" sz="1100" b="1" dirty="0">
                <a:solidFill>
                  <a:srgbClr val="1E6B1E"/>
                </a:solidFill>
                <a:latin typeface="Arial" pitchFamily="34" charset="0"/>
                <a:ea typeface="Arial" pitchFamily="34" charset="-122"/>
                <a:cs typeface="Arial" pitchFamily="34" charset="-120"/>
              </a:rPr>
              <a:t>Complete</a:t>
            </a:r>
            <a:endParaRPr lang="en-US" sz="1100" dirty="0"/>
          </a:p>
        </p:txBody>
      </p:sp>
      <p:sp>
        <p:nvSpPr>
          <p:cNvPr id="15" name="Shape 12"/>
          <p:cNvSpPr/>
          <p:nvPr/>
        </p:nvSpPr>
        <p:spPr>
          <a:xfrm>
            <a:off x="6080760" y="1161288"/>
            <a:ext cx="2560320" cy="393192"/>
          </a:xfrm>
          <a:prstGeom prst="rect">
            <a:avLst/>
          </a:prstGeom>
          <a:solidFill>
            <a:srgbClr val="FFFDF5"/>
          </a:solidFill>
          <a:ln w="6350">
            <a:solidFill>
              <a:srgbClr val="E0C060"/>
            </a:solidFill>
            <a:prstDash val="solid"/>
          </a:ln>
        </p:spPr>
      </p:sp>
      <p:sp>
        <p:nvSpPr>
          <p:cNvPr id="16" name="Text 13"/>
          <p:cNvSpPr/>
          <p:nvPr/>
        </p:nvSpPr>
        <p:spPr>
          <a:xfrm>
            <a:off x="6172200" y="1161288"/>
            <a:ext cx="2423160" cy="393192"/>
          </a:xfrm>
          <a:prstGeom prst="rect">
            <a:avLst/>
          </a:prstGeom>
          <a:noFill/>
          <a:ln/>
        </p:spPr>
        <p:txBody>
          <a:bodyPr wrap="square" lIns="0" tIns="0" rIns="0" bIns="0" rtlCol="0" anchor="ctr"/>
          <a:lstStyle/>
          <a:p>
            <a:pPr marL="0" indent="0">
              <a:buNone/>
            </a:pPr>
            <a:r>
              <a:rPr lang="en-US" sz="1000" dirty="0">
                <a:solidFill>
                  <a:srgbClr val="666666"/>
                </a:solidFill>
                <a:latin typeface="Arial" pitchFamily="34" charset="0"/>
                <a:ea typeface="Arial" pitchFamily="34" charset="-122"/>
                <a:cs typeface="Arial" pitchFamily="34" charset="-120"/>
              </a:rPr>
              <a:t>Word doc - screen share</a:t>
            </a:r>
            <a:endParaRPr lang="en-US" sz="1000" dirty="0"/>
          </a:p>
        </p:txBody>
      </p:sp>
      <p:sp>
        <p:nvSpPr>
          <p:cNvPr id="17" name="Shape 14"/>
          <p:cNvSpPr/>
          <p:nvPr/>
        </p:nvSpPr>
        <p:spPr>
          <a:xfrm>
            <a:off x="411480" y="1600200"/>
            <a:ext cx="3877056" cy="393192"/>
          </a:xfrm>
          <a:prstGeom prst="rect">
            <a:avLst/>
          </a:prstGeom>
          <a:solidFill>
            <a:srgbClr val="FFFFFF"/>
          </a:solidFill>
          <a:ln w="6350">
            <a:solidFill>
              <a:srgbClr val="E0C060"/>
            </a:solidFill>
            <a:prstDash val="solid"/>
          </a:ln>
        </p:spPr>
      </p:sp>
      <p:sp>
        <p:nvSpPr>
          <p:cNvPr id="18" name="Text 15"/>
          <p:cNvSpPr/>
          <p:nvPr/>
        </p:nvSpPr>
        <p:spPr>
          <a:xfrm>
            <a:off x="502920" y="1600200"/>
            <a:ext cx="3730752" cy="393192"/>
          </a:xfrm>
          <a:prstGeom prst="rect">
            <a:avLst/>
          </a:prstGeom>
          <a:noFill/>
          <a:ln/>
        </p:spPr>
        <p:txBody>
          <a:bodyPr wrap="square" lIns="0" tIns="0" rIns="0" bIns="0" rtlCol="0" anchor="ctr"/>
          <a:lstStyle/>
          <a:p>
            <a:pPr marL="0" indent="0">
              <a:buNone/>
            </a:pPr>
            <a:r>
              <a:rPr lang="en-US" sz="1100" dirty="0" err="1">
                <a:solidFill>
                  <a:srgbClr val="1A1200"/>
                </a:solidFill>
                <a:latin typeface="Arial" pitchFamily="34" charset="0"/>
                <a:ea typeface="Arial" pitchFamily="34" charset="-122"/>
                <a:cs typeface="Arial" pitchFamily="34" charset="-120"/>
              </a:rPr>
              <a:t>RankMath</a:t>
            </a:r>
            <a:r>
              <a:rPr lang="en-US" sz="1100" dirty="0">
                <a:solidFill>
                  <a:srgbClr val="1A1200"/>
                </a:solidFill>
                <a:latin typeface="Arial" pitchFamily="34" charset="0"/>
                <a:ea typeface="Arial" pitchFamily="34" charset="-122"/>
                <a:cs typeface="Arial" pitchFamily="34" charset="-120"/>
              </a:rPr>
              <a:t> - Install &amp; Configure</a:t>
            </a:r>
            <a:endParaRPr lang="en-US" sz="1100" dirty="0"/>
          </a:p>
        </p:txBody>
      </p:sp>
      <p:sp>
        <p:nvSpPr>
          <p:cNvPr id="19" name="Shape 16"/>
          <p:cNvSpPr/>
          <p:nvPr/>
        </p:nvSpPr>
        <p:spPr>
          <a:xfrm>
            <a:off x="4434840" y="1600200"/>
            <a:ext cx="1499616" cy="393192"/>
          </a:xfrm>
          <a:prstGeom prst="rect">
            <a:avLst/>
          </a:prstGeom>
          <a:solidFill>
            <a:srgbClr val="E6F4E6"/>
          </a:solidFill>
          <a:ln w="6350">
            <a:solidFill>
              <a:srgbClr val="E0C060"/>
            </a:solidFill>
            <a:prstDash val="solid"/>
          </a:ln>
        </p:spPr>
      </p:sp>
      <p:pic>
        <p:nvPicPr>
          <p:cNvPr id="20" name="Image 1" descr="preencoded.png"/>
          <p:cNvPicPr>
            <a:picLocks noChangeAspect="1"/>
          </p:cNvPicPr>
          <p:nvPr/>
        </p:nvPicPr>
        <p:blipFill>
          <a:blip r:embed="rId3"/>
          <a:stretch>
            <a:fillRect/>
          </a:stretch>
        </p:blipFill>
        <p:spPr>
          <a:xfrm>
            <a:off x="4599432" y="1691640"/>
            <a:ext cx="201168" cy="201168"/>
          </a:xfrm>
          <a:prstGeom prst="rect">
            <a:avLst/>
          </a:prstGeom>
        </p:spPr>
      </p:pic>
      <p:sp>
        <p:nvSpPr>
          <p:cNvPr id="21" name="Text 17"/>
          <p:cNvSpPr/>
          <p:nvPr/>
        </p:nvSpPr>
        <p:spPr>
          <a:xfrm>
            <a:off x="4818888" y="1600200"/>
            <a:ext cx="1005840" cy="393192"/>
          </a:xfrm>
          <a:prstGeom prst="rect">
            <a:avLst/>
          </a:prstGeom>
          <a:noFill/>
          <a:ln/>
        </p:spPr>
        <p:txBody>
          <a:bodyPr wrap="square" lIns="0" tIns="0" rIns="0" bIns="0" rtlCol="0" anchor="ctr"/>
          <a:lstStyle/>
          <a:p>
            <a:pPr marL="0" indent="0">
              <a:buNone/>
            </a:pPr>
            <a:r>
              <a:rPr lang="en-US" sz="1100" b="1" dirty="0">
                <a:solidFill>
                  <a:srgbClr val="1E6B1E"/>
                </a:solidFill>
                <a:latin typeface="Arial" pitchFamily="34" charset="0"/>
                <a:ea typeface="Arial" pitchFamily="34" charset="-122"/>
                <a:cs typeface="Arial" pitchFamily="34" charset="-120"/>
              </a:rPr>
              <a:t>Complete</a:t>
            </a:r>
            <a:endParaRPr lang="en-US" sz="1100" dirty="0"/>
          </a:p>
        </p:txBody>
      </p:sp>
      <p:sp>
        <p:nvSpPr>
          <p:cNvPr id="22" name="Shape 18"/>
          <p:cNvSpPr/>
          <p:nvPr/>
        </p:nvSpPr>
        <p:spPr>
          <a:xfrm>
            <a:off x="6080760" y="1600200"/>
            <a:ext cx="2560320" cy="393192"/>
          </a:xfrm>
          <a:prstGeom prst="rect">
            <a:avLst/>
          </a:prstGeom>
          <a:solidFill>
            <a:srgbClr val="FFFFFF"/>
          </a:solidFill>
          <a:ln w="6350">
            <a:solidFill>
              <a:srgbClr val="E0C060"/>
            </a:solidFill>
            <a:prstDash val="solid"/>
          </a:ln>
        </p:spPr>
      </p:sp>
      <p:sp>
        <p:nvSpPr>
          <p:cNvPr id="23" name="Text 19"/>
          <p:cNvSpPr/>
          <p:nvPr/>
        </p:nvSpPr>
        <p:spPr>
          <a:xfrm>
            <a:off x="6172200" y="1600200"/>
            <a:ext cx="2423160" cy="393192"/>
          </a:xfrm>
          <a:prstGeom prst="rect">
            <a:avLst/>
          </a:prstGeom>
          <a:noFill/>
          <a:ln/>
        </p:spPr>
        <p:txBody>
          <a:bodyPr wrap="square" lIns="0" tIns="0" rIns="0" bIns="0" rtlCol="0" anchor="ctr"/>
          <a:lstStyle/>
          <a:p>
            <a:pPr marL="0" indent="0">
              <a:buNone/>
            </a:pPr>
            <a:r>
              <a:rPr lang="en-US" sz="1000" dirty="0">
                <a:solidFill>
                  <a:srgbClr val="666666"/>
                </a:solidFill>
                <a:latin typeface="Arial" pitchFamily="34" charset="0"/>
                <a:ea typeface="Arial" pitchFamily="34" charset="-122"/>
                <a:cs typeface="Arial" pitchFamily="34" charset="-120"/>
              </a:rPr>
              <a:t>WP Admin → RankMath</a:t>
            </a:r>
            <a:endParaRPr lang="en-US" sz="1000" dirty="0"/>
          </a:p>
        </p:txBody>
      </p:sp>
      <p:sp>
        <p:nvSpPr>
          <p:cNvPr id="24" name="Shape 20"/>
          <p:cNvSpPr/>
          <p:nvPr/>
        </p:nvSpPr>
        <p:spPr>
          <a:xfrm>
            <a:off x="411480" y="2039112"/>
            <a:ext cx="3877056" cy="393192"/>
          </a:xfrm>
          <a:prstGeom prst="rect">
            <a:avLst/>
          </a:prstGeom>
          <a:solidFill>
            <a:srgbClr val="FFFDF5"/>
          </a:solidFill>
          <a:ln w="6350">
            <a:solidFill>
              <a:srgbClr val="E0C060"/>
            </a:solidFill>
            <a:prstDash val="solid"/>
          </a:ln>
        </p:spPr>
      </p:sp>
      <p:sp>
        <p:nvSpPr>
          <p:cNvPr id="25" name="Text 21"/>
          <p:cNvSpPr/>
          <p:nvPr/>
        </p:nvSpPr>
        <p:spPr>
          <a:xfrm>
            <a:off x="502920" y="2039112"/>
            <a:ext cx="3730752" cy="393192"/>
          </a:xfrm>
          <a:prstGeom prst="rect">
            <a:avLst/>
          </a:prstGeom>
          <a:noFill/>
          <a:ln/>
        </p:spPr>
        <p:txBody>
          <a:bodyPr wrap="square" lIns="0" tIns="0" rIns="0" bIns="0" rtlCol="0" anchor="ctr"/>
          <a:lstStyle/>
          <a:p>
            <a:pPr marL="0" indent="0">
              <a:buNone/>
            </a:pPr>
            <a:r>
              <a:rPr lang="en-US" sz="1100" dirty="0">
                <a:solidFill>
                  <a:srgbClr val="1A1200"/>
                </a:solidFill>
                <a:latin typeface="Arial" pitchFamily="34" charset="0"/>
                <a:ea typeface="Arial" pitchFamily="34" charset="-122"/>
                <a:cs typeface="Arial" pitchFamily="34" charset="-120"/>
              </a:rPr>
              <a:t>Meta titles &amp; descriptions (5 pages)</a:t>
            </a:r>
            <a:endParaRPr lang="en-US" sz="1100" dirty="0"/>
          </a:p>
        </p:txBody>
      </p:sp>
      <p:sp>
        <p:nvSpPr>
          <p:cNvPr id="26" name="Shape 22"/>
          <p:cNvSpPr/>
          <p:nvPr/>
        </p:nvSpPr>
        <p:spPr>
          <a:xfrm>
            <a:off x="4434840" y="2039112"/>
            <a:ext cx="1499616" cy="393192"/>
          </a:xfrm>
          <a:prstGeom prst="rect">
            <a:avLst/>
          </a:prstGeom>
          <a:solidFill>
            <a:srgbClr val="E6F4E6"/>
          </a:solidFill>
          <a:ln w="6350">
            <a:solidFill>
              <a:srgbClr val="E0C060"/>
            </a:solidFill>
            <a:prstDash val="solid"/>
          </a:ln>
        </p:spPr>
      </p:sp>
      <p:pic>
        <p:nvPicPr>
          <p:cNvPr id="27" name="Image 2" descr="preencoded.png"/>
          <p:cNvPicPr>
            <a:picLocks noChangeAspect="1"/>
          </p:cNvPicPr>
          <p:nvPr/>
        </p:nvPicPr>
        <p:blipFill>
          <a:blip r:embed="rId3"/>
          <a:stretch>
            <a:fillRect/>
          </a:stretch>
        </p:blipFill>
        <p:spPr>
          <a:xfrm>
            <a:off x="4599432" y="2130552"/>
            <a:ext cx="201168" cy="201168"/>
          </a:xfrm>
          <a:prstGeom prst="rect">
            <a:avLst/>
          </a:prstGeom>
        </p:spPr>
      </p:pic>
      <p:sp>
        <p:nvSpPr>
          <p:cNvPr id="28" name="Text 23"/>
          <p:cNvSpPr/>
          <p:nvPr/>
        </p:nvSpPr>
        <p:spPr>
          <a:xfrm>
            <a:off x="4818888" y="2039112"/>
            <a:ext cx="1005840" cy="393192"/>
          </a:xfrm>
          <a:prstGeom prst="rect">
            <a:avLst/>
          </a:prstGeom>
          <a:noFill/>
          <a:ln/>
        </p:spPr>
        <p:txBody>
          <a:bodyPr wrap="square" lIns="0" tIns="0" rIns="0" bIns="0" rtlCol="0" anchor="ctr"/>
          <a:lstStyle/>
          <a:p>
            <a:pPr marL="0" indent="0">
              <a:buNone/>
            </a:pPr>
            <a:r>
              <a:rPr lang="en-US" sz="1100" b="1" dirty="0">
                <a:solidFill>
                  <a:srgbClr val="1E6B1E"/>
                </a:solidFill>
                <a:latin typeface="Arial" pitchFamily="34" charset="0"/>
                <a:ea typeface="Arial" pitchFamily="34" charset="-122"/>
                <a:cs typeface="Arial" pitchFamily="34" charset="-120"/>
              </a:rPr>
              <a:t>Complete</a:t>
            </a:r>
            <a:endParaRPr lang="en-US" sz="1100" dirty="0"/>
          </a:p>
        </p:txBody>
      </p:sp>
      <p:sp>
        <p:nvSpPr>
          <p:cNvPr id="29" name="Shape 24"/>
          <p:cNvSpPr/>
          <p:nvPr/>
        </p:nvSpPr>
        <p:spPr>
          <a:xfrm>
            <a:off x="6080760" y="2039112"/>
            <a:ext cx="2560320" cy="393192"/>
          </a:xfrm>
          <a:prstGeom prst="rect">
            <a:avLst/>
          </a:prstGeom>
          <a:solidFill>
            <a:srgbClr val="FFFDF5"/>
          </a:solidFill>
          <a:ln w="6350">
            <a:solidFill>
              <a:srgbClr val="E0C060"/>
            </a:solidFill>
            <a:prstDash val="solid"/>
          </a:ln>
        </p:spPr>
      </p:sp>
      <p:sp>
        <p:nvSpPr>
          <p:cNvPr id="30" name="Text 25"/>
          <p:cNvSpPr/>
          <p:nvPr/>
        </p:nvSpPr>
        <p:spPr>
          <a:xfrm>
            <a:off x="6172200" y="2039112"/>
            <a:ext cx="2423160" cy="393192"/>
          </a:xfrm>
          <a:prstGeom prst="rect">
            <a:avLst/>
          </a:prstGeom>
          <a:noFill/>
          <a:ln/>
        </p:spPr>
        <p:txBody>
          <a:bodyPr wrap="square" lIns="0" tIns="0" rIns="0" bIns="0" rtlCol="0" anchor="ctr"/>
          <a:lstStyle/>
          <a:p>
            <a:pPr marL="0" indent="0">
              <a:buNone/>
            </a:pPr>
            <a:r>
              <a:rPr lang="en-US" sz="1000" dirty="0">
                <a:solidFill>
                  <a:srgbClr val="666666"/>
                </a:solidFill>
                <a:latin typeface="Arial" pitchFamily="34" charset="0"/>
                <a:ea typeface="Arial" pitchFamily="34" charset="-122"/>
                <a:cs typeface="Arial" pitchFamily="34" charset="-120"/>
              </a:rPr>
              <a:t>Pages → Edit → Snippet</a:t>
            </a:r>
            <a:endParaRPr lang="en-US" sz="1000" dirty="0"/>
          </a:p>
        </p:txBody>
      </p:sp>
      <p:sp>
        <p:nvSpPr>
          <p:cNvPr id="31" name="Shape 26"/>
          <p:cNvSpPr/>
          <p:nvPr/>
        </p:nvSpPr>
        <p:spPr>
          <a:xfrm>
            <a:off x="411480" y="2478024"/>
            <a:ext cx="3877056" cy="393192"/>
          </a:xfrm>
          <a:prstGeom prst="rect">
            <a:avLst/>
          </a:prstGeom>
          <a:solidFill>
            <a:srgbClr val="FFFFFF"/>
          </a:solidFill>
          <a:ln w="6350">
            <a:solidFill>
              <a:srgbClr val="E0C060"/>
            </a:solidFill>
            <a:prstDash val="solid"/>
          </a:ln>
        </p:spPr>
      </p:sp>
      <p:sp>
        <p:nvSpPr>
          <p:cNvPr id="32" name="Text 27"/>
          <p:cNvSpPr/>
          <p:nvPr/>
        </p:nvSpPr>
        <p:spPr>
          <a:xfrm>
            <a:off x="502920" y="2478024"/>
            <a:ext cx="3730752" cy="393192"/>
          </a:xfrm>
          <a:prstGeom prst="rect">
            <a:avLst/>
          </a:prstGeom>
          <a:noFill/>
          <a:ln/>
        </p:spPr>
        <p:txBody>
          <a:bodyPr wrap="square" lIns="0" tIns="0" rIns="0" bIns="0" rtlCol="0" anchor="ctr"/>
          <a:lstStyle/>
          <a:p>
            <a:pPr marL="0" indent="0">
              <a:buNone/>
            </a:pPr>
            <a:r>
              <a:rPr lang="en-US" sz="1100" dirty="0">
                <a:solidFill>
                  <a:srgbClr val="1A1200"/>
                </a:solidFill>
                <a:latin typeface="Arial" pitchFamily="34" charset="0"/>
                <a:ea typeface="Arial" pitchFamily="34" charset="-122"/>
                <a:cs typeface="Arial" pitchFamily="34" charset="-120"/>
              </a:rPr>
              <a:t>Homepage hero copy + keyword integration</a:t>
            </a:r>
            <a:endParaRPr lang="en-US" sz="1100" dirty="0"/>
          </a:p>
        </p:txBody>
      </p:sp>
      <p:sp>
        <p:nvSpPr>
          <p:cNvPr id="33" name="Shape 28"/>
          <p:cNvSpPr/>
          <p:nvPr/>
        </p:nvSpPr>
        <p:spPr>
          <a:xfrm>
            <a:off x="4434840" y="2478024"/>
            <a:ext cx="1499616" cy="393192"/>
          </a:xfrm>
          <a:prstGeom prst="rect">
            <a:avLst/>
          </a:prstGeom>
          <a:solidFill>
            <a:srgbClr val="E6F4E6"/>
          </a:solidFill>
          <a:ln w="6350">
            <a:solidFill>
              <a:srgbClr val="E0C060"/>
            </a:solidFill>
            <a:prstDash val="solid"/>
          </a:ln>
        </p:spPr>
      </p:sp>
      <p:pic>
        <p:nvPicPr>
          <p:cNvPr id="34" name="Image 3" descr="preencoded.png"/>
          <p:cNvPicPr>
            <a:picLocks noChangeAspect="1"/>
          </p:cNvPicPr>
          <p:nvPr/>
        </p:nvPicPr>
        <p:blipFill>
          <a:blip r:embed="rId3"/>
          <a:stretch>
            <a:fillRect/>
          </a:stretch>
        </p:blipFill>
        <p:spPr>
          <a:xfrm>
            <a:off x="4599432" y="2569464"/>
            <a:ext cx="201168" cy="201168"/>
          </a:xfrm>
          <a:prstGeom prst="rect">
            <a:avLst/>
          </a:prstGeom>
        </p:spPr>
      </p:pic>
      <p:sp>
        <p:nvSpPr>
          <p:cNvPr id="35" name="Text 29"/>
          <p:cNvSpPr/>
          <p:nvPr/>
        </p:nvSpPr>
        <p:spPr>
          <a:xfrm>
            <a:off x="4818888" y="2478024"/>
            <a:ext cx="1005840" cy="393192"/>
          </a:xfrm>
          <a:prstGeom prst="rect">
            <a:avLst/>
          </a:prstGeom>
          <a:noFill/>
          <a:ln/>
        </p:spPr>
        <p:txBody>
          <a:bodyPr wrap="square" lIns="0" tIns="0" rIns="0" bIns="0" rtlCol="0" anchor="ctr"/>
          <a:lstStyle/>
          <a:p>
            <a:pPr marL="0" indent="0">
              <a:buNone/>
            </a:pPr>
            <a:r>
              <a:rPr lang="en-US" sz="1100" b="1" dirty="0">
                <a:solidFill>
                  <a:srgbClr val="1E6B1E"/>
                </a:solidFill>
                <a:latin typeface="Arial" pitchFamily="34" charset="0"/>
                <a:ea typeface="Arial" pitchFamily="34" charset="-122"/>
                <a:cs typeface="Arial" pitchFamily="34" charset="-120"/>
              </a:rPr>
              <a:t>Complete</a:t>
            </a:r>
            <a:endParaRPr lang="en-US" sz="1100" dirty="0"/>
          </a:p>
        </p:txBody>
      </p:sp>
      <p:sp>
        <p:nvSpPr>
          <p:cNvPr id="36" name="Shape 30"/>
          <p:cNvSpPr/>
          <p:nvPr/>
        </p:nvSpPr>
        <p:spPr>
          <a:xfrm>
            <a:off x="6080760" y="2478024"/>
            <a:ext cx="2560320" cy="393192"/>
          </a:xfrm>
          <a:prstGeom prst="rect">
            <a:avLst/>
          </a:prstGeom>
          <a:solidFill>
            <a:srgbClr val="FFFFFF"/>
          </a:solidFill>
          <a:ln w="6350">
            <a:solidFill>
              <a:srgbClr val="E0C060"/>
            </a:solidFill>
            <a:prstDash val="solid"/>
          </a:ln>
        </p:spPr>
      </p:sp>
      <p:sp>
        <p:nvSpPr>
          <p:cNvPr id="37" name="Text 31"/>
          <p:cNvSpPr/>
          <p:nvPr/>
        </p:nvSpPr>
        <p:spPr>
          <a:xfrm>
            <a:off x="6172200" y="2478024"/>
            <a:ext cx="2423160" cy="393192"/>
          </a:xfrm>
          <a:prstGeom prst="rect">
            <a:avLst/>
          </a:prstGeom>
          <a:noFill/>
          <a:ln/>
        </p:spPr>
        <p:txBody>
          <a:bodyPr wrap="square" lIns="0" tIns="0" rIns="0" bIns="0" rtlCol="0" anchor="ctr"/>
          <a:lstStyle/>
          <a:p>
            <a:pPr marL="0" indent="0">
              <a:buNone/>
            </a:pPr>
            <a:r>
              <a:rPr lang="en-US" sz="1000" dirty="0">
                <a:solidFill>
                  <a:srgbClr val="666666"/>
                </a:solidFill>
                <a:latin typeface="Arial" pitchFamily="34" charset="0"/>
                <a:ea typeface="Arial" pitchFamily="34" charset="-122"/>
                <a:cs typeface="Arial" pitchFamily="34" charset="-120"/>
              </a:rPr>
              <a:t>Staging vs Live comparison</a:t>
            </a:r>
            <a:endParaRPr lang="en-US" sz="1000" dirty="0"/>
          </a:p>
        </p:txBody>
      </p:sp>
      <p:sp>
        <p:nvSpPr>
          <p:cNvPr id="38" name="Shape 32"/>
          <p:cNvSpPr/>
          <p:nvPr/>
        </p:nvSpPr>
        <p:spPr>
          <a:xfrm>
            <a:off x="411480" y="2916936"/>
            <a:ext cx="3877056" cy="393192"/>
          </a:xfrm>
          <a:prstGeom prst="rect">
            <a:avLst/>
          </a:prstGeom>
          <a:solidFill>
            <a:srgbClr val="FFFDF5"/>
          </a:solidFill>
          <a:ln w="6350">
            <a:solidFill>
              <a:srgbClr val="E0C060"/>
            </a:solidFill>
            <a:prstDash val="solid"/>
          </a:ln>
        </p:spPr>
      </p:sp>
      <p:sp>
        <p:nvSpPr>
          <p:cNvPr id="39" name="Text 33"/>
          <p:cNvSpPr/>
          <p:nvPr/>
        </p:nvSpPr>
        <p:spPr>
          <a:xfrm>
            <a:off x="502920" y="2916936"/>
            <a:ext cx="3730752" cy="393192"/>
          </a:xfrm>
          <a:prstGeom prst="rect">
            <a:avLst/>
          </a:prstGeom>
          <a:noFill/>
          <a:ln/>
        </p:spPr>
        <p:txBody>
          <a:bodyPr wrap="square" lIns="0" tIns="0" rIns="0" bIns="0" rtlCol="0" anchor="ctr"/>
          <a:lstStyle/>
          <a:p>
            <a:pPr marL="0" indent="0">
              <a:buNone/>
            </a:pPr>
            <a:r>
              <a:rPr lang="en-US" sz="1100" dirty="0">
                <a:solidFill>
                  <a:srgbClr val="1A1200"/>
                </a:solidFill>
                <a:latin typeface="Arial" pitchFamily="34" charset="0"/>
                <a:ea typeface="Arial" pitchFamily="34" charset="-122"/>
                <a:cs typeface="Arial" pitchFamily="34" charset="-120"/>
              </a:rPr>
              <a:t>Image alt-text audit &amp; remediation</a:t>
            </a:r>
            <a:endParaRPr lang="en-US" sz="1100" dirty="0"/>
          </a:p>
        </p:txBody>
      </p:sp>
      <p:sp>
        <p:nvSpPr>
          <p:cNvPr id="40" name="Shape 34"/>
          <p:cNvSpPr/>
          <p:nvPr/>
        </p:nvSpPr>
        <p:spPr>
          <a:xfrm>
            <a:off x="4434840" y="2916936"/>
            <a:ext cx="1499616" cy="393192"/>
          </a:xfrm>
          <a:prstGeom prst="rect">
            <a:avLst/>
          </a:prstGeom>
          <a:solidFill>
            <a:srgbClr val="E6F4E6"/>
          </a:solidFill>
          <a:ln w="6350">
            <a:solidFill>
              <a:srgbClr val="E0C060"/>
            </a:solidFill>
            <a:prstDash val="solid"/>
          </a:ln>
        </p:spPr>
      </p:sp>
      <p:pic>
        <p:nvPicPr>
          <p:cNvPr id="41" name="Image 4" descr="preencoded.png"/>
          <p:cNvPicPr>
            <a:picLocks noChangeAspect="1"/>
          </p:cNvPicPr>
          <p:nvPr/>
        </p:nvPicPr>
        <p:blipFill>
          <a:blip r:embed="rId3"/>
          <a:stretch>
            <a:fillRect/>
          </a:stretch>
        </p:blipFill>
        <p:spPr>
          <a:xfrm>
            <a:off x="4599432" y="3008376"/>
            <a:ext cx="201168" cy="201168"/>
          </a:xfrm>
          <a:prstGeom prst="rect">
            <a:avLst/>
          </a:prstGeom>
        </p:spPr>
      </p:pic>
      <p:sp>
        <p:nvSpPr>
          <p:cNvPr id="42" name="Text 35"/>
          <p:cNvSpPr/>
          <p:nvPr/>
        </p:nvSpPr>
        <p:spPr>
          <a:xfrm>
            <a:off x="4818888" y="2916936"/>
            <a:ext cx="1005840" cy="393192"/>
          </a:xfrm>
          <a:prstGeom prst="rect">
            <a:avLst/>
          </a:prstGeom>
          <a:noFill/>
          <a:ln/>
        </p:spPr>
        <p:txBody>
          <a:bodyPr wrap="square" lIns="0" tIns="0" rIns="0" bIns="0" rtlCol="0" anchor="ctr"/>
          <a:lstStyle/>
          <a:p>
            <a:pPr marL="0" indent="0">
              <a:buNone/>
            </a:pPr>
            <a:r>
              <a:rPr lang="en-US" sz="1100" b="1" dirty="0">
                <a:solidFill>
                  <a:srgbClr val="1E6B1E"/>
                </a:solidFill>
                <a:latin typeface="Arial" pitchFamily="34" charset="0"/>
                <a:ea typeface="Arial" pitchFamily="34" charset="-122"/>
                <a:cs typeface="Arial" pitchFamily="34" charset="-120"/>
              </a:rPr>
              <a:t>Complete</a:t>
            </a:r>
            <a:endParaRPr lang="en-US" sz="1100" dirty="0"/>
          </a:p>
        </p:txBody>
      </p:sp>
      <p:sp>
        <p:nvSpPr>
          <p:cNvPr id="43" name="Shape 36"/>
          <p:cNvSpPr/>
          <p:nvPr/>
        </p:nvSpPr>
        <p:spPr>
          <a:xfrm>
            <a:off x="6080760" y="2916936"/>
            <a:ext cx="2560320" cy="393192"/>
          </a:xfrm>
          <a:prstGeom prst="rect">
            <a:avLst/>
          </a:prstGeom>
          <a:solidFill>
            <a:srgbClr val="FFFDF5"/>
          </a:solidFill>
          <a:ln w="6350">
            <a:solidFill>
              <a:srgbClr val="E0C060"/>
            </a:solidFill>
            <a:prstDash val="solid"/>
          </a:ln>
        </p:spPr>
      </p:sp>
      <p:sp>
        <p:nvSpPr>
          <p:cNvPr id="44" name="Text 37"/>
          <p:cNvSpPr/>
          <p:nvPr/>
        </p:nvSpPr>
        <p:spPr>
          <a:xfrm>
            <a:off x="6172200" y="2916936"/>
            <a:ext cx="2423160" cy="393192"/>
          </a:xfrm>
          <a:prstGeom prst="rect">
            <a:avLst/>
          </a:prstGeom>
          <a:noFill/>
          <a:ln/>
        </p:spPr>
        <p:txBody>
          <a:bodyPr wrap="square" lIns="0" tIns="0" rIns="0" bIns="0" rtlCol="0" anchor="ctr"/>
          <a:lstStyle/>
          <a:p>
            <a:pPr marL="0" indent="0">
              <a:buNone/>
            </a:pPr>
            <a:r>
              <a:rPr lang="en-US" sz="1000" dirty="0">
                <a:solidFill>
                  <a:srgbClr val="666666"/>
                </a:solidFill>
                <a:latin typeface="Arial" pitchFamily="34" charset="0"/>
                <a:ea typeface="Arial" pitchFamily="34" charset="-122"/>
                <a:cs typeface="Arial" pitchFamily="34" charset="-120"/>
              </a:rPr>
              <a:t>Media Library</a:t>
            </a:r>
            <a:endParaRPr lang="en-US" sz="1000" dirty="0"/>
          </a:p>
        </p:txBody>
      </p:sp>
      <p:sp>
        <p:nvSpPr>
          <p:cNvPr id="45" name="Shape 38"/>
          <p:cNvSpPr/>
          <p:nvPr/>
        </p:nvSpPr>
        <p:spPr>
          <a:xfrm>
            <a:off x="411480" y="3355848"/>
            <a:ext cx="3877056" cy="393192"/>
          </a:xfrm>
          <a:prstGeom prst="rect">
            <a:avLst/>
          </a:prstGeom>
          <a:solidFill>
            <a:srgbClr val="FFFFFF"/>
          </a:solidFill>
          <a:ln w="6350">
            <a:solidFill>
              <a:srgbClr val="E0C060"/>
            </a:solidFill>
            <a:prstDash val="solid"/>
          </a:ln>
        </p:spPr>
      </p:sp>
      <p:sp>
        <p:nvSpPr>
          <p:cNvPr id="46" name="Text 39"/>
          <p:cNvSpPr/>
          <p:nvPr/>
        </p:nvSpPr>
        <p:spPr>
          <a:xfrm>
            <a:off x="502920" y="3355848"/>
            <a:ext cx="3730752" cy="393192"/>
          </a:xfrm>
          <a:prstGeom prst="rect">
            <a:avLst/>
          </a:prstGeom>
          <a:noFill/>
          <a:ln/>
        </p:spPr>
        <p:txBody>
          <a:bodyPr wrap="square" lIns="0" tIns="0" rIns="0" bIns="0" rtlCol="0" anchor="ctr"/>
          <a:lstStyle/>
          <a:p>
            <a:pPr marL="0" indent="0">
              <a:buNone/>
            </a:pPr>
            <a:r>
              <a:rPr lang="en-US" sz="1100" dirty="0">
                <a:solidFill>
                  <a:srgbClr val="1A1200"/>
                </a:solidFill>
                <a:latin typeface="Arial" pitchFamily="34" charset="0"/>
                <a:ea typeface="Arial" pitchFamily="34" charset="-122"/>
                <a:cs typeface="Arial" pitchFamily="34" charset="-120"/>
              </a:rPr>
              <a:t>Blog Post 1 - 'Varroa Mite in Australia'</a:t>
            </a:r>
            <a:endParaRPr lang="en-US" sz="1100" dirty="0"/>
          </a:p>
        </p:txBody>
      </p:sp>
      <p:sp>
        <p:nvSpPr>
          <p:cNvPr id="47" name="Shape 40"/>
          <p:cNvSpPr/>
          <p:nvPr/>
        </p:nvSpPr>
        <p:spPr>
          <a:xfrm>
            <a:off x="4434840" y="3355848"/>
            <a:ext cx="1499616" cy="393192"/>
          </a:xfrm>
          <a:prstGeom prst="rect">
            <a:avLst/>
          </a:prstGeom>
          <a:solidFill>
            <a:srgbClr val="E6F4E6"/>
          </a:solidFill>
          <a:ln w="6350">
            <a:solidFill>
              <a:srgbClr val="E0C060"/>
            </a:solidFill>
            <a:prstDash val="solid"/>
          </a:ln>
        </p:spPr>
      </p:sp>
      <p:pic>
        <p:nvPicPr>
          <p:cNvPr id="48" name="Image 5" descr="preencoded.png"/>
          <p:cNvPicPr>
            <a:picLocks noChangeAspect="1"/>
          </p:cNvPicPr>
          <p:nvPr/>
        </p:nvPicPr>
        <p:blipFill>
          <a:blip r:embed="rId3"/>
          <a:stretch>
            <a:fillRect/>
          </a:stretch>
        </p:blipFill>
        <p:spPr>
          <a:xfrm>
            <a:off x="4599432" y="3447288"/>
            <a:ext cx="201168" cy="201168"/>
          </a:xfrm>
          <a:prstGeom prst="rect">
            <a:avLst/>
          </a:prstGeom>
        </p:spPr>
      </p:pic>
      <p:sp>
        <p:nvSpPr>
          <p:cNvPr id="49" name="Text 41"/>
          <p:cNvSpPr/>
          <p:nvPr/>
        </p:nvSpPr>
        <p:spPr>
          <a:xfrm>
            <a:off x="4818888" y="3355848"/>
            <a:ext cx="1005840" cy="393192"/>
          </a:xfrm>
          <a:prstGeom prst="rect">
            <a:avLst/>
          </a:prstGeom>
          <a:noFill/>
          <a:ln/>
        </p:spPr>
        <p:txBody>
          <a:bodyPr wrap="square" lIns="0" tIns="0" rIns="0" bIns="0" rtlCol="0" anchor="ctr"/>
          <a:lstStyle/>
          <a:p>
            <a:pPr marL="0" indent="0">
              <a:buNone/>
            </a:pPr>
            <a:r>
              <a:rPr lang="en-US" sz="1100" b="1" dirty="0">
                <a:solidFill>
                  <a:srgbClr val="1E6B1E"/>
                </a:solidFill>
                <a:latin typeface="Arial" pitchFamily="34" charset="0"/>
                <a:ea typeface="Arial" pitchFamily="34" charset="-122"/>
                <a:cs typeface="Arial" pitchFamily="34" charset="-120"/>
              </a:rPr>
              <a:t>Complete</a:t>
            </a:r>
            <a:endParaRPr lang="en-US" sz="1100" dirty="0"/>
          </a:p>
        </p:txBody>
      </p:sp>
      <p:sp>
        <p:nvSpPr>
          <p:cNvPr id="50" name="Shape 42"/>
          <p:cNvSpPr/>
          <p:nvPr/>
        </p:nvSpPr>
        <p:spPr>
          <a:xfrm>
            <a:off x="6080760" y="3355848"/>
            <a:ext cx="2560320" cy="393192"/>
          </a:xfrm>
          <a:prstGeom prst="rect">
            <a:avLst/>
          </a:prstGeom>
          <a:solidFill>
            <a:srgbClr val="FFFFFF"/>
          </a:solidFill>
          <a:ln w="6350">
            <a:solidFill>
              <a:srgbClr val="E0C060"/>
            </a:solidFill>
            <a:prstDash val="solid"/>
          </a:ln>
        </p:spPr>
      </p:sp>
      <p:sp>
        <p:nvSpPr>
          <p:cNvPr id="51" name="Text 43"/>
          <p:cNvSpPr/>
          <p:nvPr/>
        </p:nvSpPr>
        <p:spPr>
          <a:xfrm>
            <a:off x="6172200" y="3355848"/>
            <a:ext cx="2423160" cy="393192"/>
          </a:xfrm>
          <a:prstGeom prst="rect">
            <a:avLst/>
          </a:prstGeom>
          <a:noFill/>
          <a:ln/>
        </p:spPr>
        <p:txBody>
          <a:bodyPr wrap="square" lIns="0" tIns="0" rIns="0" bIns="0" rtlCol="0" anchor="ctr"/>
          <a:lstStyle/>
          <a:p>
            <a:pPr marL="0" indent="0">
              <a:buNone/>
            </a:pPr>
            <a:r>
              <a:rPr lang="en-US" sz="1000" dirty="0">
                <a:solidFill>
                  <a:srgbClr val="666666"/>
                </a:solidFill>
                <a:latin typeface="Arial" pitchFamily="34" charset="0"/>
                <a:ea typeface="Arial" pitchFamily="34" charset="-122"/>
                <a:cs typeface="Arial" pitchFamily="34" charset="-120"/>
              </a:rPr>
              <a:t>Live site → Blog</a:t>
            </a:r>
            <a:endParaRPr lang="en-US" sz="1000" dirty="0"/>
          </a:p>
        </p:txBody>
      </p:sp>
      <p:sp>
        <p:nvSpPr>
          <p:cNvPr id="52" name="Shape 44"/>
          <p:cNvSpPr/>
          <p:nvPr/>
        </p:nvSpPr>
        <p:spPr>
          <a:xfrm>
            <a:off x="411480" y="3794760"/>
            <a:ext cx="3877056" cy="393192"/>
          </a:xfrm>
          <a:prstGeom prst="rect">
            <a:avLst/>
          </a:prstGeom>
          <a:solidFill>
            <a:srgbClr val="FFFDF5"/>
          </a:solidFill>
          <a:ln w="6350">
            <a:solidFill>
              <a:srgbClr val="E0C060"/>
            </a:solidFill>
            <a:prstDash val="solid"/>
          </a:ln>
        </p:spPr>
      </p:sp>
      <p:sp>
        <p:nvSpPr>
          <p:cNvPr id="53" name="Text 45"/>
          <p:cNvSpPr/>
          <p:nvPr/>
        </p:nvSpPr>
        <p:spPr>
          <a:xfrm>
            <a:off x="502920" y="3794760"/>
            <a:ext cx="3730752" cy="393192"/>
          </a:xfrm>
          <a:prstGeom prst="rect">
            <a:avLst/>
          </a:prstGeom>
          <a:noFill/>
          <a:ln/>
        </p:spPr>
        <p:txBody>
          <a:bodyPr wrap="square" lIns="0" tIns="0" rIns="0" bIns="0" rtlCol="0" anchor="ctr"/>
          <a:lstStyle/>
          <a:p>
            <a:pPr marL="0" indent="0">
              <a:buNone/>
            </a:pPr>
            <a:r>
              <a:rPr lang="en-US" sz="1100" dirty="0">
                <a:solidFill>
                  <a:srgbClr val="1A1200"/>
                </a:solidFill>
                <a:latin typeface="Arial" pitchFamily="34" charset="0"/>
                <a:ea typeface="Arial" pitchFamily="34" charset="-122"/>
                <a:cs typeface="Arial" pitchFamily="34" charset="-120"/>
              </a:rPr>
              <a:t>Blog Post 2 - 'What Makes Honey Raw?'</a:t>
            </a:r>
            <a:endParaRPr lang="en-US" sz="1100" dirty="0"/>
          </a:p>
        </p:txBody>
      </p:sp>
      <p:sp>
        <p:nvSpPr>
          <p:cNvPr id="54" name="Shape 46"/>
          <p:cNvSpPr/>
          <p:nvPr/>
        </p:nvSpPr>
        <p:spPr>
          <a:xfrm>
            <a:off x="4434840" y="3794760"/>
            <a:ext cx="1499616" cy="393192"/>
          </a:xfrm>
          <a:prstGeom prst="rect">
            <a:avLst/>
          </a:prstGeom>
          <a:solidFill>
            <a:srgbClr val="E6F4E6"/>
          </a:solidFill>
          <a:ln w="6350">
            <a:solidFill>
              <a:srgbClr val="E0C060"/>
            </a:solidFill>
            <a:prstDash val="solid"/>
          </a:ln>
        </p:spPr>
      </p:sp>
      <p:pic>
        <p:nvPicPr>
          <p:cNvPr id="55" name="Image 6" descr="preencoded.png"/>
          <p:cNvPicPr>
            <a:picLocks noChangeAspect="1"/>
          </p:cNvPicPr>
          <p:nvPr/>
        </p:nvPicPr>
        <p:blipFill>
          <a:blip r:embed="rId3"/>
          <a:stretch>
            <a:fillRect/>
          </a:stretch>
        </p:blipFill>
        <p:spPr>
          <a:xfrm>
            <a:off x="4599432" y="3886200"/>
            <a:ext cx="201168" cy="201168"/>
          </a:xfrm>
          <a:prstGeom prst="rect">
            <a:avLst/>
          </a:prstGeom>
        </p:spPr>
      </p:pic>
      <p:sp>
        <p:nvSpPr>
          <p:cNvPr id="56" name="Text 47"/>
          <p:cNvSpPr/>
          <p:nvPr/>
        </p:nvSpPr>
        <p:spPr>
          <a:xfrm>
            <a:off x="4818888" y="3794760"/>
            <a:ext cx="1005840" cy="393192"/>
          </a:xfrm>
          <a:prstGeom prst="rect">
            <a:avLst/>
          </a:prstGeom>
          <a:noFill/>
          <a:ln/>
        </p:spPr>
        <p:txBody>
          <a:bodyPr wrap="square" lIns="0" tIns="0" rIns="0" bIns="0" rtlCol="0" anchor="ctr"/>
          <a:lstStyle/>
          <a:p>
            <a:pPr marL="0" indent="0">
              <a:buNone/>
            </a:pPr>
            <a:r>
              <a:rPr lang="en-US" sz="1100" b="1" dirty="0">
                <a:solidFill>
                  <a:srgbClr val="1E6B1E"/>
                </a:solidFill>
                <a:latin typeface="Arial" pitchFamily="34" charset="0"/>
                <a:ea typeface="Arial" pitchFamily="34" charset="-122"/>
                <a:cs typeface="Arial" pitchFamily="34" charset="-120"/>
              </a:rPr>
              <a:t>Complete</a:t>
            </a:r>
            <a:endParaRPr lang="en-US" sz="1100" dirty="0"/>
          </a:p>
        </p:txBody>
      </p:sp>
      <p:sp>
        <p:nvSpPr>
          <p:cNvPr id="57" name="Shape 48"/>
          <p:cNvSpPr/>
          <p:nvPr/>
        </p:nvSpPr>
        <p:spPr>
          <a:xfrm>
            <a:off x="6080760" y="3794760"/>
            <a:ext cx="2560320" cy="393192"/>
          </a:xfrm>
          <a:prstGeom prst="rect">
            <a:avLst/>
          </a:prstGeom>
          <a:solidFill>
            <a:srgbClr val="FFFDF5"/>
          </a:solidFill>
          <a:ln w="6350">
            <a:solidFill>
              <a:srgbClr val="E0C060"/>
            </a:solidFill>
            <a:prstDash val="solid"/>
          </a:ln>
        </p:spPr>
      </p:sp>
      <p:sp>
        <p:nvSpPr>
          <p:cNvPr id="58" name="Text 49"/>
          <p:cNvSpPr/>
          <p:nvPr/>
        </p:nvSpPr>
        <p:spPr>
          <a:xfrm>
            <a:off x="6172200" y="3794760"/>
            <a:ext cx="2423160" cy="393192"/>
          </a:xfrm>
          <a:prstGeom prst="rect">
            <a:avLst/>
          </a:prstGeom>
          <a:noFill/>
          <a:ln/>
        </p:spPr>
        <p:txBody>
          <a:bodyPr wrap="square" lIns="0" tIns="0" rIns="0" bIns="0" rtlCol="0" anchor="ctr"/>
          <a:lstStyle/>
          <a:p>
            <a:pPr marL="0" indent="0">
              <a:buNone/>
            </a:pPr>
            <a:r>
              <a:rPr lang="en-US" sz="1000" dirty="0">
                <a:solidFill>
                  <a:srgbClr val="666666"/>
                </a:solidFill>
                <a:latin typeface="Arial" pitchFamily="34" charset="0"/>
                <a:ea typeface="Arial" pitchFamily="34" charset="-122"/>
                <a:cs typeface="Arial" pitchFamily="34" charset="-120"/>
              </a:rPr>
              <a:t>Live site → Blog</a:t>
            </a:r>
            <a:endParaRPr lang="en-US" sz="1000" dirty="0"/>
          </a:p>
        </p:txBody>
      </p:sp>
      <p:sp>
        <p:nvSpPr>
          <p:cNvPr id="59" name="Shape 50"/>
          <p:cNvSpPr/>
          <p:nvPr/>
        </p:nvSpPr>
        <p:spPr>
          <a:xfrm>
            <a:off x="411480" y="4233672"/>
            <a:ext cx="3877056" cy="393192"/>
          </a:xfrm>
          <a:prstGeom prst="rect">
            <a:avLst/>
          </a:prstGeom>
          <a:solidFill>
            <a:srgbClr val="FFFFFF"/>
          </a:solidFill>
          <a:ln w="6350">
            <a:solidFill>
              <a:srgbClr val="E0C060"/>
            </a:solidFill>
            <a:prstDash val="solid"/>
          </a:ln>
        </p:spPr>
      </p:sp>
      <p:sp>
        <p:nvSpPr>
          <p:cNvPr id="60" name="Text 51"/>
          <p:cNvSpPr/>
          <p:nvPr/>
        </p:nvSpPr>
        <p:spPr>
          <a:xfrm>
            <a:off x="502920" y="4233672"/>
            <a:ext cx="3730752" cy="393192"/>
          </a:xfrm>
          <a:prstGeom prst="rect">
            <a:avLst/>
          </a:prstGeom>
          <a:noFill/>
          <a:ln/>
        </p:spPr>
        <p:txBody>
          <a:bodyPr wrap="square" lIns="0" tIns="0" rIns="0" bIns="0" rtlCol="0" anchor="ctr"/>
          <a:lstStyle/>
          <a:p>
            <a:pPr marL="0" indent="0">
              <a:buNone/>
            </a:pPr>
            <a:r>
              <a:rPr lang="en-US" sz="1100" dirty="0">
                <a:solidFill>
                  <a:srgbClr val="1A1200"/>
                </a:solidFill>
                <a:latin typeface="Arial" pitchFamily="34" charset="0"/>
                <a:ea typeface="Arial" pitchFamily="34" charset="-122"/>
                <a:cs typeface="Arial" pitchFamily="34" charset="-120"/>
              </a:rPr>
              <a:t>Keyword research &amp; target matrix</a:t>
            </a:r>
            <a:endParaRPr lang="en-US" sz="1100" dirty="0"/>
          </a:p>
        </p:txBody>
      </p:sp>
      <p:sp>
        <p:nvSpPr>
          <p:cNvPr id="61" name="Shape 52"/>
          <p:cNvSpPr/>
          <p:nvPr/>
        </p:nvSpPr>
        <p:spPr>
          <a:xfrm>
            <a:off x="4434840" y="4233672"/>
            <a:ext cx="1499616" cy="393192"/>
          </a:xfrm>
          <a:prstGeom prst="rect">
            <a:avLst/>
          </a:prstGeom>
          <a:solidFill>
            <a:srgbClr val="E6F4E6"/>
          </a:solidFill>
          <a:ln w="6350">
            <a:solidFill>
              <a:srgbClr val="E0C060"/>
            </a:solidFill>
            <a:prstDash val="solid"/>
          </a:ln>
        </p:spPr>
      </p:sp>
      <p:pic>
        <p:nvPicPr>
          <p:cNvPr id="62" name="Image 7" descr="preencoded.png"/>
          <p:cNvPicPr>
            <a:picLocks noChangeAspect="1"/>
          </p:cNvPicPr>
          <p:nvPr/>
        </p:nvPicPr>
        <p:blipFill>
          <a:blip r:embed="rId3"/>
          <a:stretch>
            <a:fillRect/>
          </a:stretch>
        </p:blipFill>
        <p:spPr>
          <a:xfrm>
            <a:off x="4599432" y="4325112"/>
            <a:ext cx="201168" cy="201168"/>
          </a:xfrm>
          <a:prstGeom prst="rect">
            <a:avLst/>
          </a:prstGeom>
        </p:spPr>
      </p:pic>
      <p:sp>
        <p:nvSpPr>
          <p:cNvPr id="63" name="Text 53"/>
          <p:cNvSpPr/>
          <p:nvPr/>
        </p:nvSpPr>
        <p:spPr>
          <a:xfrm>
            <a:off x="4818888" y="4233672"/>
            <a:ext cx="1005840" cy="393192"/>
          </a:xfrm>
          <a:prstGeom prst="rect">
            <a:avLst/>
          </a:prstGeom>
          <a:noFill/>
          <a:ln/>
        </p:spPr>
        <p:txBody>
          <a:bodyPr wrap="square" lIns="0" tIns="0" rIns="0" bIns="0" rtlCol="0" anchor="ctr"/>
          <a:lstStyle/>
          <a:p>
            <a:pPr marL="0" indent="0">
              <a:buNone/>
            </a:pPr>
            <a:r>
              <a:rPr lang="en-US" sz="1100" b="1" dirty="0">
                <a:solidFill>
                  <a:srgbClr val="1E6B1E"/>
                </a:solidFill>
                <a:latin typeface="Arial" pitchFamily="34" charset="0"/>
                <a:ea typeface="Arial" pitchFamily="34" charset="-122"/>
                <a:cs typeface="Arial" pitchFamily="34" charset="-120"/>
              </a:rPr>
              <a:t>Complete</a:t>
            </a:r>
            <a:endParaRPr lang="en-US" sz="1100" dirty="0"/>
          </a:p>
        </p:txBody>
      </p:sp>
      <p:sp>
        <p:nvSpPr>
          <p:cNvPr id="64" name="Shape 54"/>
          <p:cNvSpPr/>
          <p:nvPr/>
        </p:nvSpPr>
        <p:spPr>
          <a:xfrm>
            <a:off x="6080760" y="4233672"/>
            <a:ext cx="2560320" cy="393192"/>
          </a:xfrm>
          <a:prstGeom prst="rect">
            <a:avLst/>
          </a:prstGeom>
          <a:solidFill>
            <a:srgbClr val="FFFFFF"/>
          </a:solidFill>
          <a:ln w="6350">
            <a:solidFill>
              <a:srgbClr val="E0C060"/>
            </a:solidFill>
            <a:prstDash val="solid"/>
          </a:ln>
        </p:spPr>
      </p:sp>
      <p:sp>
        <p:nvSpPr>
          <p:cNvPr id="65" name="Text 55"/>
          <p:cNvSpPr/>
          <p:nvPr/>
        </p:nvSpPr>
        <p:spPr>
          <a:xfrm>
            <a:off x="6172200" y="4233672"/>
            <a:ext cx="2423160" cy="393192"/>
          </a:xfrm>
          <a:prstGeom prst="rect">
            <a:avLst/>
          </a:prstGeom>
          <a:noFill/>
          <a:ln/>
        </p:spPr>
        <p:txBody>
          <a:bodyPr wrap="square" lIns="0" tIns="0" rIns="0" bIns="0" rtlCol="0" anchor="ctr"/>
          <a:lstStyle/>
          <a:p>
            <a:pPr marL="0" indent="0">
              <a:buNone/>
            </a:pPr>
            <a:r>
              <a:rPr lang="en-US" sz="1000" dirty="0">
                <a:solidFill>
                  <a:srgbClr val="666666"/>
                </a:solidFill>
                <a:latin typeface="Arial" pitchFamily="34" charset="0"/>
                <a:ea typeface="Arial" pitchFamily="34" charset="-122"/>
                <a:cs typeface="Arial" pitchFamily="34" charset="-120"/>
              </a:rPr>
              <a:t>Chapter 7 appendix</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C1200"/>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457200"/>
          </a:xfrm>
          <a:prstGeom prst="rect">
            <a:avLst/>
          </a:prstGeom>
          <a:noFill/>
          <a:ln/>
        </p:spPr>
        <p:txBody>
          <a:bodyPr wrap="square" lIns="0" tIns="0" rIns="0" bIns="0" rtlCol="0" anchor="ctr"/>
          <a:lstStyle/>
          <a:p>
            <a:pPr marL="0" indent="0" algn="l">
              <a:buNone/>
            </a:pPr>
            <a:r>
              <a:rPr lang="en-US" sz="2600" b="1" dirty="0">
                <a:solidFill>
                  <a:srgbClr val="F5A623"/>
                </a:solidFill>
                <a:latin typeface="Arial" pitchFamily="34" charset="0"/>
                <a:ea typeface="Arial" pitchFamily="34" charset="-122"/>
                <a:cs typeface="Arial" pitchFamily="34" charset="-120"/>
              </a:rPr>
              <a:t>Technical Understanding  </a:t>
            </a:r>
            <a:endParaRPr lang="en-US" sz="2600" dirty="0"/>
          </a:p>
        </p:txBody>
      </p:sp>
      <p:sp>
        <p:nvSpPr>
          <p:cNvPr id="3" name="Shape 1"/>
          <p:cNvSpPr/>
          <p:nvPr/>
        </p:nvSpPr>
        <p:spPr>
          <a:xfrm>
            <a:off x="457200" y="685800"/>
            <a:ext cx="8229600" cy="22860"/>
          </a:xfrm>
          <a:prstGeom prst="rect">
            <a:avLst/>
          </a:prstGeom>
          <a:solidFill>
            <a:srgbClr val="D4870A"/>
          </a:solidFill>
          <a:ln w="12700">
            <a:solidFill>
              <a:srgbClr val="FFFFFF">
                <a:alpha val="0"/>
              </a:srgbClr>
            </a:solidFill>
            <a:prstDash val="solid"/>
          </a:ln>
        </p:spPr>
      </p:sp>
      <p:sp>
        <p:nvSpPr>
          <p:cNvPr id="4" name="Shape 2"/>
          <p:cNvSpPr/>
          <p:nvPr/>
        </p:nvSpPr>
        <p:spPr>
          <a:xfrm>
            <a:off x="411480" y="822960"/>
            <a:ext cx="4069080" cy="3977640"/>
          </a:xfrm>
          <a:prstGeom prst="roundRect">
            <a:avLst>
              <a:gd name="adj" fmla="val 2299"/>
            </a:avLst>
          </a:prstGeom>
          <a:solidFill>
            <a:srgbClr val="2A1800"/>
          </a:solidFill>
          <a:ln w="12700">
            <a:solidFill>
              <a:srgbClr val="D4870A"/>
            </a:solidFill>
            <a:prstDash val="solid"/>
          </a:ln>
          <a:effectLst>
            <a:outerShdw blurRad="101600" dist="38100" dir="2700000" algn="bl" rotWithShape="0">
              <a:srgbClr val="000000">
                <a:alpha val="25000"/>
              </a:srgbClr>
            </a:outerShdw>
          </a:effectLst>
        </p:spPr>
      </p:sp>
      <p:pic>
        <p:nvPicPr>
          <p:cNvPr id="5" name="Image 0" descr="preencoded.png"/>
          <p:cNvPicPr>
            <a:picLocks noChangeAspect="1"/>
          </p:cNvPicPr>
          <p:nvPr/>
        </p:nvPicPr>
        <p:blipFill>
          <a:blip r:embed="rId3"/>
          <a:stretch>
            <a:fillRect/>
          </a:stretch>
        </p:blipFill>
        <p:spPr>
          <a:xfrm>
            <a:off x="594360" y="914400"/>
            <a:ext cx="411480" cy="411480"/>
          </a:xfrm>
          <a:prstGeom prst="rect">
            <a:avLst/>
          </a:prstGeom>
        </p:spPr>
      </p:pic>
      <p:sp>
        <p:nvSpPr>
          <p:cNvPr id="6" name="Text 3"/>
          <p:cNvSpPr/>
          <p:nvPr/>
        </p:nvSpPr>
        <p:spPr>
          <a:xfrm>
            <a:off x="1078992" y="886968"/>
            <a:ext cx="3291840" cy="457200"/>
          </a:xfrm>
          <a:prstGeom prst="rect">
            <a:avLst/>
          </a:prstGeom>
          <a:noFill/>
          <a:ln/>
        </p:spPr>
        <p:txBody>
          <a:bodyPr wrap="square" lIns="0" tIns="0" rIns="0" bIns="0" rtlCol="0" anchor="ctr"/>
          <a:lstStyle/>
          <a:p>
            <a:pPr marL="0" indent="0">
              <a:buNone/>
            </a:pPr>
            <a:r>
              <a:rPr lang="en-US" sz="1400" b="1" dirty="0" err="1">
                <a:solidFill>
                  <a:srgbClr val="F5A623"/>
                </a:solidFill>
                <a:latin typeface="Arial" pitchFamily="34" charset="0"/>
                <a:ea typeface="Arial" pitchFamily="34" charset="-122"/>
                <a:cs typeface="Arial" pitchFamily="34" charset="-120"/>
              </a:rPr>
              <a:t>RankMath</a:t>
            </a:r>
            <a:r>
              <a:rPr lang="en-US" sz="1400" b="1" dirty="0">
                <a:solidFill>
                  <a:srgbClr val="F5A623"/>
                </a:solidFill>
                <a:latin typeface="Arial" pitchFamily="34" charset="0"/>
                <a:ea typeface="Arial" pitchFamily="34" charset="-122"/>
                <a:cs typeface="Arial" pitchFamily="34" charset="-120"/>
              </a:rPr>
              <a:t> - Why &amp; What</a:t>
            </a:r>
            <a:endParaRPr lang="en-US" sz="1400" dirty="0"/>
          </a:p>
        </p:txBody>
      </p:sp>
      <p:sp>
        <p:nvSpPr>
          <p:cNvPr id="7" name="Text 4"/>
          <p:cNvSpPr/>
          <p:nvPr/>
        </p:nvSpPr>
        <p:spPr>
          <a:xfrm>
            <a:off x="566928" y="1389888"/>
            <a:ext cx="3749040" cy="3200400"/>
          </a:xfrm>
          <a:prstGeom prst="rect">
            <a:avLst/>
          </a:prstGeom>
          <a:noFill/>
          <a:ln/>
        </p:spPr>
        <p:txBody>
          <a:bodyPr wrap="square" rtlCol="0" anchor="t"/>
          <a:lstStyle/>
          <a:p>
            <a:pPr marL="0" indent="0">
              <a:spcAft>
                <a:spcPts val="300"/>
              </a:spcAft>
              <a:buNone/>
            </a:pPr>
            <a:r>
              <a:rPr lang="en-US" sz="1200" b="1" dirty="0">
                <a:solidFill>
                  <a:srgbClr val="FFFFFF"/>
                </a:solidFill>
                <a:latin typeface="Arial" pitchFamily="34" charset="0"/>
                <a:ea typeface="Arial" pitchFamily="34" charset="-122"/>
                <a:cs typeface="Arial" pitchFamily="34" charset="-120"/>
              </a:rPr>
              <a:t>Chosen over Yoast for richer free tier:</a:t>
            </a:r>
            <a:endParaRPr lang="en-US" sz="1200" dirty="0"/>
          </a:p>
          <a:p>
            <a:pPr marL="0" indent="0">
              <a:spcAft>
                <a:spcPts val="300"/>
              </a:spcAft>
              <a:buNone/>
            </a:pPr>
            <a:r>
              <a:rPr lang="en-US" sz="1200" dirty="0">
                <a:solidFill>
                  <a:srgbClr val="FFFFFF"/>
                </a:solidFill>
                <a:latin typeface="Arial" pitchFamily="34" charset="0"/>
                <a:ea typeface="Arial" pitchFamily="34" charset="-122"/>
                <a:cs typeface="Arial" pitchFamily="34" charset="-120"/>
              </a:rPr>
              <a:t> </a:t>
            </a:r>
            <a:endParaRPr lang="en-US" sz="1200" dirty="0"/>
          </a:p>
          <a:p>
            <a:pPr marL="342900" indent="-342900">
              <a:spcAft>
                <a:spcPts val="300"/>
              </a:spcAft>
              <a:buSzPct val="100000"/>
              <a:buChar char="•"/>
            </a:pPr>
            <a:r>
              <a:rPr lang="en-US" sz="1200" dirty="0">
                <a:solidFill>
                  <a:srgbClr val="FFFFFF"/>
                </a:solidFill>
                <a:latin typeface="Arial" pitchFamily="34" charset="0"/>
                <a:ea typeface="Arial" pitchFamily="34" charset="-122"/>
                <a:cs typeface="Arial" pitchFamily="34" charset="-120"/>
              </a:rPr>
              <a:t>Multiple focus keywords per post (free)</a:t>
            </a:r>
            <a:endParaRPr lang="en-US" sz="1200" dirty="0"/>
          </a:p>
          <a:p>
            <a:pPr marL="342900" indent="-342900">
              <a:spcAft>
                <a:spcPts val="300"/>
              </a:spcAft>
              <a:buSzPct val="100000"/>
              <a:buChar char="•"/>
            </a:pPr>
            <a:r>
              <a:rPr lang="en-US" sz="1200" dirty="0">
                <a:solidFill>
                  <a:srgbClr val="FFFFFF"/>
                </a:solidFill>
                <a:latin typeface="Arial" pitchFamily="34" charset="0"/>
                <a:ea typeface="Arial" pitchFamily="34" charset="-122"/>
                <a:cs typeface="Arial" pitchFamily="34" charset="-120"/>
              </a:rPr>
              <a:t>Native Elementor sidebar integration</a:t>
            </a:r>
            <a:endParaRPr lang="en-US" sz="1200" dirty="0"/>
          </a:p>
          <a:p>
            <a:pPr marL="342900" indent="-342900">
              <a:spcAft>
                <a:spcPts val="300"/>
              </a:spcAft>
              <a:buSzPct val="100000"/>
              <a:buChar char="•"/>
            </a:pPr>
            <a:r>
              <a:rPr lang="en-US" sz="1200" dirty="0">
                <a:solidFill>
                  <a:srgbClr val="FFFFFF"/>
                </a:solidFill>
                <a:latin typeface="Arial" pitchFamily="34" charset="0"/>
                <a:ea typeface="Arial" pitchFamily="34" charset="-122"/>
                <a:cs typeface="Arial" pitchFamily="34" charset="-120"/>
              </a:rPr>
              <a:t>Redirect manager + 404 monitor</a:t>
            </a:r>
            <a:endParaRPr lang="en-US" sz="1200" dirty="0"/>
          </a:p>
          <a:p>
            <a:pPr marL="342900" indent="-342900">
              <a:spcAft>
                <a:spcPts val="300"/>
              </a:spcAft>
              <a:buSzPct val="100000"/>
              <a:buChar char="•"/>
            </a:pPr>
            <a:r>
              <a:rPr lang="en-US" sz="1200" dirty="0">
                <a:solidFill>
                  <a:srgbClr val="FFFFFF"/>
                </a:solidFill>
                <a:latin typeface="Arial" pitchFamily="34" charset="0"/>
                <a:ea typeface="Arial" pitchFamily="34" charset="-122"/>
                <a:cs typeface="Arial" pitchFamily="34" charset="-120"/>
              </a:rPr>
              <a:t>Google Search Console connected in WP</a:t>
            </a:r>
            <a:endParaRPr lang="en-US" sz="1200" dirty="0"/>
          </a:p>
          <a:p>
            <a:pPr marL="0" indent="0">
              <a:spcAft>
                <a:spcPts val="300"/>
              </a:spcAft>
              <a:buNone/>
            </a:pPr>
            <a:r>
              <a:rPr lang="en-US" sz="1200" dirty="0">
                <a:solidFill>
                  <a:srgbClr val="FFFFFF"/>
                </a:solidFill>
                <a:latin typeface="Arial" pitchFamily="34" charset="0"/>
                <a:ea typeface="Arial" pitchFamily="34" charset="-122"/>
                <a:cs typeface="Arial" pitchFamily="34" charset="-120"/>
              </a:rPr>
              <a:t> </a:t>
            </a:r>
            <a:endParaRPr lang="en-US" sz="1200" dirty="0"/>
          </a:p>
          <a:p>
            <a:pPr marL="0" indent="0">
              <a:spcAft>
                <a:spcPts val="300"/>
              </a:spcAft>
              <a:buNone/>
            </a:pPr>
            <a:r>
              <a:rPr lang="en-US" sz="1200" b="1" dirty="0">
                <a:solidFill>
                  <a:srgbClr val="FFFFFF"/>
                </a:solidFill>
                <a:latin typeface="Arial" pitchFamily="34" charset="0"/>
                <a:ea typeface="Arial" pitchFamily="34" charset="-122"/>
                <a:cs typeface="Arial" pitchFamily="34" charset="-120"/>
              </a:rPr>
              <a:t>Config decisions:</a:t>
            </a:r>
            <a:endParaRPr lang="en-US" sz="1200" dirty="0"/>
          </a:p>
          <a:p>
            <a:pPr marL="342900" indent="-342900">
              <a:spcAft>
                <a:spcPts val="300"/>
              </a:spcAft>
              <a:buSzPct val="100000"/>
              <a:buChar char="•"/>
            </a:pPr>
            <a:r>
              <a:rPr lang="en-US" sz="1200" dirty="0">
                <a:solidFill>
                  <a:srgbClr val="FFFFFF"/>
                </a:solidFill>
                <a:latin typeface="Arial" pitchFamily="34" charset="0"/>
                <a:ea typeface="Arial" pitchFamily="34" charset="-122"/>
                <a:cs typeface="Arial" pitchFamily="34" charset="-120"/>
              </a:rPr>
              <a:t>Schema type → Local Business (NAP aligned)</a:t>
            </a:r>
            <a:endParaRPr lang="en-US" sz="1200" dirty="0"/>
          </a:p>
          <a:p>
            <a:pPr marL="342900" indent="-342900">
              <a:spcAft>
                <a:spcPts val="300"/>
              </a:spcAft>
              <a:buSzPct val="100000"/>
              <a:buChar char="•"/>
            </a:pPr>
            <a:r>
              <a:rPr lang="en-US" sz="1200" dirty="0">
                <a:solidFill>
                  <a:srgbClr val="FFFFFF"/>
                </a:solidFill>
                <a:latin typeface="Arial" pitchFamily="34" charset="0"/>
                <a:ea typeface="Arial" pitchFamily="34" charset="-122"/>
                <a:cs typeface="Arial" pitchFamily="34" charset="-120"/>
              </a:rPr>
              <a:t>Breadcrumbs enabled</a:t>
            </a:r>
            <a:endParaRPr lang="en-US" sz="1200" dirty="0"/>
          </a:p>
          <a:p>
            <a:pPr marL="342900" indent="-342900">
              <a:spcAft>
                <a:spcPts val="300"/>
              </a:spcAft>
              <a:buSzPct val="100000"/>
              <a:buChar char="•"/>
            </a:pPr>
            <a:r>
              <a:rPr lang="en-US" sz="1200" dirty="0">
                <a:solidFill>
                  <a:srgbClr val="FFFFFF"/>
                </a:solidFill>
                <a:latin typeface="Arial" pitchFamily="34" charset="0"/>
                <a:ea typeface="Arial" pitchFamily="34" charset="-122"/>
                <a:cs typeface="Arial" pitchFamily="34" charset="-120"/>
              </a:rPr>
              <a:t>Canonical tags — prevent duplicate content</a:t>
            </a:r>
            <a:endParaRPr lang="en-US" sz="1200" dirty="0"/>
          </a:p>
        </p:txBody>
      </p:sp>
      <p:sp>
        <p:nvSpPr>
          <p:cNvPr id="8" name="Shape 5"/>
          <p:cNvSpPr/>
          <p:nvPr/>
        </p:nvSpPr>
        <p:spPr>
          <a:xfrm>
            <a:off x="4663440" y="822960"/>
            <a:ext cx="4069080" cy="3977640"/>
          </a:xfrm>
          <a:prstGeom prst="roundRect">
            <a:avLst>
              <a:gd name="adj" fmla="val 2299"/>
            </a:avLst>
          </a:prstGeom>
          <a:solidFill>
            <a:srgbClr val="2A1800"/>
          </a:solidFill>
          <a:ln w="12700">
            <a:solidFill>
              <a:srgbClr val="D4870A"/>
            </a:solidFill>
            <a:prstDash val="solid"/>
          </a:ln>
          <a:effectLst>
            <a:outerShdw blurRad="101600" dist="38100" dir="2700000" algn="bl" rotWithShape="0">
              <a:srgbClr val="000000">
                <a:alpha val="25000"/>
              </a:srgbClr>
            </a:outerShdw>
          </a:effectLst>
        </p:spPr>
      </p:sp>
      <p:pic>
        <p:nvPicPr>
          <p:cNvPr id="9" name="Image 1" descr="preencoded.png"/>
          <p:cNvPicPr>
            <a:picLocks noChangeAspect="1"/>
          </p:cNvPicPr>
          <p:nvPr/>
        </p:nvPicPr>
        <p:blipFill>
          <a:blip r:embed="rId4"/>
          <a:stretch>
            <a:fillRect/>
          </a:stretch>
        </p:blipFill>
        <p:spPr>
          <a:xfrm>
            <a:off x="4846320" y="914400"/>
            <a:ext cx="411480" cy="411480"/>
          </a:xfrm>
          <a:prstGeom prst="rect">
            <a:avLst/>
          </a:prstGeom>
        </p:spPr>
      </p:pic>
      <p:sp>
        <p:nvSpPr>
          <p:cNvPr id="10" name="Text 6"/>
          <p:cNvSpPr/>
          <p:nvPr/>
        </p:nvSpPr>
        <p:spPr>
          <a:xfrm>
            <a:off x="5330952" y="886968"/>
            <a:ext cx="3291840" cy="457200"/>
          </a:xfrm>
          <a:prstGeom prst="rect">
            <a:avLst/>
          </a:prstGeom>
          <a:noFill/>
          <a:ln/>
        </p:spPr>
        <p:txBody>
          <a:bodyPr wrap="square" lIns="0" tIns="0" rIns="0" bIns="0" rtlCol="0" anchor="ctr"/>
          <a:lstStyle/>
          <a:p>
            <a:pPr marL="0" indent="0">
              <a:buNone/>
            </a:pPr>
            <a:r>
              <a:rPr lang="en-US" sz="1400" b="1" dirty="0">
                <a:solidFill>
                  <a:srgbClr val="F5A623"/>
                </a:solidFill>
                <a:latin typeface="Arial" pitchFamily="34" charset="0"/>
                <a:ea typeface="Arial" pitchFamily="34" charset="-122"/>
                <a:cs typeface="Arial" pitchFamily="34" charset="-120"/>
              </a:rPr>
              <a:t>Meta Optimisation — 5 Pages</a:t>
            </a:r>
            <a:endParaRPr lang="en-US" sz="1400" dirty="0"/>
          </a:p>
        </p:txBody>
      </p:sp>
      <p:sp>
        <p:nvSpPr>
          <p:cNvPr id="11" name="Shape 7"/>
          <p:cNvSpPr/>
          <p:nvPr/>
        </p:nvSpPr>
        <p:spPr>
          <a:xfrm>
            <a:off x="4754880" y="1417320"/>
            <a:ext cx="1280160" cy="292608"/>
          </a:xfrm>
          <a:prstGeom prst="rect">
            <a:avLst/>
          </a:prstGeom>
          <a:solidFill>
            <a:srgbClr val="D4870A">
              <a:alpha val="80000"/>
            </a:srgbClr>
          </a:solidFill>
          <a:ln w="12700">
            <a:solidFill>
              <a:srgbClr val="FFFFFF">
                <a:alpha val="0"/>
              </a:srgbClr>
            </a:solidFill>
            <a:prstDash val="solid"/>
          </a:ln>
        </p:spPr>
      </p:sp>
      <p:sp>
        <p:nvSpPr>
          <p:cNvPr id="12" name="Text 8"/>
          <p:cNvSpPr/>
          <p:nvPr/>
        </p:nvSpPr>
        <p:spPr>
          <a:xfrm>
            <a:off x="4754880" y="1417320"/>
            <a:ext cx="1280160" cy="292608"/>
          </a:xfrm>
          <a:prstGeom prst="rect">
            <a:avLst/>
          </a:prstGeom>
          <a:noFill/>
          <a:ln/>
        </p:spPr>
        <p:txBody>
          <a:bodyPr wrap="square" lIns="0" tIns="0" rIns="0" bIns="0" rtlCol="0" anchor="ctr"/>
          <a:lstStyle/>
          <a:p>
            <a:pPr marL="0" indent="0" algn="ctr">
              <a:buNone/>
            </a:pPr>
            <a:r>
              <a:rPr lang="en-US" sz="1000" b="1" dirty="0">
                <a:solidFill>
                  <a:srgbClr val="F5A623"/>
                </a:solidFill>
                <a:latin typeface="Arial" pitchFamily="34" charset="0"/>
                <a:ea typeface="Arial" pitchFamily="34" charset="-122"/>
                <a:cs typeface="Arial" pitchFamily="34" charset="-120"/>
              </a:rPr>
              <a:t>Page</a:t>
            </a:r>
            <a:endParaRPr lang="en-US" sz="1000" dirty="0"/>
          </a:p>
        </p:txBody>
      </p:sp>
      <p:sp>
        <p:nvSpPr>
          <p:cNvPr id="13" name="Shape 9"/>
          <p:cNvSpPr/>
          <p:nvPr/>
        </p:nvSpPr>
        <p:spPr>
          <a:xfrm>
            <a:off x="6126480" y="1417320"/>
            <a:ext cx="713232" cy="292608"/>
          </a:xfrm>
          <a:prstGeom prst="rect">
            <a:avLst/>
          </a:prstGeom>
          <a:solidFill>
            <a:srgbClr val="D4870A">
              <a:alpha val="80000"/>
            </a:srgbClr>
          </a:solidFill>
          <a:ln w="12700">
            <a:solidFill>
              <a:srgbClr val="FFFFFF">
                <a:alpha val="0"/>
              </a:srgbClr>
            </a:solidFill>
            <a:prstDash val="solid"/>
          </a:ln>
        </p:spPr>
      </p:sp>
      <p:sp>
        <p:nvSpPr>
          <p:cNvPr id="14" name="Text 10"/>
          <p:cNvSpPr/>
          <p:nvPr/>
        </p:nvSpPr>
        <p:spPr>
          <a:xfrm>
            <a:off x="6126480" y="1417320"/>
            <a:ext cx="713232" cy="292608"/>
          </a:xfrm>
          <a:prstGeom prst="rect">
            <a:avLst/>
          </a:prstGeom>
          <a:noFill/>
          <a:ln/>
        </p:spPr>
        <p:txBody>
          <a:bodyPr wrap="square" lIns="0" tIns="0" rIns="0" bIns="0" rtlCol="0" anchor="ctr"/>
          <a:lstStyle/>
          <a:p>
            <a:pPr marL="0" indent="0" algn="ctr">
              <a:buNone/>
            </a:pPr>
            <a:r>
              <a:rPr lang="en-US" sz="1000" b="1" dirty="0">
                <a:solidFill>
                  <a:srgbClr val="F5A623"/>
                </a:solidFill>
                <a:latin typeface="Arial" pitchFamily="34" charset="0"/>
                <a:ea typeface="Arial" pitchFamily="34" charset="-122"/>
                <a:cs typeface="Arial" pitchFamily="34" charset="-120"/>
              </a:rPr>
              <a:t>Title</a:t>
            </a:r>
            <a:endParaRPr lang="en-US" sz="1000" dirty="0"/>
          </a:p>
        </p:txBody>
      </p:sp>
      <p:sp>
        <p:nvSpPr>
          <p:cNvPr id="15" name="Shape 11"/>
          <p:cNvSpPr/>
          <p:nvPr/>
        </p:nvSpPr>
        <p:spPr>
          <a:xfrm>
            <a:off x="6903720" y="1417320"/>
            <a:ext cx="768096" cy="292608"/>
          </a:xfrm>
          <a:prstGeom prst="rect">
            <a:avLst/>
          </a:prstGeom>
          <a:solidFill>
            <a:srgbClr val="D4870A">
              <a:alpha val="80000"/>
            </a:srgbClr>
          </a:solidFill>
          <a:ln w="12700">
            <a:solidFill>
              <a:srgbClr val="FFFFFF">
                <a:alpha val="0"/>
              </a:srgbClr>
            </a:solidFill>
            <a:prstDash val="solid"/>
          </a:ln>
        </p:spPr>
      </p:sp>
      <p:sp>
        <p:nvSpPr>
          <p:cNvPr id="16" name="Text 12"/>
          <p:cNvSpPr/>
          <p:nvPr/>
        </p:nvSpPr>
        <p:spPr>
          <a:xfrm>
            <a:off x="6903720" y="1417320"/>
            <a:ext cx="768096" cy="292608"/>
          </a:xfrm>
          <a:prstGeom prst="rect">
            <a:avLst/>
          </a:prstGeom>
          <a:noFill/>
          <a:ln/>
        </p:spPr>
        <p:txBody>
          <a:bodyPr wrap="square" lIns="0" tIns="0" rIns="0" bIns="0" rtlCol="0" anchor="ctr"/>
          <a:lstStyle/>
          <a:p>
            <a:pPr marL="0" indent="0" algn="ctr">
              <a:buNone/>
            </a:pPr>
            <a:r>
              <a:rPr lang="en-US" sz="1000" b="1" dirty="0">
                <a:solidFill>
                  <a:srgbClr val="F5A623"/>
                </a:solidFill>
                <a:latin typeface="Arial" pitchFamily="34" charset="0"/>
                <a:ea typeface="Arial" pitchFamily="34" charset="-122"/>
                <a:cs typeface="Arial" pitchFamily="34" charset="-120"/>
              </a:rPr>
              <a:t>Desc.</a:t>
            </a:r>
            <a:endParaRPr lang="en-US" sz="1000" dirty="0"/>
          </a:p>
        </p:txBody>
      </p:sp>
      <p:sp>
        <p:nvSpPr>
          <p:cNvPr id="17" name="Shape 13"/>
          <p:cNvSpPr/>
          <p:nvPr/>
        </p:nvSpPr>
        <p:spPr>
          <a:xfrm>
            <a:off x="7726680" y="1417320"/>
            <a:ext cx="1097280" cy="292608"/>
          </a:xfrm>
          <a:prstGeom prst="rect">
            <a:avLst/>
          </a:prstGeom>
          <a:solidFill>
            <a:srgbClr val="D4870A">
              <a:alpha val="80000"/>
            </a:srgbClr>
          </a:solidFill>
          <a:ln w="12700">
            <a:solidFill>
              <a:srgbClr val="FFFFFF">
                <a:alpha val="0"/>
              </a:srgbClr>
            </a:solidFill>
            <a:prstDash val="solid"/>
          </a:ln>
        </p:spPr>
      </p:sp>
      <p:sp>
        <p:nvSpPr>
          <p:cNvPr id="18" name="Text 14"/>
          <p:cNvSpPr/>
          <p:nvPr/>
        </p:nvSpPr>
        <p:spPr>
          <a:xfrm>
            <a:off x="7726680" y="1417320"/>
            <a:ext cx="1097280" cy="292608"/>
          </a:xfrm>
          <a:prstGeom prst="rect">
            <a:avLst/>
          </a:prstGeom>
          <a:noFill/>
          <a:ln/>
        </p:spPr>
        <p:txBody>
          <a:bodyPr wrap="square" lIns="0" tIns="0" rIns="0" bIns="0" rtlCol="0" anchor="ctr"/>
          <a:lstStyle/>
          <a:p>
            <a:pPr marL="0" indent="0" algn="ctr">
              <a:buNone/>
            </a:pPr>
            <a:r>
              <a:rPr lang="en-US" sz="1000" b="1" dirty="0">
                <a:solidFill>
                  <a:srgbClr val="F5A623"/>
                </a:solidFill>
                <a:latin typeface="Arial" pitchFamily="34" charset="0"/>
                <a:ea typeface="Arial" pitchFamily="34" charset="-122"/>
                <a:cs typeface="Arial" pitchFamily="34" charset="-120"/>
              </a:rPr>
              <a:t>Change</a:t>
            </a:r>
            <a:endParaRPr lang="en-US" sz="1000" dirty="0"/>
          </a:p>
        </p:txBody>
      </p:sp>
      <p:sp>
        <p:nvSpPr>
          <p:cNvPr id="19" name="Shape 15"/>
          <p:cNvSpPr/>
          <p:nvPr/>
        </p:nvSpPr>
        <p:spPr>
          <a:xfrm>
            <a:off x="4754880" y="1737360"/>
            <a:ext cx="1280160" cy="365760"/>
          </a:xfrm>
          <a:prstGeom prst="rect">
            <a:avLst/>
          </a:prstGeom>
          <a:solidFill>
            <a:srgbClr val="2F1A00"/>
          </a:solidFill>
          <a:ln w="6350">
            <a:solidFill>
              <a:srgbClr val="4A3000"/>
            </a:solidFill>
            <a:prstDash val="solid"/>
          </a:ln>
        </p:spPr>
      </p:sp>
      <p:sp>
        <p:nvSpPr>
          <p:cNvPr id="20" name="Text 16"/>
          <p:cNvSpPr/>
          <p:nvPr/>
        </p:nvSpPr>
        <p:spPr>
          <a:xfrm>
            <a:off x="4754880" y="1737360"/>
            <a:ext cx="1280160" cy="365760"/>
          </a:xfrm>
          <a:prstGeom prst="rect">
            <a:avLst/>
          </a:prstGeom>
          <a:noFill/>
          <a:ln/>
        </p:spPr>
        <p:txBody>
          <a:bodyPr wrap="square" lIns="0" tIns="0" rIns="0" bIns="0" rtlCol="0" anchor="ctr"/>
          <a:lstStyle/>
          <a:p>
            <a:pPr marL="0" indent="0" algn="ctr">
              <a:buNone/>
            </a:pPr>
            <a:r>
              <a:rPr lang="en-US" sz="1050" dirty="0">
                <a:solidFill>
                  <a:srgbClr val="FFFFFF"/>
                </a:solidFill>
                <a:latin typeface="Arial" pitchFamily="34" charset="0"/>
                <a:ea typeface="Arial" pitchFamily="34" charset="-122"/>
                <a:cs typeface="Arial" pitchFamily="34" charset="-120"/>
              </a:rPr>
              <a:t>Home</a:t>
            </a:r>
            <a:endParaRPr lang="en-US" sz="1050" dirty="0"/>
          </a:p>
        </p:txBody>
      </p:sp>
      <p:sp>
        <p:nvSpPr>
          <p:cNvPr id="21" name="Shape 17"/>
          <p:cNvSpPr/>
          <p:nvPr/>
        </p:nvSpPr>
        <p:spPr>
          <a:xfrm>
            <a:off x="6126480" y="1737360"/>
            <a:ext cx="713232" cy="365760"/>
          </a:xfrm>
          <a:prstGeom prst="rect">
            <a:avLst/>
          </a:prstGeom>
          <a:solidFill>
            <a:srgbClr val="2F1A00"/>
          </a:solidFill>
          <a:ln w="6350">
            <a:solidFill>
              <a:srgbClr val="4A3000"/>
            </a:solidFill>
            <a:prstDash val="solid"/>
          </a:ln>
        </p:spPr>
      </p:sp>
      <p:sp>
        <p:nvSpPr>
          <p:cNvPr id="22" name="Text 18"/>
          <p:cNvSpPr/>
          <p:nvPr/>
        </p:nvSpPr>
        <p:spPr>
          <a:xfrm>
            <a:off x="6126480" y="1737360"/>
            <a:ext cx="713232" cy="365760"/>
          </a:xfrm>
          <a:prstGeom prst="rect">
            <a:avLst/>
          </a:prstGeom>
          <a:noFill/>
          <a:ln/>
        </p:spPr>
        <p:txBody>
          <a:bodyPr wrap="square" lIns="0" tIns="0" rIns="0" bIns="0" rtlCol="0" anchor="ctr"/>
          <a:lstStyle/>
          <a:p>
            <a:pPr marL="0" indent="0" algn="ctr">
              <a:buNone/>
            </a:pPr>
            <a:r>
              <a:rPr lang="en-US" sz="1050" dirty="0">
                <a:solidFill>
                  <a:srgbClr val="FFFFFF"/>
                </a:solidFill>
                <a:latin typeface="Arial" pitchFamily="34" charset="0"/>
                <a:ea typeface="Arial" pitchFamily="34" charset="-122"/>
                <a:cs typeface="Arial" pitchFamily="34" charset="-120"/>
              </a:rPr>
              <a:t>57</a:t>
            </a:r>
            <a:endParaRPr lang="en-US" sz="1050" dirty="0"/>
          </a:p>
        </p:txBody>
      </p:sp>
      <p:sp>
        <p:nvSpPr>
          <p:cNvPr id="23" name="Shape 19"/>
          <p:cNvSpPr/>
          <p:nvPr/>
        </p:nvSpPr>
        <p:spPr>
          <a:xfrm>
            <a:off x="6903720" y="1737360"/>
            <a:ext cx="768096" cy="365760"/>
          </a:xfrm>
          <a:prstGeom prst="rect">
            <a:avLst/>
          </a:prstGeom>
          <a:solidFill>
            <a:srgbClr val="2F1A00"/>
          </a:solidFill>
          <a:ln w="6350">
            <a:solidFill>
              <a:srgbClr val="4A3000"/>
            </a:solidFill>
            <a:prstDash val="solid"/>
          </a:ln>
        </p:spPr>
      </p:sp>
      <p:sp>
        <p:nvSpPr>
          <p:cNvPr id="24" name="Text 20"/>
          <p:cNvSpPr/>
          <p:nvPr/>
        </p:nvSpPr>
        <p:spPr>
          <a:xfrm>
            <a:off x="6903720" y="1737360"/>
            <a:ext cx="768096" cy="365760"/>
          </a:xfrm>
          <a:prstGeom prst="rect">
            <a:avLst/>
          </a:prstGeom>
          <a:noFill/>
          <a:ln/>
        </p:spPr>
        <p:txBody>
          <a:bodyPr wrap="square" lIns="0" tIns="0" rIns="0" bIns="0" rtlCol="0" anchor="ctr"/>
          <a:lstStyle/>
          <a:p>
            <a:pPr marL="0" indent="0" algn="ctr">
              <a:buNone/>
            </a:pPr>
            <a:r>
              <a:rPr lang="en-US" sz="1050" dirty="0">
                <a:solidFill>
                  <a:srgbClr val="FFFFFF"/>
                </a:solidFill>
                <a:latin typeface="Arial" pitchFamily="34" charset="0"/>
                <a:ea typeface="Arial" pitchFamily="34" charset="-122"/>
                <a:cs typeface="Arial" pitchFamily="34" charset="-120"/>
              </a:rPr>
              <a:t>154</a:t>
            </a:r>
            <a:endParaRPr lang="en-US" sz="1050" dirty="0"/>
          </a:p>
        </p:txBody>
      </p:sp>
      <p:sp>
        <p:nvSpPr>
          <p:cNvPr id="25" name="Shape 21"/>
          <p:cNvSpPr/>
          <p:nvPr/>
        </p:nvSpPr>
        <p:spPr>
          <a:xfrm>
            <a:off x="7726680" y="1737360"/>
            <a:ext cx="1097280" cy="365760"/>
          </a:xfrm>
          <a:prstGeom prst="rect">
            <a:avLst/>
          </a:prstGeom>
          <a:solidFill>
            <a:srgbClr val="2F1A00"/>
          </a:solidFill>
          <a:ln w="6350">
            <a:solidFill>
              <a:srgbClr val="4A3000"/>
            </a:solidFill>
            <a:prstDash val="solid"/>
          </a:ln>
        </p:spPr>
      </p:sp>
      <p:sp>
        <p:nvSpPr>
          <p:cNvPr id="26" name="Text 22"/>
          <p:cNvSpPr/>
          <p:nvPr/>
        </p:nvSpPr>
        <p:spPr>
          <a:xfrm>
            <a:off x="7726680" y="1737360"/>
            <a:ext cx="1097280" cy="365760"/>
          </a:xfrm>
          <a:prstGeom prst="rect">
            <a:avLst/>
          </a:prstGeom>
          <a:noFill/>
          <a:ln/>
        </p:spPr>
        <p:txBody>
          <a:bodyPr wrap="square" lIns="0" tIns="0" rIns="0" bIns="0" rtlCol="0" anchor="ctr"/>
          <a:lstStyle/>
          <a:p>
            <a:pPr marL="0" indent="0" algn="ctr">
              <a:buNone/>
            </a:pPr>
            <a:r>
              <a:rPr lang="en-US" sz="1050" b="1" dirty="0">
                <a:solidFill>
                  <a:srgbClr val="F5A623"/>
                </a:solidFill>
                <a:latin typeface="Arial" pitchFamily="34" charset="0"/>
                <a:ea typeface="Arial" pitchFamily="34" charset="-122"/>
                <a:cs typeface="Arial" pitchFamily="34" charset="-120"/>
              </a:rPr>
              <a:t>Rewrote</a:t>
            </a:r>
            <a:endParaRPr lang="en-US" sz="1050" dirty="0"/>
          </a:p>
        </p:txBody>
      </p:sp>
      <p:sp>
        <p:nvSpPr>
          <p:cNvPr id="27" name="Shape 23"/>
          <p:cNvSpPr/>
          <p:nvPr/>
        </p:nvSpPr>
        <p:spPr>
          <a:xfrm>
            <a:off x="4754880" y="2157984"/>
            <a:ext cx="1280160" cy="365760"/>
          </a:xfrm>
          <a:prstGeom prst="rect">
            <a:avLst/>
          </a:prstGeom>
          <a:solidFill>
            <a:srgbClr val="381E00"/>
          </a:solidFill>
          <a:ln w="6350">
            <a:solidFill>
              <a:srgbClr val="4A3000"/>
            </a:solidFill>
            <a:prstDash val="solid"/>
          </a:ln>
        </p:spPr>
      </p:sp>
      <p:sp>
        <p:nvSpPr>
          <p:cNvPr id="28" name="Text 24"/>
          <p:cNvSpPr/>
          <p:nvPr/>
        </p:nvSpPr>
        <p:spPr>
          <a:xfrm>
            <a:off x="4754880" y="2157984"/>
            <a:ext cx="1280160" cy="365760"/>
          </a:xfrm>
          <a:prstGeom prst="rect">
            <a:avLst/>
          </a:prstGeom>
          <a:noFill/>
          <a:ln/>
        </p:spPr>
        <p:txBody>
          <a:bodyPr wrap="square" lIns="0" tIns="0" rIns="0" bIns="0" rtlCol="0" anchor="ctr"/>
          <a:lstStyle/>
          <a:p>
            <a:pPr marL="0" indent="0" algn="ctr">
              <a:buNone/>
            </a:pPr>
            <a:r>
              <a:rPr lang="en-US" sz="1050" dirty="0">
                <a:solidFill>
                  <a:srgbClr val="FFFFFF"/>
                </a:solidFill>
                <a:latin typeface="Arial" pitchFamily="34" charset="0"/>
                <a:ea typeface="Arial" pitchFamily="34" charset="-122"/>
                <a:cs typeface="Arial" pitchFamily="34" charset="-120"/>
              </a:rPr>
              <a:t>About</a:t>
            </a:r>
            <a:endParaRPr lang="en-US" sz="1050" dirty="0"/>
          </a:p>
        </p:txBody>
      </p:sp>
      <p:sp>
        <p:nvSpPr>
          <p:cNvPr id="29" name="Shape 25"/>
          <p:cNvSpPr/>
          <p:nvPr/>
        </p:nvSpPr>
        <p:spPr>
          <a:xfrm>
            <a:off x="6126480" y="2157984"/>
            <a:ext cx="713232" cy="365760"/>
          </a:xfrm>
          <a:prstGeom prst="rect">
            <a:avLst/>
          </a:prstGeom>
          <a:solidFill>
            <a:srgbClr val="381E00"/>
          </a:solidFill>
          <a:ln w="6350">
            <a:solidFill>
              <a:srgbClr val="4A3000"/>
            </a:solidFill>
            <a:prstDash val="solid"/>
          </a:ln>
        </p:spPr>
      </p:sp>
      <p:sp>
        <p:nvSpPr>
          <p:cNvPr id="30" name="Text 26"/>
          <p:cNvSpPr/>
          <p:nvPr/>
        </p:nvSpPr>
        <p:spPr>
          <a:xfrm>
            <a:off x="6126480" y="2157984"/>
            <a:ext cx="713232" cy="365760"/>
          </a:xfrm>
          <a:prstGeom prst="rect">
            <a:avLst/>
          </a:prstGeom>
          <a:noFill/>
          <a:ln/>
        </p:spPr>
        <p:txBody>
          <a:bodyPr wrap="square" lIns="0" tIns="0" rIns="0" bIns="0" rtlCol="0" anchor="ctr"/>
          <a:lstStyle/>
          <a:p>
            <a:pPr marL="0" indent="0" algn="ctr">
              <a:buNone/>
            </a:pPr>
            <a:r>
              <a:rPr lang="en-US" sz="1050" dirty="0">
                <a:solidFill>
                  <a:srgbClr val="FFFFFF"/>
                </a:solidFill>
                <a:latin typeface="Arial" pitchFamily="34" charset="0"/>
                <a:ea typeface="Arial" pitchFamily="34" charset="-122"/>
                <a:cs typeface="Arial" pitchFamily="34" charset="-120"/>
              </a:rPr>
              <a:t>48</a:t>
            </a:r>
            <a:endParaRPr lang="en-US" sz="1050" dirty="0"/>
          </a:p>
        </p:txBody>
      </p:sp>
      <p:sp>
        <p:nvSpPr>
          <p:cNvPr id="31" name="Shape 27"/>
          <p:cNvSpPr/>
          <p:nvPr/>
        </p:nvSpPr>
        <p:spPr>
          <a:xfrm>
            <a:off x="6903720" y="2157984"/>
            <a:ext cx="768096" cy="365760"/>
          </a:xfrm>
          <a:prstGeom prst="rect">
            <a:avLst/>
          </a:prstGeom>
          <a:solidFill>
            <a:srgbClr val="381E00"/>
          </a:solidFill>
          <a:ln w="6350">
            <a:solidFill>
              <a:srgbClr val="4A3000"/>
            </a:solidFill>
            <a:prstDash val="solid"/>
          </a:ln>
        </p:spPr>
      </p:sp>
      <p:sp>
        <p:nvSpPr>
          <p:cNvPr id="32" name="Text 28"/>
          <p:cNvSpPr/>
          <p:nvPr/>
        </p:nvSpPr>
        <p:spPr>
          <a:xfrm>
            <a:off x="6903720" y="2157984"/>
            <a:ext cx="768096" cy="365760"/>
          </a:xfrm>
          <a:prstGeom prst="rect">
            <a:avLst/>
          </a:prstGeom>
          <a:noFill/>
          <a:ln/>
        </p:spPr>
        <p:txBody>
          <a:bodyPr wrap="square" lIns="0" tIns="0" rIns="0" bIns="0" rtlCol="0" anchor="ctr"/>
          <a:lstStyle/>
          <a:p>
            <a:pPr marL="0" indent="0" algn="ctr">
              <a:buNone/>
            </a:pPr>
            <a:r>
              <a:rPr lang="en-US" sz="1050" dirty="0">
                <a:solidFill>
                  <a:srgbClr val="FFFFFF"/>
                </a:solidFill>
                <a:latin typeface="Arial" pitchFamily="34" charset="0"/>
                <a:ea typeface="Arial" pitchFamily="34" charset="-122"/>
                <a:cs typeface="Arial" pitchFamily="34" charset="-120"/>
              </a:rPr>
              <a:t>141</a:t>
            </a:r>
            <a:endParaRPr lang="en-US" sz="1050" dirty="0"/>
          </a:p>
        </p:txBody>
      </p:sp>
      <p:sp>
        <p:nvSpPr>
          <p:cNvPr id="33" name="Shape 29"/>
          <p:cNvSpPr/>
          <p:nvPr/>
        </p:nvSpPr>
        <p:spPr>
          <a:xfrm>
            <a:off x="7726680" y="2157984"/>
            <a:ext cx="1097280" cy="365760"/>
          </a:xfrm>
          <a:prstGeom prst="rect">
            <a:avLst/>
          </a:prstGeom>
          <a:solidFill>
            <a:srgbClr val="381E00"/>
          </a:solidFill>
          <a:ln w="6350">
            <a:solidFill>
              <a:srgbClr val="4A3000"/>
            </a:solidFill>
            <a:prstDash val="solid"/>
          </a:ln>
        </p:spPr>
      </p:sp>
      <p:sp>
        <p:nvSpPr>
          <p:cNvPr id="34" name="Text 30"/>
          <p:cNvSpPr/>
          <p:nvPr/>
        </p:nvSpPr>
        <p:spPr>
          <a:xfrm>
            <a:off x="7726680" y="2157984"/>
            <a:ext cx="1097280" cy="365760"/>
          </a:xfrm>
          <a:prstGeom prst="rect">
            <a:avLst/>
          </a:prstGeom>
          <a:noFill/>
          <a:ln/>
        </p:spPr>
        <p:txBody>
          <a:bodyPr wrap="square" lIns="0" tIns="0" rIns="0" bIns="0" rtlCol="0" anchor="ctr"/>
          <a:lstStyle/>
          <a:p>
            <a:pPr marL="0" indent="0" algn="ctr">
              <a:buNone/>
            </a:pPr>
            <a:r>
              <a:rPr lang="en-US" sz="1050" b="1" dirty="0">
                <a:solidFill>
                  <a:srgbClr val="F5A623"/>
                </a:solidFill>
                <a:latin typeface="Arial" pitchFamily="34" charset="0"/>
                <a:ea typeface="Arial" pitchFamily="34" charset="-122"/>
                <a:cs typeface="Arial" pitchFamily="34" charset="-120"/>
              </a:rPr>
              <a:t>Rewrote</a:t>
            </a:r>
            <a:endParaRPr lang="en-US" sz="1050" dirty="0"/>
          </a:p>
        </p:txBody>
      </p:sp>
      <p:sp>
        <p:nvSpPr>
          <p:cNvPr id="35" name="Shape 31"/>
          <p:cNvSpPr/>
          <p:nvPr/>
        </p:nvSpPr>
        <p:spPr>
          <a:xfrm>
            <a:off x="4754880" y="2578608"/>
            <a:ext cx="1280160" cy="365760"/>
          </a:xfrm>
          <a:prstGeom prst="rect">
            <a:avLst/>
          </a:prstGeom>
          <a:solidFill>
            <a:srgbClr val="2F1A00"/>
          </a:solidFill>
          <a:ln w="6350">
            <a:solidFill>
              <a:srgbClr val="4A3000"/>
            </a:solidFill>
            <a:prstDash val="solid"/>
          </a:ln>
        </p:spPr>
      </p:sp>
      <p:sp>
        <p:nvSpPr>
          <p:cNvPr id="36" name="Text 32"/>
          <p:cNvSpPr/>
          <p:nvPr/>
        </p:nvSpPr>
        <p:spPr>
          <a:xfrm>
            <a:off x="4754880" y="2578608"/>
            <a:ext cx="1280160" cy="365760"/>
          </a:xfrm>
          <a:prstGeom prst="rect">
            <a:avLst/>
          </a:prstGeom>
          <a:noFill/>
          <a:ln/>
        </p:spPr>
        <p:txBody>
          <a:bodyPr wrap="square" lIns="0" tIns="0" rIns="0" bIns="0" rtlCol="0" anchor="ctr"/>
          <a:lstStyle/>
          <a:p>
            <a:pPr marL="0" indent="0" algn="ctr">
              <a:buNone/>
            </a:pPr>
            <a:r>
              <a:rPr lang="en-US" sz="1050" dirty="0">
                <a:solidFill>
                  <a:srgbClr val="FFFFFF"/>
                </a:solidFill>
                <a:latin typeface="Arial" pitchFamily="34" charset="0"/>
                <a:ea typeface="Arial" pitchFamily="34" charset="-122"/>
                <a:cs typeface="Arial" pitchFamily="34" charset="-120"/>
              </a:rPr>
              <a:t>Courses</a:t>
            </a:r>
            <a:endParaRPr lang="en-US" sz="1050" dirty="0"/>
          </a:p>
        </p:txBody>
      </p:sp>
      <p:sp>
        <p:nvSpPr>
          <p:cNvPr id="37" name="Shape 33"/>
          <p:cNvSpPr/>
          <p:nvPr/>
        </p:nvSpPr>
        <p:spPr>
          <a:xfrm>
            <a:off x="6126480" y="2578608"/>
            <a:ext cx="713232" cy="365760"/>
          </a:xfrm>
          <a:prstGeom prst="rect">
            <a:avLst/>
          </a:prstGeom>
          <a:solidFill>
            <a:srgbClr val="2F1A00"/>
          </a:solidFill>
          <a:ln w="6350">
            <a:solidFill>
              <a:srgbClr val="4A3000"/>
            </a:solidFill>
            <a:prstDash val="solid"/>
          </a:ln>
        </p:spPr>
      </p:sp>
      <p:sp>
        <p:nvSpPr>
          <p:cNvPr id="38" name="Text 34"/>
          <p:cNvSpPr/>
          <p:nvPr/>
        </p:nvSpPr>
        <p:spPr>
          <a:xfrm>
            <a:off x="6126480" y="2578608"/>
            <a:ext cx="713232" cy="365760"/>
          </a:xfrm>
          <a:prstGeom prst="rect">
            <a:avLst/>
          </a:prstGeom>
          <a:noFill/>
          <a:ln/>
        </p:spPr>
        <p:txBody>
          <a:bodyPr wrap="square" lIns="0" tIns="0" rIns="0" bIns="0" rtlCol="0" anchor="ctr"/>
          <a:lstStyle/>
          <a:p>
            <a:pPr marL="0" indent="0" algn="ctr">
              <a:buNone/>
            </a:pPr>
            <a:r>
              <a:rPr lang="en-US" sz="1050" dirty="0">
                <a:solidFill>
                  <a:srgbClr val="FFFFFF"/>
                </a:solidFill>
                <a:latin typeface="Arial" pitchFamily="34" charset="0"/>
                <a:ea typeface="Arial" pitchFamily="34" charset="-122"/>
                <a:cs typeface="Arial" pitchFamily="34" charset="-120"/>
              </a:rPr>
              <a:t>52</a:t>
            </a:r>
            <a:endParaRPr lang="en-US" sz="1050" dirty="0"/>
          </a:p>
        </p:txBody>
      </p:sp>
      <p:sp>
        <p:nvSpPr>
          <p:cNvPr id="39" name="Shape 35"/>
          <p:cNvSpPr/>
          <p:nvPr/>
        </p:nvSpPr>
        <p:spPr>
          <a:xfrm>
            <a:off x="6903720" y="2578608"/>
            <a:ext cx="768096" cy="365760"/>
          </a:xfrm>
          <a:prstGeom prst="rect">
            <a:avLst/>
          </a:prstGeom>
          <a:solidFill>
            <a:srgbClr val="2F1A00"/>
          </a:solidFill>
          <a:ln w="6350">
            <a:solidFill>
              <a:srgbClr val="4A3000"/>
            </a:solidFill>
            <a:prstDash val="solid"/>
          </a:ln>
        </p:spPr>
      </p:sp>
      <p:sp>
        <p:nvSpPr>
          <p:cNvPr id="40" name="Text 36"/>
          <p:cNvSpPr/>
          <p:nvPr/>
        </p:nvSpPr>
        <p:spPr>
          <a:xfrm>
            <a:off x="6903720" y="2578608"/>
            <a:ext cx="768096" cy="365760"/>
          </a:xfrm>
          <a:prstGeom prst="rect">
            <a:avLst/>
          </a:prstGeom>
          <a:noFill/>
          <a:ln/>
        </p:spPr>
        <p:txBody>
          <a:bodyPr wrap="square" lIns="0" tIns="0" rIns="0" bIns="0" rtlCol="0" anchor="ctr"/>
          <a:lstStyle/>
          <a:p>
            <a:pPr marL="0" indent="0" algn="ctr">
              <a:buNone/>
            </a:pPr>
            <a:r>
              <a:rPr lang="en-US" sz="1050" dirty="0">
                <a:solidFill>
                  <a:srgbClr val="FFFFFF"/>
                </a:solidFill>
                <a:latin typeface="Arial" pitchFamily="34" charset="0"/>
                <a:ea typeface="Arial" pitchFamily="34" charset="-122"/>
                <a:cs typeface="Arial" pitchFamily="34" charset="-120"/>
              </a:rPr>
              <a:t>158</a:t>
            </a:r>
            <a:endParaRPr lang="en-US" sz="1050" dirty="0"/>
          </a:p>
        </p:txBody>
      </p:sp>
      <p:sp>
        <p:nvSpPr>
          <p:cNvPr id="41" name="Shape 37"/>
          <p:cNvSpPr/>
          <p:nvPr/>
        </p:nvSpPr>
        <p:spPr>
          <a:xfrm>
            <a:off x="7726680" y="2578608"/>
            <a:ext cx="1097280" cy="365760"/>
          </a:xfrm>
          <a:prstGeom prst="rect">
            <a:avLst/>
          </a:prstGeom>
          <a:solidFill>
            <a:srgbClr val="2F1A00"/>
          </a:solidFill>
          <a:ln w="6350">
            <a:solidFill>
              <a:srgbClr val="4A3000"/>
            </a:solidFill>
            <a:prstDash val="solid"/>
          </a:ln>
        </p:spPr>
      </p:sp>
      <p:sp>
        <p:nvSpPr>
          <p:cNvPr id="42" name="Text 38"/>
          <p:cNvSpPr/>
          <p:nvPr/>
        </p:nvSpPr>
        <p:spPr>
          <a:xfrm>
            <a:off x="7726680" y="2578608"/>
            <a:ext cx="1097280" cy="365760"/>
          </a:xfrm>
          <a:prstGeom prst="rect">
            <a:avLst/>
          </a:prstGeom>
          <a:noFill/>
          <a:ln/>
        </p:spPr>
        <p:txBody>
          <a:bodyPr wrap="square" lIns="0" tIns="0" rIns="0" bIns="0" rtlCol="0" anchor="ctr"/>
          <a:lstStyle/>
          <a:p>
            <a:pPr marL="0" indent="0" algn="ctr">
              <a:buNone/>
            </a:pPr>
            <a:r>
              <a:rPr lang="en-US" sz="1050" b="1" dirty="0">
                <a:solidFill>
                  <a:srgbClr val="F5A623"/>
                </a:solidFill>
                <a:latin typeface="Arial" pitchFamily="34" charset="0"/>
                <a:ea typeface="Arial" pitchFamily="34" charset="-122"/>
                <a:cs typeface="Arial" pitchFamily="34" charset="-120"/>
              </a:rPr>
              <a:t>Rewrote</a:t>
            </a:r>
            <a:endParaRPr lang="en-US" sz="1050" dirty="0"/>
          </a:p>
        </p:txBody>
      </p:sp>
      <p:sp>
        <p:nvSpPr>
          <p:cNvPr id="43" name="Shape 39"/>
          <p:cNvSpPr/>
          <p:nvPr/>
        </p:nvSpPr>
        <p:spPr>
          <a:xfrm>
            <a:off x="4754880" y="2999232"/>
            <a:ext cx="1280160" cy="365760"/>
          </a:xfrm>
          <a:prstGeom prst="rect">
            <a:avLst/>
          </a:prstGeom>
          <a:solidFill>
            <a:srgbClr val="381E00"/>
          </a:solidFill>
          <a:ln w="6350">
            <a:solidFill>
              <a:srgbClr val="4A3000"/>
            </a:solidFill>
            <a:prstDash val="solid"/>
          </a:ln>
        </p:spPr>
      </p:sp>
      <p:sp>
        <p:nvSpPr>
          <p:cNvPr id="44" name="Text 40"/>
          <p:cNvSpPr/>
          <p:nvPr/>
        </p:nvSpPr>
        <p:spPr>
          <a:xfrm>
            <a:off x="4754880" y="2999232"/>
            <a:ext cx="1280160" cy="365760"/>
          </a:xfrm>
          <a:prstGeom prst="rect">
            <a:avLst/>
          </a:prstGeom>
          <a:noFill/>
          <a:ln/>
        </p:spPr>
        <p:txBody>
          <a:bodyPr wrap="square" lIns="0" tIns="0" rIns="0" bIns="0" rtlCol="0" anchor="ctr"/>
          <a:lstStyle/>
          <a:p>
            <a:pPr marL="0" indent="0" algn="ctr">
              <a:buNone/>
            </a:pPr>
            <a:r>
              <a:rPr lang="en-US" sz="1050" dirty="0">
                <a:solidFill>
                  <a:srgbClr val="FFFFFF"/>
                </a:solidFill>
                <a:latin typeface="Arial" pitchFamily="34" charset="0"/>
                <a:ea typeface="Arial" pitchFamily="34" charset="-122"/>
                <a:cs typeface="Arial" pitchFamily="34" charset="-120"/>
              </a:rPr>
              <a:t>Support</a:t>
            </a:r>
            <a:endParaRPr lang="en-US" sz="1050" dirty="0"/>
          </a:p>
        </p:txBody>
      </p:sp>
      <p:sp>
        <p:nvSpPr>
          <p:cNvPr id="45" name="Shape 41"/>
          <p:cNvSpPr/>
          <p:nvPr/>
        </p:nvSpPr>
        <p:spPr>
          <a:xfrm>
            <a:off x="6126480" y="2999232"/>
            <a:ext cx="713232" cy="365760"/>
          </a:xfrm>
          <a:prstGeom prst="rect">
            <a:avLst/>
          </a:prstGeom>
          <a:solidFill>
            <a:srgbClr val="381E00"/>
          </a:solidFill>
          <a:ln w="6350">
            <a:solidFill>
              <a:srgbClr val="4A3000"/>
            </a:solidFill>
            <a:prstDash val="solid"/>
          </a:ln>
        </p:spPr>
      </p:sp>
      <p:sp>
        <p:nvSpPr>
          <p:cNvPr id="46" name="Text 42"/>
          <p:cNvSpPr/>
          <p:nvPr/>
        </p:nvSpPr>
        <p:spPr>
          <a:xfrm>
            <a:off x="6126480" y="2999232"/>
            <a:ext cx="713232" cy="365760"/>
          </a:xfrm>
          <a:prstGeom prst="rect">
            <a:avLst/>
          </a:prstGeom>
          <a:noFill/>
          <a:ln/>
        </p:spPr>
        <p:txBody>
          <a:bodyPr wrap="square" lIns="0" tIns="0" rIns="0" bIns="0" rtlCol="0" anchor="ctr"/>
          <a:lstStyle/>
          <a:p>
            <a:pPr marL="0" indent="0" algn="ctr">
              <a:buNone/>
            </a:pPr>
            <a:r>
              <a:rPr lang="en-US" sz="1050" dirty="0">
                <a:solidFill>
                  <a:srgbClr val="FFFFFF"/>
                </a:solidFill>
                <a:latin typeface="Arial" pitchFamily="34" charset="0"/>
                <a:ea typeface="Arial" pitchFamily="34" charset="-122"/>
                <a:cs typeface="Arial" pitchFamily="34" charset="-120"/>
              </a:rPr>
              <a:t>49</a:t>
            </a:r>
            <a:endParaRPr lang="en-US" sz="1050" dirty="0"/>
          </a:p>
        </p:txBody>
      </p:sp>
      <p:sp>
        <p:nvSpPr>
          <p:cNvPr id="47" name="Shape 43"/>
          <p:cNvSpPr/>
          <p:nvPr/>
        </p:nvSpPr>
        <p:spPr>
          <a:xfrm>
            <a:off x="6903720" y="2999232"/>
            <a:ext cx="768096" cy="365760"/>
          </a:xfrm>
          <a:prstGeom prst="rect">
            <a:avLst/>
          </a:prstGeom>
          <a:solidFill>
            <a:srgbClr val="381E00"/>
          </a:solidFill>
          <a:ln w="6350">
            <a:solidFill>
              <a:srgbClr val="4A3000"/>
            </a:solidFill>
            <a:prstDash val="solid"/>
          </a:ln>
        </p:spPr>
      </p:sp>
      <p:sp>
        <p:nvSpPr>
          <p:cNvPr id="48" name="Text 44"/>
          <p:cNvSpPr/>
          <p:nvPr/>
        </p:nvSpPr>
        <p:spPr>
          <a:xfrm>
            <a:off x="6903720" y="2999232"/>
            <a:ext cx="768096" cy="365760"/>
          </a:xfrm>
          <a:prstGeom prst="rect">
            <a:avLst/>
          </a:prstGeom>
          <a:noFill/>
          <a:ln/>
        </p:spPr>
        <p:txBody>
          <a:bodyPr wrap="square" lIns="0" tIns="0" rIns="0" bIns="0" rtlCol="0" anchor="ctr"/>
          <a:lstStyle/>
          <a:p>
            <a:pPr marL="0" indent="0" algn="ctr">
              <a:buNone/>
            </a:pPr>
            <a:r>
              <a:rPr lang="en-US" sz="1050" dirty="0">
                <a:solidFill>
                  <a:srgbClr val="FFFFFF"/>
                </a:solidFill>
                <a:latin typeface="Arial" pitchFamily="34" charset="0"/>
                <a:ea typeface="Arial" pitchFamily="34" charset="-122"/>
                <a:cs typeface="Arial" pitchFamily="34" charset="-120"/>
              </a:rPr>
              <a:t>147</a:t>
            </a:r>
            <a:endParaRPr lang="en-US" sz="1050" dirty="0"/>
          </a:p>
        </p:txBody>
      </p:sp>
      <p:sp>
        <p:nvSpPr>
          <p:cNvPr id="49" name="Shape 45"/>
          <p:cNvSpPr/>
          <p:nvPr/>
        </p:nvSpPr>
        <p:spPr>
          <a:xfrm>
            <a:off x="7726680" y="2999232"/>
            <a:ext cx="1097280" cy="365760"/>
          </a:xfrm>
          <a:prstGeom prst="rect">
            <a:avLst/>
          </a:prstGeom>
          <a:solidFill>
            <a:srgbClr val="381E00"/>
          </a:solidFill>
          <a:ln w="6350">
            <a:solidFill>
              <a:srgbClr val="4A3000"/>
            </a:solidFill>
            <a:prstDash val="solid"/>
          </a:ln>
        </p:spPr>
      </p:sp>
      <p:sp>
        <p:nvSpPr>
          <p:cNvPr id="50" name="Text 46"/>
          <p:cNvSpPr/>
          <p:nvPr/>
        </p:nvSpPr>
        <p:spPr>
          <a:xfrm>
            <a:off x="7726680" y="2999232"/>
            <a:ext cx="1097280" cy="365760"/>
          </a:xfrm>
          <a:prstGeom prst="rect">
            <a:avLst/>
          </a:prstGeom>
          <a:noFill/>
          <a:ln/>
        </p:spPr>
        <p:txBody>
          <a:bodyPr wrap="square" lIns="0" tIns="0" rIns="0" bIns="0" rtlCol="0" anchor="ctr"/>
          <a:lstStyle/>
          <a:p>
            <a:pPr marL="0" indent="0" algn="ctr">
              <a:buNone/>
            </a:pPr>
            <a:r>
              <a:rPr lang="en-US" sz="1050" b="1" dirty="0">
                <a:solidFill>
                  <a:srgbClr val="F5A623"/>
                </a:solidFill>
                <a:latin typeface="Arial" pitchFamily="34" charset="0"/>
                <a:ea typeface="Arial" pitchFamily="34" charset="-122"/>
                <a:cs typeface="Arial" pitchFamily="34" charset="-120"/>
              </a:rPr>
              <a:t>Rewrote</a:t>
            </a:r>
            <a:endParaRPr lang="en-US" sz="1050" dirty="0"/>
          </a:p>
        </p:txBody>
      </p:sp>
      <p:sp>
        <p:nvSpPr>
          <p:cNvPr id="51" name="Shape 47"/>
          <p:cNvSpPr/>
          <p:nvPr/>
        </p:nvSpPr>
        <p:spPr>
          <a:xfrm>
            <a:off x="4754880" y="3419856"/>
            <a:ext cx="1280160" cy="365760"/>
          </a:xfrm>
          <a:prstGeom prst="rect">
            <a:avLst/>
          </a:prstGeom>
          <a:solidFill>
            <a:srgbClr val="2F1A00"/>
          </a:solidFill>
          <a:ln w="6350">
            <a:solidFill>
              <a:srgbClr val="4A3000"/>
            </a:solidFill>
            <a:prstDash val="solid"/>
          </a:ln>
        </p:spPr>
      </p:sp>
      <p:sp>
        <p:nvSpPr>
          <p:cNvPr id="52" name="Text 48"/>
          <p:cNvSpPr/>
          <p:nvPr/>
        </p:nvSpPr>
        <p:spPr>
          <a:xfrm>
            <a:off x="4754880" y="3419856"/>
            <a:ext cx="1280160" cy="365760"/>
          </a:xfrm>
          <a:prstGeom prst="rect">
            <a:avLst/>
          </a:prstGeom>
          <a:noFill/>
          <a:ln/>
        </p:spPr>
        <p:txBody>
          <a:bodyPr wrap="square" lIns="0" tIns="0" rIns="0" bIns="0" rtlCol="0" anchor="ctr"/>
          <a:lstStyle/>
          <a:p>
            <a:pPr marL="0" indent="0" algn="ctr">
              <a:buNone/>
            </a:pPr>
            <a:r>
              <a:rPr lang="en-US" sz="1050" dirty="0">
                <a:solidFill>
                  <a:srgbClr val="FFFFFF"/>
                </a:solidFill>
                <a:latin typeface="Arial" pitchFamily="34" charset="0"/>
                <a:ea typeface="Arial" pitchFamily="34" charset="-122"/>
                <a:cs typeface="Arial" pitchFamily="34" charset="-120"/>
              </a:rPr>
              <a:t>Shop</a:t>
            </a:r>
            <a:endParaRPr lang="en-US" sz="1050" dirty="0"/>
          </a:p>
        </p:txBody>
      </p:sp>
      <p:sp>
        <p:nvSpPr>
          <p:cNvPr id="53" name="Shape 49"/>
          <p:cNvSpPr/>
          <p:nvPr/>
        </p:nvSpPr>
        <p:spPr>
          <a:xfrm>
            <a:off x="6126480" y="3419856"/>
            <a:ext cx="713232" cy="365760"/>
          </a:xfrm>
          <a:prstGeom prst="rect">
            <a:avLst/>
          </a:prstGeom>
          <a:solidFill>
            <a:srgbClr val="2F1A00"/>
          </a:solidFill>
          <a:ln w="6350">
            <a:solidFill>
              <a:srgbClr val="4A3000"/>
            </a:solidFill>
            <a:prstDash val="solid"/>
          </a:ln>
        </p:spPr>
      </p:sp>
      <p:sp>
        <p:nvSpPr>
          <p:cNvPr id="54" name="Text 50"/>
          <p:cNvSpPr/>
          <p:nvPr/>
        </p:nvSpPr>
        <p:spPr>
          <a:xfrm>
            <a:off x="6126480" y="3419856"/>
            <a:ext cx="713232" cy="365760"/>
          </a:xfrm>
          <a:prstGeom prst="rect">
            <a:avLst/>
          </a:prstGeom>
          <a:noFill/>
          <a:ln/>
        </p:spPr>
        <p:txBody>
          <a:bodyPr wrap="square" lIns="0" tIns="0" rIns="0" bIns="0" rtlCol="0" anchor="ctr"/>
          <a:lstStyle/>
          <a:p>
            <a:pPr marL="0" indent="0" algn="ctr">
              <a:buNone/>
            </a:pPr>
            <a:r>
              <a:rPr lang="en-US" sz="1050" dirty="0">
                <a:solidFill>
                  <a:srgbClr val="FFFFFF"/>
                </a:solidFill>
                <a:latin typeface="Arial" pitchFamily="34" charset="0"/>
                <a:ea typeface="Arial" pitchFamily="34" charset="-122"/>
                <a:cs typeface="Arial" pitchFamily="34" charset="-120"/>
              </a:rPr>
              <a:t>55</a:t>
            </a:r>
            <a:endParaRPr lang="en-US" sz="1050" dirty="0"/>
          </a:p>
        </p:txBody>
      </p:sp>
      <p:sp>
        <p:nvSpPr>
          <p:cNvPr id="55" name="Shape 51"/>
          <p:cNvSpPr/>
          <p:nvPr/>
        </p:nvSpPr>
        <p:spPr>
          <a:xfrm>
            <a:off x="6903720" y="3419856"/>
            <a:ext cx="768096" cy="365760"/>
          </a:xfrm>
          <a:prstGeom prst="rect">
            <a:avLst/>
          </a:prstGeom>
          <a:solidFill>
            <a:srgbClr val="2F1A00"/>
          </a:solidFill>
          <a:ln w="6350">
            <a:solidFill>
              <a:srgbClr val="4A3000"/>
            </a:solidFill>
            <a:prstDash val="solid"/>
          </a:ln>
        </p:spPr>
      </p:sp>
      <p:sp>
        <p:nvSpPr>
          <p:cNvPr id="56" name="Text 52"/>
          <p:cNvSpPr/>
          <p:nvPr/>
        </p:nvSpPr>
        <p:spPr>
          <a:xfrm>
            <a:off x="6903720" y="3419856"/>
            <a:ext cx="768096" cy="365760"/>
          </a:xfrm>
          <a:prstGeom prst="rect">
            <a:avLst/>
          </a:prstGeom>
          <a:noFill/>
          <a:ln/>
        </p:spPr>
        <p:txBody>
          <a:bodyPr wrap="square" lIns="0" tIns="0" rIns="0" bIns="0" rtlCol="0" anchor="ctr"/>
          <a:lstStyle/>
          <a:p>
            <a:pPr marL="0" indent="0" algn="ctr">
              <a:buNone/>
            </a:pPr>
            <a:r>
              <a:rPr lang="en-US" sz="1050" dirty="0">
                <a:solidFill>
                  <a:srgbClr val="FFFFFF"/>
                </a:solidFill>
                <a:latin typeface="Arial" pitchFamily="34" charset="0"/>
                <a:ea typeface="Arial" pitchFamily="34" charset="-122"/>
                <a:cs typeface="Arial" pitchFamily="34" charset="-120"/>
              </a:rPr>
              <a:t>152</a:t>
            </a:r>
            <a:endParaRPr lang="en-US" sz="1050" dirty="0"/>
          </a:p>
        </p:txBody>
      </p:sp>
      <p:sp>
        <p:nvSpPr>
          <p:cNvPr id="57" name="Shape 53"/>
          <p:cNvSpPr/>
          <p:nvPr/>
        </p:nvSpPr>
        <p:spPr>
          <a:xfrm>
            <a:off x="7726680" y="3419856"/>
            <a:ext cx="1097280" cy="365760"/>
          </a:xfrm>
          <a:prstGeom prst="rect">
            <a:avLst/>
          </a:prstGeom>
          <a:solidFill>
            <a:srgbClr val="2F1A00"/>
          </a:solidFill>
          <a:ln w="6350">
            <a:solidFill>
              <a:srgbClr val="4A3000"/>
            </a:solidFill>
            <a:prstDash val="solid"/>
          </a:ln>
        </p:spPr>
      </p:sp>
      <p:sp>
        <p:nvSpPr>
          <p:cNvPr id="58" name="Text 54"/>
          <p:cNvSpPr/>
          <p:nvPr/>
        </p:nvSpPr>
        <p:spPr>
          <a:xfrm>
            <a:off x="7726680" y="3419856"/>
            <a:ext cx="1097280" cy="365760"/>
          </a:xfrm>
          <a:prstGeom prst="rect">
            <a:avLst/>
          </a:prstGeom>
          <a:noFill/>
          <a:ln/>
        </p:spPr>
        <p:txBody>
          <a:bodyPr wrap="square" lIns="0" tIns="0" rIns="0" bIns="0" rtlCol="0" anchor="ctr"/>
          <a:lstStyle/>
          <a:p>
            <a:pPr marL="0" indent="0" algn="ctr">
              <a:buNone/>
            </a:pPr>
            <a:r>
              <a:rPr lang="en-US" sz="1050" b="1" dirty="0">
                <a:solidFill>
                  <a:srgbClr val="F5A623"/>
                </a:solidFill>
                <a:latin typeface="Arial" pitchFamily="34" charset="0"/>
                <a:ea typeface="Arial" pitchFamily="34" charset="-122"/>
                <a:cs typeface="Arial" pitchFamily="34" charset="-120"/>
              </a:rPr>
              <a:t>Rewrote + CTA</a:t>
            </a:r>
            <a:endParaRPr lang="en-US" sz="1050" dirty="0"/>
          </a:p>
        </p:txBody>
      </p:sp>
      <p:sp>
        <p:nvSpPr>
          <p:cNvPr id="59" name="Text 55"/>
          <p:cNvSpPr/>
          <p:nvPr/>
        </p:nvSpPr>
        <p:spPr>
          <a:xfrm>
            <a:off x="4709160" y="4572000"/>
            <a:ext cx="3931920" cy="182880"/>
          </a:xfrm>
          <a:prstGeom prst="rect">
            <a:avLst/>
          </a:prstGeom>
          <a:noFill/>
          <a:ln/>
        </p:spPr>
        <p:txBody>
          <a:bodyPr wrap="square" lIns="0" tIns="0" rIns="0" bIns="0" rtlCol="0" anchor="ctr"/>
          <a:lstStyle/>
          <a:p>
            <a:pPr marL="0" indent="0" algn="ctr">
              <a:buNone/>
            </a:pPr>
            <a:r>
              <a:rPr lang="en-US" sz="900" i="1" dirty="0">
                <a:solidFill>
                  <a:srgbClr val="D4870A"/>
                </a:solidFill>
                <a:latin typeface="Arial" pitchFamily="34" charset="0"/>
                <a:ea typeface="Arial" pitchFamily="34" charset="-122"/>
                <a:cs typeface="Arial" pitchFamily="34" charset="-120"/>
              </a:rPr>
              <a:t>All titles ≤60 chars  |  All descriptions ≤160 chars  |  Focus keyword in every title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8E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457200"/>
          </a:xfrm>
          <a:prstGeom prst="rect">
            <a:avLst/>
          </a:prstGeom>
          <a:noFill/>
          <a:ln/>
        </p:spPr>
        <p:txBody>
          <a:bodyPr wrap="square" lIns="0" tIns="0" rIns="0" bIns="0" rtlCol="0" anchor="ctr"/>
          <a:lstStyle/>
          <a:p>
            <a:pPr marL="0" indent="0" algn="l">
              <a:buNone/>
            </a:pPr>
            <a:r>
              <a:rPr lang="en-US" sz="2600" b="1" dirty="0">
                <a:solidFill>
                  <a:srgbClr val="B8860B"/>
                </a:solidFill>
                <a:latin typeface="Arial" pitchFamily="34" charset="0"/>
                <a:ea typeface="Arial" pitchFamily="34" charset="-122"/>
                <a:cs typeface="Arial" pitchFamily="34" charset="-120"/>
              </a:rPr>
              <a:t>Keyword Strategy &amp; Blog Content</a:t>
            </a:r>
            <a:endParaRPr lang="en-US" sz="2600" dirty="0"/>
          </a:p>
        </p:txBody>
      </p:sp>
      <p:sp>
        <p:nvSpPr>
          <p:cNvPr id="3" name="Shape 1"/>
          <p:cNvSpPr/>
          <p:nvPr/>
        </p:nvSpPr>
        <p:spPr>
          <a:xfrm>
            <a:off x="457200" y="685800"/>
            <a:ext cx="8229600" cy="22860"/>
          </a:xfrm>
          <a:prstGeom prst="rect">
            <a:avLst/>
          </a:prstGeom>
          <a:solidFill>
            <a:srgbClr val="D4870A"/>
          </a:solidFill>
          <a:ln w="12700">
            <a:solidFill>
              <a:srgbClr val="FFFFFF">
                <a:alpha val="0"/>
              </a:srgbClr>
            </a:solidFill>
            <a:prstDash val="solid"/>
          </a:ln>
        </p:spPr>
      </p:sp>
      <p:sp>
        <p:nvSpPr>
          <p:cNvPr id="4" name="Text 2"/>
          <p:cNvSpPr/>
          <p:nvPr/>
        </p:nvSpPr>
        <p:spPr>
          <a:xfrm>
            <a:off x="457200" y="804672"/>
            <a:ext cx="4023360" cy="320040"/>
          </a:xfrm>
          <a:prstGeom prst="rect">
            <a:avLst/>
          </a:prstGeom>
          <a:noFill/>
          <a:ln/>
        </p:spPr>
        <p:txBody>
          <a:bodyPr wrap="square" lIns="0" tIns="0" rIns="0" bIns="0" rtlCol="0" anchor="ctr"/>
          <a:lstStyle/>
          <a:p>
            <a:pPr marL="0" indent="0">
              <a:buNone/>
            </a:pPr>
            <a:r>
              <a:rPr lang="en-US" sz="1300" b="1" dirty="0">
                <a:solidFill>
                  <a:srgbClr val="B8860B"/>
                </a:solidFill>
                <a:latin typeface="Arial" pitchFamily="34" charset="0"/>
                <a:ea typeface="Arial" pitchFamily="34" charset="-122"/>
                <a:cs typeface="Arial" pitchFamily="34" charset="-120"/>
              </a:rPr>
              <a:t>Keyword Matrix</a:t>
            </a:r>
            <a:endParaRPr lang="en-US" sz="1300" dirty="0"/>
          </a:p>
        </p:txBody>
      </p:sp>
      <p:sp>
        <p:nvSpPr>
          <p:cNvPr id="5" name="Shape 3"/>
          <p:cNvSpPr/>
          <p:nvPr/>
        </p:nvSpPr>
        <p:spPr>
          <a:xfrm>
            <a:off x="411480" y="1143000"/>
            <a:ext cx="2103120" cy="292608"/>
          </a:xfrm>
          <a:prstGeom prst="rect">
            <a:avLst/>
          </a:prstGeom>
          <a:solidFill>
            <a:srgbClr val="1C1200"/>
          </a:solidFill>
          <a:ln w="12700">
            <a:solidFill>
              <a:srgbClr val="FFFFFF">
                <a:alpha val="0"/>
              </a:srgbClr>
            </a:solidFill>
            <a:prstDash val="solid"/>
          </a:ln>
        </p:spPr>
      </p:sp>
      <p:sp>
        <p:nvSpPr>
          <p:cNvPr id="6" name="Text 4"/>
          <p:cNvSpPr/>
          <p:nvPr/>
        </p:nvSpPr>
        <p:spPr>
          <a:xfrm>
            <a:off x="411480" y="1143000"/>
            <a:ext cx="2103120" cy="292608"/>
          </a:xfrm>
          <a:prstGeom prst="rect">
            <a:avLst/>
          </a:prstGeom>
          <a:noFill/>
          <a:ln/>
        </p:spPr>
        <p:txBody>
          <a:bodyPr wrap="square" lIns="0" tIns="0" rIns="0" bIns="0" rtlCol="0" anchor="ctr"/>
          <a:lstStyle/>
          <a:p>
            <a:pPr marL="0" indent="0" algn="ctr">
              <a:buNone/>
            </a:pPr>
            <a:r>
              <a:rPr lang="en-US" sz="950" b="1" dirty="0">
                <a:solidFill>
                  <a:srgbClr val="F5A623"/>
                </a:solidFill>
                <a:latin typeface="Arial" pitchFamily="34" charset="0"/>
                <a:ea typeface="Arial" pitchFamily="34" charset="-122"/>
                <a:cs typeface="Arial" pitchFamily="34" charset="-120"/>
              </a:rPr>
              <a:t>Keyword</a:t>
            </a:r>
            <a:endParaRPr lang="en-US" sz="950" dirty="0"/>
          </a:p>
        </p:txBody>
      </p:sp>
      <p:sp>
        <p:nvSpPr>
          <p:cNvPr id="7" name="Shape 5"/>
          <p:cNvSpPr/>
          <p:nvPr/>
        </p:nvSpPr>
        <p:spPr>
          <a:xfrm>
            <a:off x="2560320" y="1143000"/>
            <a:ext cx="914400" cy="292608"/>
          </a:xfrm>
          <a:prstGeom prst="rect">
            <a:avLst/>
          </a:prstGeom>
          <a:solidFill>
            <a:srgbClr val="1C1200"/>
          </a:solidFill>
          <a:ln w="12700">
            <a:solidFill>
              <a:srgbClr val="FFFFFF">
                <a:alpha val="0"/>
              </a:srgbClr>
            </a:solidFill>
            <a:prstDash val="solid"/>
          </a:ln>
        </p:spPr>
      </p:sp>
      <p:sp>
        <p:nvSpPr>
          <p:cNvPr id="8" name="Text 6"/>
          <p:cNvSpPr/>
          <p:nvPr/>
        </p:nvSpPr>
        <p:spPr>
          <a:xfrm>
            <a:off x="2560320" y="1143000"/>
            <a:ext cx="914400" cy="292608"/>
          </a:xfrm>
          <a:prstGeom prst="rect">
            <a:avLst/>
          </a:prstGeom>
          <a:noFill/>
          <a:ln/>
        </p:spPr>
        <p:txBody>
          <a:bodyPr wrap="square" lIns="0" tIns="0" rIns="0" bIns="0" rtlCol="0" anchor="ctr"/>
          <a:lstStyle/>
          <a:p>
            <a:pPr marL="0" indent="0" algn="ctr">
              <a:buNone/>
            </a:pPr>
            <a:r>
              <a:rPr lang="en-US" sz="950" b="1" dirty="0">
                <a:solidFill>
                  <a:srgbClr val="F5A623"/>
                </a:solidFill>
                <a:latin typeface="Arial" pitchFamily="34" charset="0"/>
                <a:ea typeface="Arial" pitchFamily="34" charset="-122"/>
                <a:cs typeface="Arial" pitchFamily="34" charset="-120"/>
              </a:rPr>
              <a:t>Vol (AU/mo)</a:t>
            </a:r>
            <a:endParaRPr lang="en-US" sz="950" dirty="0"/>
          </a:p>
        </p:txBody>
      </p:sp>
      <p:sp>
        <p:nvSpPr>
          <p:cNvPr id="9" name="Shape 7"/>
          <p:cNvSpPr/>
          <p:nvPr/>
        </p:nvSpPr>
        <p:spPr>
          <a:xfrm>
            <a:off x="3520440" y="1143000"/>
            <a:ext cx="1005840" cy="292608"/>
          </a:xfrm>
          <a:prstGeom prst="rect">
            <a:avLst/>
          </a:prstGeom>
          <a:solidFill>
            <a:srgbClr val="1C1200"/>
          </a:solidFill>
          <a:ln w="12700">
            <a:solidFill>
              <a:srgbClr val="FFFFFF">
                <a:alpha val="0"/>
              </a:srgbClr>
            </a:solidFill>
            <a:prstDash val="solid"/>
          </a:ln>
        </p:spPr>
      </p:sp>
      <p:sp>
        <p:nvSpPr>
          <p:cNvPr id="10" name="Text 8"/>
          <p:cNvSpPr/>
          <p:nvPr/>
        </p:nvSpPr>
        <p:spPr>
          <a:xfrm>
            <a:off x="3520440" y="1143000"/>
            <a:ext cx="1005840" cy="292608"/>
          </a:xfrm>
          <a:prstGeom prst="rect">
            <a:avLst/>
          </a:prstGeom>
          <a:noFill/>
          <a:ln/>
        </p:spPr>
        <p:txBody>
          <a:bodyPr wrap="square" lIns="0" tIns="0" rIns="0" bIns="0" rtlCol="0" anchor="ctr"/>
          <a:lstStyle/>
          <a:p>
            <a:pPr marL="0" indent="0" algn="ctr">
              <a:buNone/>
            </a:pPr>
            <a:r>
              <a:rPr lang="en-US" sz="950" b="1" dirty="0">
                <a:solidFill>
                  <a:srgbClr val="F5A623"/>
                </a:solidFill>
                <a:latin typeface="Arial" pitchFamily="34" charset="0"/>
                <a:ea typeface="Arial" pitchFamily="34" charset="-122"/>
                <a:cs typeface="Arial" pitchFamily="34" charset="-120"/>
              </a:rPr>
              <a:t>Target Page</a:t>
            </a:r>
            <a:endParaRPr lang="en-US" sz="950" dirty="0"/>
          </a:p>
        </p:txBody>
      </p:sp>
      <p:sp>
        <p:nvSpPr>
          <p:cNvPr id="11" name="Shape 9"/>
          <p:cNvSpPr/>
          <p:nvPr/>
        </p:nvSpPr>
        <p:spPr>
          <a:xfrm>
            <a:off x="411480" y="1463040"/>
            <a:ext cx="2103120" cy="347472"/>
          </a:xfrm>
          <a:prstGeom prst="rect">
            <a:avLst/>
          </a:prstGeom>
          <a:solidFill>
            <a:srgbClr val="FFFDF5"/>
          </a:solidFill>
          <a:ln w="6350">
            <a:solidFill>
              <a:srgbClr val="E0C060"/>
            </a:solidFill>
            <a:prstDash val="solid"/>
          </a:ln>
        </p:spPr>
      </p:sp>
      <p:sp>
        <p:nvSpPr>
          <p:cNvPr id="12" name="Text 10"/>
          <p:cNvSpPr/>
          <p:nvPr/>
        </p:nvSpPr>
        <p:spPr>
          <a:xfrm>
            <a:off x="457200" y="1463040"/>
            <a:ext cx="2011680" cy="347472"/>
          </a:xfrm>
          <a:prstGeom prst="rect">
            <a:avLst/>
          </a:prstGeom>
          <a:noFill/>
          <a:ln/>
        </p:spPr>
        <p:txBody>
          <a:bodyPr wrap="square" lIns="0" tIns="0" rIns="0" bIns="0" rtlCol="0" anchor="ctr"/>
          <a:lstStyle/>
          <a:p>
            <a:pPr marL="0" indent="0" algn="ctr">
              <a:buNone/>
            </a:pPr>
            <a:r>
              <a:rPr lang="en-US" sz="1000" dirty="0">
                <a:solidFill>
                  <a:srgbClr val="1A1200"/>
                </a:solidFill>
                <a:latin typeface="Arial" pitchFamily="34" charset="0"/>
                <a:ea typeface="Arial" pitchFamily="34" charset="-122"/>
                <a:cs typeface="Arial" pitchFamily="34" charset="-120"/>
              </a:rPr>
              <a:t>beekeeping courses Adelaide</a:t>
            </a:r>
            <a:endParaRPr lang="en-US" sz="1000" dirty="0"/>
          </a:p>
        </p:txBody>
      </p:sp>
      <p:sp>
        <p:nvSpPr>
          <p:cNvPr id="13" name="Shape 11"/>
          <p:cNvSpPr/>
          <p:nvPr/>
        </p:nvSpPr>
        <p:spPr>
          <a:xfrm>
            <a:off x="2560320" y="1463040"/>
            <a:ext cx="914400" cy="347472"/>
          </a:xfrm>
          <a:prstGeom prst="rect">
            <a:avLst/>
          </a:prstGeom>
          <a:solidFill>
            <a:srgbClr val="FFFDF5"/>
          </a:solidFill>
          <a:ln w="6350">
            <a:solidFill>
              <a:srgbClr val="E0C060"/>
            </a:solidFill>
            <a:prstDash val="solid"/>
          </a:ln>
        </p:spPr>
      </p:sp>
      <p:sp>
        <p:nvSpPr>
          <p:cNvPr id="14" name="Text 12"/>
          <p:cNvSpPr/>
          <p:nvPr/>
        </p:nvSpPr>
        <p:spPr>
          <a:xfrm>
            <a:off x="2606040" y="1463040"/>
            <a:ext cx="822960" cy="347472"/>
          </a:xfrm>
          <a:prstGeom prst="rect">
            <a:avLst/>
          </a:prstGeom>
          <a:noFill/>
          <a:ln/>
        </p:spPr>
        <p:txBody>
          <a:bodyPr wrap="square" lIns="0" tIns="0" rIns="0" bIns="0" rtlCol="0" anchor="ctr"/>
          <a:lstStyle/>
          <a:p>
            <a:pPr marL="0" indent="0" algn="ctr">
              <a:buNone/>
            </a:pPr>
            <a:r>
              <a:rPr lang="en-US" sz="1000" dirty="0">
                <a:solidFill>
                  <a:srgbClr val="1A1200"/>
                </a:solidFill>
                <a:latin typeface="Arial" pitchFamily="34" charset="0"/>
                <a:ea typeface="Arial" pitchFamily="34" charset="-122"/>
                <a:cs typeface="Arial" pitchFamily="34" charset="-120"/>
              </a:rPr>
              <a:t>90–140</a:t>
            </a:r>
            <a:endParaRPr lang="en-US" sz="1000" dirty="0"/>
          </a:p>
        </p:txBody>
      </p:sp>
      <p:sp>
        <p:nvSpPr>
          <p:cNvPr id="15" name="Shape 13"/>
          <p:cNvSpPr/>
          <p:nvPr/>
        </p:nvSpPr>
        <p:spPr>
          <a:xfrm>
            <a:off x="3520440" y="1463040"/>
            <a:ext cx="1005840" cy="347472"/>
          </a:xfrm>
          <a:prstGeom prst="rect">
            <a:avLst/>
          </a:prstGeom>
          <a:solidFill>
            <a:srgbClr val="FFFDF5"/>
          </a:solidFill>
          <a:ln w="6350">
            <a:solidFill>
              <a:srgbClr val="E0C060"/>
            </a:solidFill>
            <a:prstDash val="solid"/>
          </a:ln>
        </p:spPr>
      </p:sp>
      <p:sp>
        <p:nvSpPr>
          <p:cNvPr id="16" name="Text 14"/>
          <p:cNvSpPr/>
          <p:nvPr/>
        </p:nvSpPr>
        <p:spPr>
          <a:xfrm>
            <a:off x="3566160" y="1463040"/>
            <a:ext cx="914400" cy="347472"/>
          </a:xfrm>
          <a:prstGeom prst="rect">
            <a:avLst/>
          </a:prstGeom>
          <a:noFill/>
          <a:ln/>
        </p:spPr>
        <p:txBody>
          <a:bodyPr wrap="square" lIns="0" tIns="0" rIns="0" bIns="0" rtlCol="0" anchor="ctr"/>
          <a:lstStyle/>
          <a:p>
            <a:pPr marL="0" indent="0" algn="ctr">
              <a:buNone/>
            </a:pPr>
            <a:r>
              <a:rPr lang="en-US" sz="1000" dirty="0">
                <a:solidFill>
                  <a:srgbClr val="1A1200"/>
                </a:solidFill>
                <a:latin typeface="Arial" pitchFamily="34" charset="0"/>
                <a:ea typeface="Arial" pitchFamily="34" charset="-122"/>
                <a:cs typeface="Arial" pitchFamily="34" charset="-120"/>
              </a:rPr>
              <a:t>Home / Courses</a:t>
            </a:r>
            <a:endParaRPr lang="en-US" sz="1000" dirty="0"/>
          </a:p>
        </p:txBody>
      </p:sp>
      <p:sp>
        <p:nvSpPr>
          <p:cNvPr id="17" name="Shape 15"/>
          <p:cNvSpPr/>
          <p:nvPr/>
        </p:nvSpPr>
        <p:spPr>
          <a:xfrm>
            <a:off x="411480" y="1837944"/>
            <a:ext cx="2103120" cy="347472"/>
          </a:xfrm>
          <a:prstGeom prst="rect">
            <a:avLst/>
          </a:prstGeom>
          <a:solidFill>
            <a:srgbClr val="FFFFFF"/>
          </a:solidFill>
          <a:ln w="6350">
            <a:solidFill>
              <a:srgbClr val="E0C060"/>
            </a:solidFill>
            <a:prstDash val="solid"/>
          </a:ln>
        </p:spPr>
      </p:sp>
      <p:sp>
        <p:nvSpPr>
          <p:cNvPr id="18" name="Text 16"/>
          <p:cNvSpPr/>
          <p:nvPr/>
        </p:nvSpPr>
        <p:spPr>
          <a:xfrm>
            <a:off x="457200" y="1837944"/>
            <a:ext cx="2011680" cy="347472"/>
          </a:xfrm>
          <a:prstGeom prst="rect">
            <a:avLst/>
          </a:prstGeom>
          <a:noFill/>
          <a:ln/>
        </p:spPr>
        <p:txBody>
          <a:bodyPr wrap="square" lIns="0" tIns="0" rIns="0" bIns="0" rtlCol="0" anchor="ctr"/>
          <a:lstStyle/>
          <a:p>
            <a:pPr marL="0" indent="0" algn="ctr">
              <a:buNone/>
            </a:pPr>
            <a:r>
              <a:rPr lang="en-US" sz="1000" dirty="0">
                <a:solidFill>
                  <a:srgbClr val="1A1200"/>
                </a:solidFill>
                <a:latin typeface="Arial" pitchFamily="34" charset="0"/>
                <a:ea typeface="Arial" pitchFamily="34" charset="-122"/>
                <a:cs typeface="Arial" pitchFamily="34" charset="-120"/>
              </a:rPr>
              <a:t>raw honey South Australia</a:t>
            </a:r>
            <a:endParaRPr lang="en-US" sz="1000" dirty="0"/>
          </a:p>
        </p:txBody>
      </p:sp>
      <p:sp>
        <p:nvSpPr>
          <p:cNvPr id="19" name="Shape 17"/>
          <p:cNvSpPr/>
          <p:nvPr/>
        </p:nvSpPr>
        <p:spPr>
          <a:xfrm>
            <a:off x="2560320" y="1837944"/>
            <a:ext cx="914400" cy="347472"/>
          </a:xfrm>
          <a:prstGeom prst="rect">
            <a:avLst/>
          </a:prstGeom>
          <a:solidFill>
            <a:srgbClr val="FFFFFF"/>
          </a:solidFill>
          <a:ln w="6350">
            <a:solidFill>
              <a:srgbClr val="E0C060"/>
            </a:solidFill>
            <a:prstDash val="solid"/>
          </a:ln>
        </p:spPr>
      </p:sp>
      <p:sp>
        <p:nvSpPr>
          <p:cNvPr id="20" name="Text 18"/>
          <p:cNvSpPr/>
          <p:nvPr/>
        </p:nvSpPr>
        <p:spPr>
          <a:xfrm>
            <a:off x="2606040" y="1837944"/>
            <a:ext cx="822960" cy="347472"/>
          </a:xfrm>
          <a:prstGeom prst="rect">
            <a:avLst/>
          </a:prstGeom>
          <a:noFill/>
          <a:ln/>
        </p:spPr>
        <p:txBody>
          <a:bodyPr wrap="square" lIns="0" tIns="0" rIns="0" bIns="0" rtlCol="0" anchor="ctr"/>
          <a:lstStyle/>
          <a:p>
            <a:pPr marL="0" indent="0" algn="ctr">
              <a:buNone/>
            </a:pPr>
            <a:r>
              <a:rPr lang="en-US" sz="1000" dirty="0">
                <a:solidFill>
                  <a:srgbClr val="1A1200"/>
                </a:solidFill>
                <a:latin typeface="Arial" pitchFamily="34" charset="0"/>
                <a:ea typeface="Arial" pitchFamily="34" charset="-122"/>
                <a:cs typeface="Arial" pitchFamily="34" charset="-120"/>
              </a:rPr>
              <a:t>140–200</a:t>
            </a:r>
            <a:endParaRPr lang="en-US" sz="1000" dirty="0"/>
          </a:p>
        </p:txBody>
      </p:sp>
      <p:sp>
        <p:nvSpPr>
          <p:cNvPr id="21" name="Shape 19"/>
          <p:cNvSpPr/>
          <p:nvPr/>
        </p:nvSpPr>
        <p:spPr>
          <a:xfrm>
            <a:off x="3520440" y="1837944"/>
            <a:ext cx="1005840" cy="347472"/>
          </a:xfrm>
          <a:prstGeom prst="rect">
            <a:avLst/>
          </a:prstGeom>
          <a:solidFill>
            <a:srgbClr val="FFFFFF"/>
          </a:solidFill>
          <a:ln w="6350">
            <a:solidFill>
              <a:srgbClr val="E0C060"/>
            </a:solidFill>
            <a:prstDash val="solid"/>
          </a:ln>
        </p:spPr>
      </p:sp>
      <p:sp>
        <p:nvSpPr>
          <p:cNvPr id="22" name="Text 20"/>
          <p:cNvSpPr/>
          <p:nvPr/>
        </p:nvSpPr>
        <p:spPr>
          <a:xfrm>
            <a:off x="3566160" y="1837944"/>
            <a:ext cx="914400" cy="347472"/>
          </a:xfrm>
          <a:prstGeom prst="rect">
            <a:avLst/>
          </a:prstGeom>
          <a:noFill/>
          <a:ln/>
        </p:spPr>
        <p:txBody>
          <a:bodyPr wrap="square" lIns="0" tIns="0" rIns="0" bIns="0" rtlCol="0" anchor="ctr"/>
          <a:lstStyle/>
          <a:p>
            <a:pPr marL="0" indent="0" algn="ctr">
              <a:buNone/>
            </a:pPr>
            <a:r>
              <a:rPr lang="en-US" sz="1000" dirty="0">
                <a:solidFill>
                  <a:srgbClr val="1A1200"/>
                </a:solidFill>
                <a:latin typeface="Arial" pitchFamily="34" charset="0"/>
                <a:ea typeface="Arial" pitchFamily="34" charset="-122"/>
                <a:cs typeface="Arial" pitchFamily="34" charset="-120"/>
              </a:rPr>
              <a:t>Shop</a:t>
            </a:r>
            <a:endParaRPr lang="en-US" sz="1000" dirty="0"/>
          </a:p>
        </p:txBody>
      </p:sp>
      <p:sp>
        <p:nvSpPr>
          <p:cNvPr id="23" name="Shape 21"/>
          <p:cNvSpPr/>
          <p:nvPr/>
        </p:nvSpPr>
        <p:spPr>
          <a:xfrm>
            <a:off x="411480" y="2212848"/>
            <a:ext cx="2103120" cy="347472"/>
          </a:xfrm>
          <a:prstGeom prst="rect">
            <a:avLst/>
          </a:prstGeom>
          <a:solidFill>
            <a:srgbClr val="FFFDF5"/>
          </a:solidFill>
          <a:ln w="6350">
            <a:solidFill>
              <a:srgbClr val="E0C060"/>
            </a:solidFill>
            <a:prstDash val="solid"/>
          </a:ln>
        </p:spPr>
      </p:sp>
      <p:sp>
        <p:nvSpPr>
          <p:cNvPr id="24" name="Text 22"/>
          <p:cNvSpPr/>
          <p:nvPr/>
        </p:nvSpPr>
        <p:spPr>
          <a:xfrm>
            <a:off x="457200" y="2212848"/>
            <a:ext cx="2011680" cy="347472"/>
          </a:xfrm>
          <a:prstGeom prst="rect">
            <a:avLst/>
          </a:prstGeom>
          <a:noFill/>
          <a:ln/>
        </p:spPr>
        <p:txBody>
          <a:bodyPr wrap="square" lIns="0" tIns="0" rIns="0" bIns="0" rtlCol="0" anchor="ctr"/>
          <a:lstStyle/>
          <a:p>
            <a:pPr marL="0" indent="0" algn="ctr">
              <a:buNone/>
            </a:pPr>
            <a:r>
              <a:rPr lang="en-US" sz="1000" dirty="0">
                <a:solidFill>
                  <a:srgbClr val="1A1200"/>
                </a:solidFill>
                <a:latin typeface="Arial" pitchFamily="34" charset="0"/>
                <a:ea typeface="Arial" pitchFamily="34" charset="-122"/>
                <a:cs typeface="Arial" pitchFamily="34" charset="-120"/>
              </a:rPr>
              <a:t>varroa mite Australia 2026</a:t>
            </a:r>
            <a:endParaRPr lang="en-US" sz="1000" dirty="0"/>
          </a:p>
        </p:txBody>
      </p:sp>
      <p:sp>
        <p:nvSpPr>
          <p:cNvPr id="25" name="Shape 23"/>
          <p:cNvSpPr/>
          <p:nvPr/>
        </p:nvSpPr>
        <p:spPr>
          <a:xfrm>
            <a:off x="2560320" y="2212848"/>
            <a:ext cx="914400" cy="347472"/>
          </a:xfrm>
          <a:prstGeom prst="rect">
            <a:avLst/>
          </a:prstGeom>
          <a:solidFill>
            <a:srgbClr val="FFFDF5"/>
          </a:solidFill>
          <a:ln w="6350">
            <a:solidFill>
              <a:srgbClr val="E0C060"/>
            </a:solidFill>
            <a:prstDash val="solid"/>
          </a:ln>
        </p:spPr>
      </p:sp>
      <p:sp>
        <p:nvSpPr>
          <p:cNvPr id="26" name="Text 24"/>
          <p:cNvSpPr/>
          <p:nvPr/>
        </p:nvSpPr>
        <p:spPr>
          <a:xfrm>
            <a:off x="2606040" y="2212848"/>
            <a:ext cx="822960" cy="347472"/>
          </a:xfrm>
          <a:prstGeom prst="rect">
            <a:avLst/>
          </a:prstGeom>
          <a:noFill/>
          <a:ln/>
        </p:spPr>
        <p:txBody>
          <a:bodyPr wrap="square" lIns="0" tIns="0" rIns="0" bIns="0" rtlCol="0" anchor="ctr"/>
          <a:lstStyle/>
          <a:p>
            <a:pPr marL="0" indent="0" algn="ctr">
              <a:buNone/>
            </a:pPr>
            <a:r>
              <a:rPr lang="en-US" sz="1000" dirty="0">
                <a:solidFill>
                  <a:srgbClr val="1A1200"/>
                </a:solidFill>
                <a:latin typeface="Arial" pitchFamily="34" charset="0"/>
                <a:ea typeface="Arial" pitchFamily="34" charset="-122"/>
                <a:cs typeface="Arial" pitchFamily="34" charset="-120"/>
              </a:rPr>
              <a:t>300–500</a:t>
            </a:r>
            <a:endParaRPr lang="en-US" sz="1000" dirty="0"/>
          </a:p>
        </p:txBody>
      </p:sp>
      <p:sp>
        <p:nvSpPr>
          <p:cNvPr id="27" name="Shape 25"/>
          <p:cNvSpPr/>
          <p:nvPr/>
        </p:nvSpPr>
        <p:spPr>
          <a:xfrm>
            <a:off x="3520440" y="2212848"/>
            <a:ext cx="1005840" cy="347472"/>
          </a:xfrm>
          <a:prstGeom prst="rect">
            <a:avLst/>
          </a:prstGeom>
          <a:solidFill>
            <a:srgbClr val="FFFDF5"/>
          </a:solidFill>
          <a:ln w="6350">
            <a:solidFill>
              <a:srgbClr val="E0C060"/>
            </a:solidFill>
            <a:prstDash val="solid"/>
          </a:ln>
        </p:spPr>
      </p:sp>
      <p:sp>
        <p:nvSpPr>
          <p:cNvPr id="28" name="Text 26"/>
          <p:cNvSpPr/>
          <p:nvPr/>
        </p:nvSpPr>
        <p:spPr>
          <a:xfrm>
            <a:off x="3566160" y="2212848"/>
            <a:ext cx="914400" cy="347472"/>
          </a:xfrm>
          <a:prstGeom prst="rect">
            <a:avLst/>
          </a:prstGeom>
          <a:noFill/>
          <a:ln/>
        </p:spPr>
        <p:txBody>
          <a:bodyPr wrap="square" lIns="0" tIns="0" rIns="0" bIns="0" rtlCol="0" anchor="ctr"/>
          <a:lstStyle/>
          <a:p>
            <a:pPr marL="0" indent="0" algn="ctr">
              <a:buNone/>
            </a:pPr>
            <a:r>
              <a:rPr lang="en-US" sz="1000" dirty="0">
                <a:solidFill>
                  <a:srgbClr val="1A1200"/>
                </a:solidFill>
                <a:latin typeface="Arial" pitchFamily="34" charset="0"/>
                <a:ea typeface="Arial" pitchFamily="34" charset="-122"/>
                <a:cs typeface="Arial" pitchFamily="34" charset="-120"/>
              </a:rPr>
              <a:t>Blog Post 1</a:t>
            </a:r>
            <a:endParaRPr lang="en-US" sz="1000" dirty="0"/>
          </a:p>
        </p:txBody>
      </p:sp>
      <p:sp>
        <p:nvSpPr>
          <p:cNvPr id="29" name="Shape 27"/>
          <p:cNvSpPr/>
          <p:nvPr/>
        </p:nvSpPr>
        <p:spPr>
          <a:xfrm>
            <a:off x="411480" y="2587752"/>
            <a:ext cx="2103120" cy="347472"/>
          </a:xfrm>
          <a:prstGeom prst="rect">
            <a:avLst/>
          </a:prstGeom>
          <a:solidFill>
            <a:srgbClr val="FFFFFF"/>
          </a:solidFill>
          <a:ln w="6350">
            <a:solidFill>
              <a:srgbClr val="E0C060"/>
            </a:solidFill>
            <a:prstDash val="solid"/>
          </a:ln>
        </p:spPr>
      </p:sp>
      <p:sp>
        <p:nvSpPr>
          <p:cNvPr id="30" name="Text 28"/>
          <p:cNvSpPr/>
          <p:nvPr/>
        </p:nvSpPr>
        <p:spPr>
          <a:xfrm>
            <a:off x="457200" y="2587752"/>
            <a:ext cx="2011680" cy="347472"/>
          </a:xfrm>
          <a:prstGeom prst="rect">
            <a:avLst/>
          </a:prstGeom>
          <a:noFill/>
          <a:ln/>
        </p:spPr>
        <p:txBody>
          <a:bodyPr wrap="square" lIns="0" tIns="0" rIns="0" bIns="0" rtlCol="0" anchor="ctr"/>
          <a:lstStyle/>
          <a:p>
            <a:pPr marL="0" indent="0" algn="ctr">
              <a:buNone/>
            </a:pPr>
            <a:r>
              <a:rPr lang="en-US" sz="1000" dirty="0">
                <a:solidFill>
                  <a:srgbClr val="1A1200"/>
                </a:solidFill>
                <a:latin typeface="Arial" pitchFamily="34" charset="0"/>
                <a:ea typeface="Arial" pitchFamily="34" charset="-122"/>
                <a:cs typeface="Arial" pitchFamily="34" charset="-120"/>
              </a:rPr>
              <a:t>what is raw honey</a:t>
            </a:r>
            <a:endParaRPr lang="en-US" sz="1000" dirty="0"/>
          </a:p>
        </p:txBody>
      </p:sp>
      <p:sp>
        <p:nvSpPr>
          <p:cNvPr id="31" name="Shape 29"/>
          <p:cNvSpPr/>
          <p:nvPr/>
        </p:nvSpPr>
        <p:spPr>
          <a:xfrm>
            <a:off x="2560320" y="2587752"/>
            <a:ext cx="914400" cy="347472"/>
          </a:xfrm>
          <a:prstGeom prst="rect">
            <a:avLst/>
          </a:prstGeom>
          <a:solidFill>
            <a:srgbClr val="FFFFFF"/>
          </a:solidFill>
          <a:ln w="6350">
            <a:solidFill>
              <a:srgbClr val="E0C060"/>
            </a:solidFill>
            <a:prstDash val="solid"/>
          </a:ln>
        </p:spPr>
      </p:sp>
      <p:sp>
        <p:nvSpPr>
          <p:cNvPr id="32" name="Text 30"/>
          <p:cNvSpPr/>
          <p:nvPr/>
        </p:nvSpPr>
        <p:spPr>
          <a:xfrm>
            <a:off x="2606040" y="2587752"/>
            <a:ext cx="822960" cy="347472"/>
          </a:xfrm>
          <a:prstGeom prst="rect">
            <a:avLst/>
          </a:prstGeom>
          <a:noFill/>
          <a:ln/>
        </p:spPr>
        <p:txBody>
          <a:bodyPr wrap="square" lIns="0" tIns="0" rIns="0" bIns="0" rtlCol="0" anchor="ctr"/>
          <a:lstStyle/>
          <a:p>
            <a:pPr marL="0" indent="0" algn="ctr">
              <a:buNone/>
            </a:pPr>
            <a:r>
              <a:rPr lang="en-US" sz="1000" dirty="0">
                <a:solidFill>
                  <a:srgbClr val="1A1200"/>
                </a:solidFill>
                <a:latin typeface="Arial" pitchFamily="34" charset="0"/>
                <a:ea typeface="Arial" pitchFamily="34" charset="-122"/>
                <a:cs typeface="Arial" pitchFamily="34" charset="-120"/>
              </a:rPr>
              <a:t>800+</a:t>
            </a:r>
            <a:endParaRPr lang="en-US" sz="1000" dirty="0"/>
          </a:p>
        </p:txBody>
      </p:sp>
      <p:sp>
        <p:nvSpPr>
          <p:cNvPr id="33" name="Shape 31"/>
          <p:cNvSpPr/>
          <p:nvPr/>
        </p:nvSpPr>
        <p:spPr>
          <a:xfrm>
            <a:off x="3520440" y="2587752"/>
            <a:ext cx="1005840" cy="347472"/>
          </a:xfrm>
          <a:prstGeom prst="rect">
            <a:avLst/>
          </a:prstGeom>
          <a:solidFill>
            <a:srgbClr val="FFFFFF"/>
          </a:solidFill>
          <a:ln w="6350">
            <a:solidFill>
              <a:srgbClr val="E0C060"/>
            </a:solidFill>
            <a:prstDash val="solid"/>
          </a:ln>
        </p:spPr>
      </p:sp>
      <p:sp>
        <p:nvSpPr>
          <p:cNvPr id="34" name="Text 32"/>
          <p:cNvSpPr/>
          <p:nvPr/>
        </p:nvSpPr>
        <p:spPr>
          <a:xfrm>
            <a:off x="3566160" y="2587752"/>
            <a:ext cx="914400" cy="347472"/>
          </a:xfrm>
          <a:prstGeom prst="rect">
            <a:avLst/>
          </a:prstGeom>
          <a:noFill/>
          <a:ln/>
        </p:spPr>
        <p:txBody>
          <a:bodyPr wrap="square" lIns="0" tIns="0" rIns="0" bIns="0" rtlCol="0" anchor="ctr"/>
          <a:lstStyle/>
          <a:p>
            <a:pPr marL="0" indent="0" algn="ctr">
              <a:buNone/>
            </a:pPr>
            <a:r>
              <a:rPr lang="en-US" sz="1000" dirty="0">
                <a:solidFill>
                  <a:srgbClr val="1A1200"/>
                </a:solidFill>
                <a:latin typeface="Arial" pitchFamily="34" charset="0"/>
                <a:ea typeface="Arial" pitchFamily="34" charset="-122"/>
                <a:cs typeface="Arial" pitchFamily="34" charset="-120"/>
              </a:rPr>
              <a:t>Blog Post 2</a:t>
            </a:r>
            <a:endParaRPr lang="en-US" sz="1000" dirty="0"/>
          </a:p>
        </p:txBody>
      </p:sp>
      <p:sp>
        <p:nvSpPr>
          <p:cNvPr id="35" name="Shape 33"/>
          <p:cNvSpPr/>
          <p:nvPr/>
        </p:nvSpPr>
        <p:spPr>
          <a:xfrm>
            <a:off x="411480" y="2962656"/>
            <a:ext cx="2103120" cy="347472"/>
          </a:xfrm>
          <a:prstGeom prst="rect">
            <a:avLst/>
          </a:prstGeom>
          <a:solidFill>
            <a:srgbClr val="FFFDF5"/>
          </a:solidFill>
          <a:ln w="6350">
            <a:solidFill>
              <a:srgbClr val="E0C060"/>
            </a:solidFill>
            <a:prstDash val="solid"/>
          </a:ln>
        </p:spPr>
      </p:sp>
      <p:sp>
        <p:nvSpPr>
          <p:cNvPr id="36" name="Text 34"/>
          <p:cNvSpPr/>
          <p:nvPr/>
        </p:nvSpPr>
        <p:spPr>
          <a:xfrm>
            <a:off x="457200" y="2962656"/>
            <a:ext cx="2011680" cy="347472"/>
          </a:xfrm>
          <a:prstGeom prst="rect">
            <a:avLst/>
          </a:prstGeom>
          <a:noFill/>
          <a:ln/>
        </p:spPr>
        <p:txBody>
          <a:bodyPr wrap="square" lIns="0" tIns="0" rIns="0" bIns="0" rtlCol="0" anchor="ctr"/>
          <a:lstStyle/>
          <a:p>
            <a:pPr marL="0" indent="0" algn="ctr">
              <a:buNone/>
            </a:pPr>
            <a:r>
              <a:rPr lang="en-US" sz="1000" dirty="0">
                <a:solidFill>
                  <a:srgbClr val="1A1200"/>
                </a:solidFill>
                <a:latin typeface="Arial" pitchFamily="34" charset="0"/>
                <a:ea typeface="Arial" pitchFamily="34" charset="-122"/>
                <a:cs typeface="Arial" pitchFamily="34" charset="-120"/>
              </a:rPr>
              <a:t>hive inspection Adelaide</a:t>
            </a:r>
            <a:endParaRPr lang="en-US" sz="1000" dirty="0"/>
          </a:p>
        </p:txBody>
      </p:sp>
      <p:sp>
        <p:nvSpPr>
          <p:cNvPr id="37" name="Shape 35"/>
          <p:cNvSpPr/>
          <p:nvPr/>
        </p:nvSpPr>
        <p:spPr>
          <a:xfrm>
            <a:off x="2560320" y="2962656"/>
            <a:ext cx="914400" cy="347472"/>
          </a:xfrm>
          <a:prstGeom prst="rect">
            <a:avLst/>
          </a:prstGeom>
          <a:solidFill>
            <a:srgbClr val="FFFDF5"/>
          </a:solidFill>
          <a:ln w="6350">
            <a:solidFill>
              <a:srgbClr val="E0C060"/>
            </a:solidFill>
            <a:prstDash val="solid"/>
          </a:ln>
        </p:spPr>
      </p:sp>
      <p:sp>
        <p:nvSpPr>
          <p:cNvPr id="38" name="Text 36"/>
          <p:cNvSpPr/>
          <p:nvPr/>
        </p:nvSpPr>
        <p:spPr>
          <a:xfrm>
            <a:off x="2606040" y="2962656"/>
            <a:ext cx="822960" cy="347472"/>
          </a:xfrm>
          <a:prstGeom prst="rect">
            <a:avLst/>
          </a:prstGeom>
          <a:noFill/>
          <a:ln/>
        </p:spPr>
        <p:txBody>
          <a:bodyPr wrap="square" lIns="0" tIns="0" rIns="0" bIns="0" rtlCol="0" anchor="ctr"/>
          <a:lstStyle/>
          <a:p>
            <a:pPr marL="0" indent="0" algn="ctr">
              <a:buNone/>
            </a:pPr>
            <a:r>
              <a:rPr lang="en-US" sz="1000" dirty="0">
                <a:solidFill>
                  <a:srgbClr val="1A1200"/>
                </a:solidFill>
                <a:latin typeface="Arial" pitchFamily="34" charset="0"/>
                <a:ea typeface="Arial" pitchFamily="34" charset="-122"/>
                <a:cs typeface="Arial" pitchFamily="34" charset="-120"/>
              </a:rPr>
              <a:t>30–60</a:t>
            </a:r>
            <a:endParaRPr lang="en-US" sz="1000" dirty="0"/>
          </a:p>
        </p:txBody>
      </p:sp>
      <p:sp>
        <p:nvSpPr>
          <p:cNvPr id="39" name="Shape 37"/>
          <p:cNvSpPr/>
          <p:nvPr/>
        </p:nvSpPr>
        <p:spPr>
          <a:xfrm>
            <a:off x="3520440" y="2962656"/>
            <a:ext cx="1005840" cy="347472"/>
          </a:xfrm>
          <a:prstGeom prst="rect">
            <a:avLst/>
          </a:prstGeom>
          <a:solidFill>
            <a:srgbClr val="FFFDF5"/>
          </a:solidFill>
          <a:ln w="6350">
            <a:solidFill>
              <a:srgbClr val="E0C060"/>
            </a:solidFill>
            <a:prstDash val="solid"/>
          </a:ln>
        </p:spPr>
      </p:sp>
      <p:sp>
        <p:nvSpPr>
          <p:cNvPr id="40" name="Text 38"/>
          <p:cNvSpPr/>
          <p:nvPr/>
        </p:nvSpPr>
        <p:spPr>
          <a:xfrm>
            <a:off x="3566160" y="2962656"/>
            <a:ext cx="914400" cy="347472"/>
          </a:xfrm>
          <a:prstGeom prst="rect">
            <a:avLst/>
          </a:prstGeom>
          <a:noFill/>
          <a:ln/>
        </p:spPr>
        <p:txBody>
          <a:bodyPr wrap="square" lIns="0" tIns="0" rIns="0" bIns="0" rtlCol="0" anchor="ctr"/>
          <a:lstStyle/>
          <a:p>
            <a:pPr marL="0" indent="0" algn="ctr">
              <a:buNone/>
            </a:pPr>
            <a:r>
              <a:rPr lang="en-US" sz="1000" dirty="0">
                <a:solidFill>
                  <a:srgbClr val="1A1200"/>
                </a:solidFill>
                <a:latin typeface="Arial" pitchFamily="34" charset="0"/>
                <a:ea typeface="Arial" pitchFamily="34" charset="-122"/>
                <a:cs typeface="Arial" pitchFamily="34" charset="-120"/>
              </a:rPr>
              <a:t>Support</a:t>
            </a:r>
            <a:endParaRPr lang="en-US" sz="1000" dirty="0"/>
          </a:p>
        </p:txBody>
      </p:sp>
      <p:sp>
        <p:nvSpPr>
          <p:cNvPr id="41" name="Text 39"/>
          <p:cNvSpPr/>
          <p:nvPr/>
        </p:nvSpPr>
        <p:spPr>
          <a:xfrm>
            <a:off x="411480" y="3364992"/>
            <a:ext cx="4114800" cy="256032"/>
          </a:xfrm>
          <a:prstGeom prst="rect">
            <a:avLst/>
          </a:prstGeom>
          <a:noFill/>
          <a:ln/>
        </p:spPr>
        <p:txBody>
          <a:bodyPr wrap="square" lIns="0" tIns="0" rIns="0" bIns="0" rtlCol="0" anchor="ctr"/>
          <a:lstStyle/>
          <a:p>
            <a:pPr marL="0" indent="0">
              <a:buNone/>
            </a:pPr>
            <a:r>
              <a:rPr lang="en-US" sz="900" i="1" dirty="0">
                <a:solidFill>
                  <a:srgbClr val="888888"/>
                </a:solidFill>
                <a:latin typeface="Arial" pitchFamily="34" charset="0"/>
                <a:ea typeface="Arial" pitchFamily="34" charset="-122"/>
                <a:cs typeface="Arial" pitchFamily="34" charset="-120"/>
              </a:rPr>
              <a:t>Tools: Google Keyword Planner + Ubersuggest + manual autocomplete</a:t>
            </a:r>
            <a:endParaRPr lang="en-US" sz="900" dirty="0"/>
          </a:p>
        </p:txBody>
      </p:sp>
      <p:sp>
        <p:nvSpPr>
          <p:cNvPr id="42" name="Text 40"/>
          <p:cNvSpPr/>
          <p:nvPr/>
        </p:nvSpPr>
        <p:spPr>
          <a:xfrm>
            <a:off x="4663440" y="804672"/>
            <a:ext cx="4023360" cy="320040"/>
          </a:xfrm>
          <a:prstGeom prst="rect">
            <a:avLst/>
          </a:prstGeom>
          <a:noFill/>
          <a:ln/>
        </p:spPr>
        <p:txBody>
          <a:bodyPr wrap="square" lIns="0" tIns="0" rIns="0" bIns="0" rtlCol="0" anchor="ctr"/>
          <a:lstStyle/>
          <a:p>
            <a:pPr marL="0" indent="0">
              <a:buNone/>
            </a:pPr>
            <a:r>
              <a:rPr lang="en-US" sz="1300" b="1" dirty="0">
                <a:solidFill>
                  <a:srgbClr val="B8860B"/>
                </a:solidFill>
                <a:latin typeface="Arial" pitchFamily="34" charset="0"/>
                <a:ea typeface="Arial" pitchFamily="34" charset="-122"/>
                <a:cs typeface="Arial" pitchFamily="34" charset="-120"/>
              </a:rPr>
              <a:t>Blog Posts - SEO Architecture</a:t>
            </a:r>
            <a:endParaRPr lang="en-US" sz="1300" dirty="0"/>
          </a:p>
        </p:txBody>
      </p:sp>
      <p:sp>
        <p:nvSpPr>
          <p:cNvPr id="43" name="Shape 41"/>
          <p:cNvSpPr/>
          <p:nvPr/>
        </p:nvSpPr>
        <p:spPr>
          <a:xfrm>
            <a:off x="4663440" y="1143000"/>
            <a:ext cx="4069080" cy="1645920"/>
          </a:xfrm>
          <a:prstGeom prst="roundRect">
            <a:avLst>
              <a:gd name="adj" fmla="val 5556"/>
            </a:avLst>
          </a:prstGeom>
          <a:solidFill>
            <a:srgbClr val="1C1200"/>
          </a:solidFill>
          <a:ln w="12700">
            <a:solidFill>
              <a:srgbClr val="D4870A"/>
            </a:solidFill>
            <a:prstDash val="solid"/>
          </a:ln>
          <a:effectLst>
            <a:outerShdw blurRad="63500" dist="25400" dir="2700000" algn="bl" rotWithShape="0">
              <a:srgbClr val="000000">
                <a:alpha val="13000"/>
              </a:srgbClr>
            </a:outerShdw>
          </a:effectLst>
        </p:spPr>
      </p:sp>
      <p:sp>
        <p:nvSpPr>
          <p:cNvPr id="44" name="Shape 42"/>
          <p:cNvSpPr/>
          <p:nvPr/>
        </p:nvSpPr>
        <p:spPr>
          <a:xfrm>
            <a:off x="4773168" y="1252728"/>
            <a:ext cx="402336" cy="402336"/>
          </a:xfrm>
          <a:prstGeom prst="ellipse">
            <a:avLst/>
          </a:prstGeom>
          <a:solidFill>
            <a:srgbClr val="D4870A"/>
          </a:solidFill>
          <a:ln w="12700">
            <a:solidFill>
              <a:srgbClr val="FFFFFF">
                <a:alpha val="0"/>
              </a:srgbClr>
            </a:solidFill>
            <a:prstDash val="solid"/>
          </a:ln>
        </p:spPr>
      </p:sp>
      <p:sp>
        <p:nvSpPr>
          <p:cNvPr id="45" name="Text 43"/>
          <p:cNvSpPr/>
          <p:nvPr/>
        </p:nvSpPr>
        <p:spPr>
          <a:xfrm>
            <a:off x="4773168" y="1252728"/>
            <a:ext cx="402336" cy="402336"/>
          </a:xfrm>
          <a:prstGeom prst="rect">
            <a:avLst/>
          </a:prstGeom>
          <a:noFill/>
          <a:ln/>
        </p:spPr>
        <p:txBody>
          <a:bodyPr wrap="square" lIns="0" tIns="0" rIns="0" bIns="0" rtlCol="0" anchor="ctr"/>
          <a:lstStyle/>
          <a:p>
            <a:pPr marL="0" indent="0" algn="ctr">
              <a:buNone/>
            </a:pPr>
            <a:r>
              <a:rPr lang="en-US" sz="1600" b="1" dirty="0">
                <a:solidFill>
                  <a:srgbClr val="1C1200"/>
                </a:solidFill>
                <a:latin typeface="Arial" pitchFamily="34" charset="0"/>
                <a:ea typeface="Arial" pitchFamily="34" charset="-122"/>
                <a:cs typeface="Arial" pitchFamily="34" charset="-120"/>
              </a:rPr>
              <a:t>1</a:t>
            </a:r>
            <a:endParaRPr lang="en-US" sz="1600" dirty="0"/>
          </a:p>
        </p:txBody>
      </p:sp>
      <p:sp>
        <p:nvSpPr>
          <p:cNvPr id="46" name="Text 44"/>
          <p:cNvSpPr/>
          <p:nvPr/>
        </p:nvSpPr>
        <p:spPr>
          <a:xfrm>
            <a:off x="5248656" y="1234440"/>
            <a:ext cx="3383280" cy="347472"/>
          </a:xfrm>
          <a:prstGeom prst="rect">
            <a:avLst/>
          </a:prstGeom>
          <a:noFill/>
          <a:ln/>
        </p:spPr>
        <p:txBody>
          <a:bodyPr wrap="square" lIns="0" tIns="0" rIns="0" bIns="0" rtlCol="0" anchor="ctr"/>
          <a:lstStyle/>
          <a:p>
            <a:pPr marL="0" indent="0">
              <a:buNone/>
            </a:pPr>
            <a:r>
              <a:rPr lang="en-US" sz="1300" b="1" dirty="0">
                <a:solidFill>
                  <a:srgbClr val="F5A623"/>
                </a:solidFill>
                <a:latin typeface="Arial" pitchFamily="34" charset="0"/>
                <a:ea typeface="Arial" pitchFamily="34" charset="-122"/>
                <a:cs typeface="Arial" pitchFamily="34" charset="-120"/>
              </a:rPr>
              <a:t>Varroa Mite in Australia</a:t>
            </a:r>
            <a:endParaRPr lang="en-US" sz="1300" dirty="0"/>
          </a:p>
        </p:txBody>
      </p:sp>
      <p:sp>
        <p:nvSpPr>
          <p:cNvPr id="47" name="Text 45"/>
          <p:cNvSpPr/>
          <p:nvPr/>
        </p:nvSpPr>
        <p:spPr>
          <a:xfrm>
            <a:off x="5248656" y="1563624"/>
            <a:ext cx="3383280" cy="274320"/>
          </a:xfrm>
          <a:prstGeom prst="rect">
            <a:avLst/>
          </a:prstGeom>
          <a:noFill/>
          <a:ln/>
        </p:spPr>
        <p:txBody>
          <a:bodyPr wrap="square" lIns="0" tIns="0" rIns="0" bIns="0" rtlCol="0" anchor="ctr"/>
          <a:lstStyle/>
          <a:p>
            <a:pPr marL="0" indent="0">
              <a:buNone/>
            </a:pPr>
            <a:r>
              <a:rPr lang="en-US" sz="1000" dirty="0">
                <a:solidFill>
                  <a:srgbClr val="D4870A"/>
                </a:solidFill>
                <a:latin typeface="Arial" pitchFamily="34" charset="0"/>
                <a:ea typeface="Arial" pitchFamily="34" charset="-122"/>
                <a:cs typeface="Arial" pitchFamily="34" charset="-120"/>
              </a:rPr>
              <a:t>What Every Beekeeper Needs to Know in 2026</a:t>
            </a:r>
            <a:endParaRPr lang="en-US" sz="1000" dirty="0"/>
          </a:p>
        </p:txBody>
      </p:sp>
      <p:sp>
        <p:nvSpPr>
          <p:cNvPr id="48" name="Text 46"/>
          <p:cNvSpPr/>
          <p:nvPr/>
        </p:nvSpPr>
        <p:spPr>
          <a:xfrm>
            <a:off x="4773168" y="1892808"/>
            <a:ext cx="3840480" cy="822960"/>
          </a:xfrm>
          <a:prstGeom prst="rect">
            <a:avLst/>
          </a:prstGeom>
          <a:noFill/>
          <a:ln/>
        </p:spPr>
        <p:txBody>
          <a:bodyPr wrap="square" rtlCol="0" anchor="t"/>
          <a:lstStyle/>
          <a:p>
            <a:pPr marL="342900" indent="-342900">
              <a:spcAft>
                <a:spcPts val="200"/>
              </a:spcAft>
              <a:buSzPct val="100000"/>
              <a:buChar char="•"/>
            </a:pPr>
            <a:r>
              <a:rPr lang="en-US" sz="1050" dirty="0">
                <a:solidFill>
                  <a:srgbClr val="FFFFFF"/>
                </a:solidFill>
                <a:latin typeface="Arial" pitchFamily="34" charset="0"/>
                <a:ea typeface="Arial" pitchFamily="34" charset="-122"/>
                <a:cs typeface="Arial" pitchFamily="34" charset="-120"/>
              </a:rPr>
              <a:t>Primary KW: varroa mite Australia 2026</a:t>
            </a:r>
            <a:endParaRPr lang="en-US" sz="1050" dirty="0"/>
          </a:p>
          <a:p>
            <a:pPr marL="342900" indent="-342900">
              <a:spcAft>
                <a:spcPts val="200"/>
              </a:spcAft>
              <a:buSzPct val="100000"/>
              <a:buChar char="•"/>
            </a:pPr>
            <a:r>
              <a:rPr lang="en-US" sz="1050" dirty="0">
                <a:solidFill>
                  <a:srgbClr val="FFFFFF"/>
                </a:solidFill>
                <a:latin typeface="Arial" pitchFamily="34" charset="0"/>
                <a:ea typeface="Arial" pitchFamily="34" charset="-122"/>
                <a:cs typeface="Arial" pitchFamily="34" charset="-120"/>
              </a:rPr>
              <a:t>Internal links → Courses &amp; Support pages</a:t>
            </a:r>
            <a:endParaRPr lang="en-US" sz="1050" dirty="0"/>
          </a:p>
          <a:p>
            <a:pPr marL="342900" indent="-342900">
              <a:spcAft>
                <a:spcPts val="200"/>
              </a:spcAft>
              <a:buSzPct val="100000"/>
              <a:buChar char="•"/>
            </a:pPr>
            <a:r>
              <a:rPr lang="en-US" sz="1050" dirty="0">
                <a:solidFill>
                  <a:srgbClr val="FFFFFF"/>
                </a:solidFill>
                <a:latin typeface="Arial" pitchFamily="34" charset="0"/>
                <a:ea typeface="Arial" pitchFamily="34" charset="-122"/>
                <a:cs typeface="Arial" pitchFamily="34" charset="-120"/>
              </a:rPr>
              <a:t>900-1,100 words  |  Grade 8-10 reading level</a:t>
            </a:r>
            <a:endParaRPr lang="en-US" sz="1050" dirty="0"/>
          </a:p>
          <a:p>
            <a:pPr marL="0" indent="0">
              <a:spcAft>
                <a:spcPts val="200"/>
              </a:spcAft>
              <a:buNone/>
            </a:pPr>
            <a:r>
              <a:rPr lang="en-US" sz="1050" b="1" dirty="0">
                <a:solidFill>
                  <a:srgbClr val="FFFFFF"/>
                </a:solidFill>
                <a:latin typeface="Arial" pitchFamily="34" charset="0"/>
                <a:ea typeface="Arial" pitchFamily="34" charset="-122"/>
                <a:cs typeface="Arial" pitchFamily="34" charset="-120"/>
              </a:rPr>
              <a:t>Published: 9 June 2026</a:t>
            </a:r>
            <a:endParaRPr lang="en-US" sz="1050" dirty="0"/>
          </a:p>
        </p:txBody>
      </p:sp>
      <p:sp>
        <p:nvSpPr>
          <p:cNvPr id="49" name="Shape 47"/>
          <p:cNvSpPr/>
          <p:nvPr/>
        </p:nvSpPr>
        <p:spPr>
          <a:xfrm>
            <a:off x="4663440" y="2971800"/>
            <a:ext cx="4069080" cy="1645920"/>
          </a:xfrm>
          <a:prstGeom prst="roundRect">
            <a:avLst>
              <a:gd name="adj" fmla="val 5556"/>
            </a:avLst>
          </a:prstGeom>
          <a:solidFill>
            <a:srgbClr val="1C1200"/>
          </a:solidFill>
          <a:ln w="12700">
            <a:solidFill>
              <a:srgbClr val="D4870A"/>
            </a:solidFill>
            <a:prstDash val="solid"/>
          </a:ln>
          <a:effectLst>
            <a:outerShdw blurRad="63500" dist="25400" dir="2700000" algn="bl" rotWithShape="0">
              <a:srgbClr val="000000">
                <a:alpha val="13000"/>
              </a:srgbClr>
            </a:outerShdw>
          </a:effectLst>
        </p:spPr>
      </p:sp>
      <p:sp>
        <p:nvSpPr>
          <p:cNvPr id="50" name="Shape 48"/>
          <p:cNvSpPr/>
          <p:nvPr/>
        </p:nvSpPr>
        <p:spPr>
          <a:xfrm>
            <a:off x="4773168" y="3081528"/>
            <a:ext cx="402336" cy="402336"/>
          </a:xfrm>
          <a:prstGeom prst="ellipse">
            <a:avLst/>
          </a:prstGeom>
          <a:solidFill>
            <a:srgbClr val="D4870A"/>
          </a:solidFill>
          <a:ln w="12700">
            <a:solidFill>
              <a:srgbClr val="FFFFFF">
                <a:alpha val="0"/>
              </a:srgbClr>
            </a:solidFill>
            <a:prstDash val="solid"/>
          </a:ln>
        </p:spPr>
      </p:sp>
      <p:sp>
        <p:nvSpPr>
          <p:cNvPr id="51" name="Text 49"/>
          <p:cNvSpPr/>
          <p:nvPr/>
        </p:nvSpPr>
        <p:spPr>
          <a:xfrm>
            <a:off x="4773168" y="3081528"/>
            <a:ext cx="402336" cy="402336"/>
          </a:xfrm>
          <a:prstGeom prst="rect">
            <a:avLst/>
          </a:prstGeom>
          <a:noFill/>
          <a:ln/>
        </p:spPr>
        <p:txBody>
          <a:bodyPr wrap="square" lIns="0" tIns="0" rIns="0" bIns="0" rtlCol="0" anchor="ctr"/>
          <a:lstStyle/>
          <a:p>
            <a:pPr marL="0" indent="0" algn="ctr">
              <a:buNone/>
            </a:pPr>
            <a:r>
              <a:rPr lang="en-US" sz="1600" b="1" dirty="0">
                <a:solidFill>
                  <a:srgbClr val="1C1200"/>
                </a:solidFill>
                <a:latin typeface="Arial" pitchFamily="34" charset="0"/>
                <a:ea typeface="Arial" pitchFamily="34" charset="-122"/>
                <a:cs typeface="Arial" pitchFamily="34" charset="-120"/>
              </a:rPr>
              <a:t>2</a:t>
            </a:r>
            <a:endParaRPr lang="en-US" sz="1600" dirty="0"/>
          </a:p>
        </p:txBody>
      </p:sp>
      <p:sp>
        <p:nvSpPr>
          <p:cNvPr id="52" name="Text 50"/>
          <p:cNvSpPr/>
          <p:nvPr/>
        </p:nvSpPr>
        <p:spPr>
          <a:xfrm>
            <a:off x="5248656" y="3063240"/>
            <a:ext cx="3383280" cy="347472"/>
          </a:xfrm>
          <a:prstGeom prst="rect">
            <a:avLst/>
          </a:prstGeom>
          <a:noFill/>
          <a:ln/>
        </p:spPr>
        <p:txBody>
          <a:bodyPr wrap="square" lIns="0" tIns="0" rIns="0" bIns="0" rtlCol="0" anchor="ctr"/>
          <a:lstStyle/>
          <a:p>
            <a:pPr marL="0" indent="0">
              <a:buNone/>
            </a:pPr>
            <a:r>
              <a:rPr lang="en-US" sz="1300" b="1" dirty="0">
                <a:solidFill>
                  <a:srgbClr val="F5A623"/>
                </a:solidFill>
                <a:latin typeface="Arial" pitchFamily="34" charset="0"/>
                <a:ea typeface="Arial" pitchFamily="34" charset="-122"/>
                <a:cs typeface="Arial" pitchFamily="34" charset="-120"/>
              </a:rPr>
              <a:t>What Makes Honey Raw?</a:t>
            </a:r>
            <a:endParaRPr lang="en-US" sz="1300" dirty="0"/>
          </a:p>
        </p:txBody>
      </p:sp>
      <p:sp>
        <p:nvSpPr>
          <p:cNvPr id="53" name="Text 51"/>
          <p:cNvSpPr/>
          <p:nvPr/>
        </p:nvSpPr>
        <p:spPr>
          <a:xfrm>
            <a:off x="5248656" y="3392424"/>
            <a:ext cx="3383280" cy="274320"/>
          </a:xfrm>
          <a:prstGeom prst="rect">
            <a:avLst/>
          </a:prstGeom>
          <a:noFill/>
          <a:ln/>
        </p:spPr>
        <p:txBody>
          <a:bodyPr wrap="square" lIns="0" tIns="0" rIns="0" bIns="0" rtlCol="0" anchor="ctr"/>
          <a:lstStyle/>
          <a:p>
            <a:pPr marL="0" indent="0">
              <a:buNone/>
            </a:pPr>
            <a:r>
              <a:rPr lang="en-US" sz="1000" dirty="0">
                <a:solidFill>
                  <a:srgbClr val="D4870A"/>
                </a:solidFill>
                <a:latin typeface="Arial" pitchFamily="34" charset="0"/>
                <a:ea typeface="Arial" pitchFamily="34" charset="-122"/>
                <a:cs typeface="Arial" pitchFamily="34" charset="-120"/>
              </a:rPr>
              <a:t>A Guide to Unprocessed South Australian Honey</a:t>
            </a:r>
            <a:endParaRPr lang="en-US" sz="1000" dirty="0"/>
          </a:p>
        </p:txBody>
      </p:sp>
      <p:sp>
        <p:nvSpPr>
          <p:cNvPr id="54" name="Text 52"/>
          <p:cNvSpPr/>
          <p:nvPr/>
        </p:nvSpPr>
        <p:spPr>
          <a:xfrm>
            <a:off x="4773168" y="3721608"/>
            <a:ext cx="3840480" cy="822960"/>
          </a:xfrm>
          <a:prstGeom prst="rect">
            <a:avLst/>
          </a:prstGeom>
          <a:noFill/>
          <a:ln/>
        </p:spPr>
        <p:txBody>
          <a:bodyPr wrap="square" rtlCol="0" anchor="t"/>
          <a:lstStyle/>
          <a:p>
            <a:pPr marL="342900" indent="-342900">
              <a:spcAft>
                <a:spcPts val="200"/>
              </a:spcAft>
              <a:buSzPct val="100000"/>
              <a:buChar char="•"/>
            </a:pPr>
            <a:r>
              <a:rPr lang="en-US" sz="1050" dirty="0">
                <a:solidFill>
                  <a:srgbClr val="FFFFFF"/>
                </a:solidFill>
                <a:latin typeface="Arial" pitchFamily="34" charset="0"/>
                <a:ea typeface="Arial" pitchFamily="34" charset="-122"/>
                <a:cs typeface="Arial" pitchFamily="34" charset="-120"/>
              </a:rPr>
              <a:t>Primary KW: what is raw honey</a:t>
            </a:r>
            <a:endParaRPr lang="en-US" sz="1050" dirty="0"/>
          </a:p>
          <a:p>
            <a:pPr marL="342900" indent="-342900">
              <a:spcAft>
                <a:spcPts val="200"/>
              </a:spcAft>
              <a:buSzPct val="100000"/>
              <a:buChar char="•"/>
            </a:pPr>
            <a:r>
              <a:rPr lang="en-US" sz="1050" dirty="0">
                <a:solidFill>
                  <a:srgbClr val="FFFFFF"/>
                </a:solidFill>
                <a:latin typeface="Arial" pitchFamily="34" charset="0"/>
                <a:ea typeface="Arial" pitchFamily="34" charset="-122"/>
                <a:cs typeface="Arial" pitchFamily="34" charset="-120"/>
              </a:rPr>
              <a:t>Internal links → Courses &amp; Support pages</a:t>
            </a:r>
            <a:endParaRPr lang="en-US" sz="1050" dirty="0"/>
          </a:p>
          <a:p>
            <a:pPr marL="342900" indent="-342900">
              <a:spcAft>
                <a:spcPts val="200"/>
              </a:spcAft>
              <a:buSzPct val="100000"/>
              <a:buChar char="•"/>
            </a:pPr>
            <a:r>
              <a:rPr lang="en-US" sz="1050" dirty="0">
                <a:solidFill>
                  <a:srgbClr val="FFFFFF"/>
                </a:solidFill>
                <a:latin typeface="Arial" pitchFamily="34" charset="0"/>
                <a:ea typeface="Arial" pitchFamily="34" charset="-122"/>
                <a:cs typeface="Arial" pitchFamily="34" charset="-120"/>
              </a:rPr>
              <a:t>900-1,100 words  |  Grade 8-10 reading level</a:t>
            </a:r>
            <a:endParaRPr lang="en-US" sz="1050" dirty="0"/>
          </a:p>
          <a:p>
            <a:pPr marL="0" indent="0">
              <a:spcAft>
                <a:spcPts val="200"/>
              </a:spcAft>
              <a:buNone/>
            </a:pPr>
            <a:r>
              <a:rPr lang="en-US" sz="1050" b="1" dirty="0">
                <a:solidFill>
                  <a:srgbClr val="FFFFFF"/>
                </a:solidFill>
                <a:latin typeface="Arial" pitchFamily="34" charset="0"/>
                <a:ea typeface="Arial" pitchFamily="34" charset="-122"/>
                <a:cs typeface="Arial" pitchFamily="34" charset="-120"/>
              </a:rPr>
              <a:t>Published: 9 June 2026</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C1200"/>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457200"/>
          </a:xfrm>
          <a:prstGeom prst="rect">
            <a:avLst/>
          </a:prstGeom>
          <a:noFill/>
          <a:ln/>
        </p:spPr>
        <p:txBody>
          <a:bodyPr wrap="square" lIns="0" tIns="0" rIns="0" bIns="0" rtlCol="0" anchor="ctr"/>
          <a:lstStyle/>
          <a:p>
            <a:pPr marL="0" indent="0" algn="l">
              <a:buNone/>
            </a:pPr>
            <a:r>
              <a:rPr lang="en-US" sz="2400" b="1" dirty="0">
                <a:solidFill>
                  <a:srgbClr val="F5A623"/>
                </a:solidFill>
                <a:latin typeface="Arial" pitchFamily="34" charset="0"/>
                <a:ea typeface="Arial" pitchFamily="34" charset="-122"/>
                <a:cs typeface="Arial" pitchFamily="34" charset="-120"/>
              </a:rPr>
              <a:t>Product Quality &amp; Client Alignment </a:t>
            </a:r>
            <a:endParaRPr lang="en-US" sz="2400" dirty="0"/>
          </a:p>
        </p:txBody>
      </p:sp>
      <p:sp>
        <p:nvSpPr>
          <p:cNvPr id="3" name="Shape 1"/>
          <p:cNvSpPr/>
          <p:nvPr/>
        </p:nvSpPr>
        <p:spPr>
          <a:xfrm>
            <a:off x="457200" y="685800"/>
            <a:ext cx="8229600" cy="22860"/>
          </a:xfrm>
          <a:prstGeom prst="rect">
            <a:avLst/>
          </a:prstGeom>
          <a:solidFill>
            <a:srgbClr val="D4870A"/>
          </a:solidFill>
          <a:ln w="12700">
            <a:solidFill>
              <a:srgbClr val="FFFFFF">
                <a:alpha val="0"/>
              </a:srgbClr>
            </a:solidFill>
            <a:prstDash val="solid"/>
          </a:ln>
        </p:spPr>
      </p:sp>
      <p:sp>
        <p:nvSpPr>
          <p:cNvPr id="4" name="Text 2"/>
          <p:cNvSpPr/>
          <p:nvPr/>
        </p:nvSpPr>
        <p:spPr>
          <a:xfrm>
            <a:off x="457200" y="804672"/>
            <a:ext cx="8229600" cy="320040"/>
          </a:xfrm>
          <a:prstGeom prst="rect">
            <a:avLst/>
          </a:prstGeom>
          <a:noFill/>
          <a:ln/>
        </p:spPr>
        <p:txBody>
          <a:bodyPr wrap="square" lIns="0" tIns="0" rIns="0" bIns="0" rtlCol="0" anchor="ctr"/>
          <a:lstStyle/>
          <a:p>
            <a:pPr marL="0" indent="0">
              <a:buNone/>
            </a:pPr>
            <a:r>
              <a:rPr lang="en-US" sz="1300" b="1" dirty="0">
                <a:solidFill>
                  <a:srgbClr val="D4870A"/>
                </a:solidFill>
                <a:latin typeface="Arial" pitchFamily="34" charset="0"/>
                <a:ea typeface="Arial" pitchFamily="34" charset="-122"/>
                <a:cs typeface="Arial" pitchFamily="34" charset="-120"/>
              </a:rPr>
              <a:t>Staging → Live: What Changed</a:t>
            </a:r>
            <a:endParaRPr lang="en-US" sz="1300" dirty="0"/>
          </a:p>
        </p:txBody>
      </p:sp>
      <p:sp>
        <p:nvSpPr>
          <p:cNvPr id="5" name="Shape 3"/>
          <p:cNvSpPr/>
          <p:nvPr/>
        </p:nvSpPr>
        <p:spPr>
          <a:xfrm>
            <a:off x="411480" y="1152144"/>
            <a:ext cx="2532888" cy="301752"/>
          </a:xfrm>
          <a:prstGeom prst="rect">
            <a:avLst/>
          </a:prstGeom>
          <a:solidFill>
            <a:srgbClr val="D4870A">
              <a:alpha val="85000"/>
            </a:srgbClr>
          </a:solidFill>
          <a:ln w="12700">
            <a:solidFill>
              <a:srgbClr val="FFFFFF">
                <a:alpha val="0"/>
              </a:srgbClr>
            </a:solidFill>
            <a:prstDash val="solid"/>
          </a:ln>
        </p:spPr>
      </p:sp>
      <p:sp>
        <p:nvSpPr>
          <p:cNvPr id="6" name="Text 4"/>
          <p:cNvSpPr/>
          <p:nvPr/>
        </p:nvSpPr>
        <p:spPr>
          <a:xfrm>
            <a:off x="484632" y="1152144"/>
            <a:ext cx="2459736" cy="301752"/>
          </a:xfrm>
          <a:prstGeom prst="rect">
            <a:avLst/>
          </a:prstGeom>
          <a:noFill/>
          <a:ln/>
        </p:spPr>
        <p:txBody>
          <a:bodyPr wrap="square" lIns="0" tIns="0" rIns="0" bIns="0" rtlCol="0" anchor="ctr"/>
          <a:lstStyle/>
          <a:p>
            <a:pPr marL="0" indent="0">
              <a:buNone/>
            </a:pPr>
            <a:r>
              <a:rPr lang="en-US" sz="1050" b="1" dirty="0">
                <a:solidFill>
                  <a:srgbClr val="1C1200"/>
                </a:solidFill>
                <a:latin typeface="Arial" pitchFamily="34" charset="0"/>
                <a:ea typeface="Arial" pitchFamily="34" charset="-122"/>
                <a:cs typeface="Arial" pitchFamily="34" charset="-120"/>
              </a:rPr>
              <a:t>Element</a:t>
            </a:r>
            <a:endParaRPr lang="en-US" sz="1050" dirty="0"/>
          </a:p>
        </p:txBody>
      </p:sp>
      <p:sp>
        <p:nvSpPr>
          <p:cNvPr id="7" name="Shape 5"/>
          <p:cNvSpPr/>
          <p:nvPr/>
        </p:nvSpPr>
        <p:spPr>
          <a:xfrm>
            <a:off x="3063240" y="1152144"/>
            <a:ext cx="2898648" cy="301752"/>
          </a:xfrm>
          <a:prstGeom prst="rect">
            <a:avLst/>
          </a:prstGeom>
          <a:solidFill>
            <a:srgbClr val="D4870A">
              <a:alpha val="85000"/>
            </a:srgbClr>
          </a:solidFill>
          <a:ln w="12700">
            <a:solidFill>
              <a:srgbClr val="FFFFFF">
                <a:alpha val="0"/>
              </a:srgbClr>
            </a:solidFill>
            <a:prstDash val="solid"/>
          </a:ln>
        </p:spPr>
      </p:sp>
      <p:sp>
        <p:nvSpPr>
          <p:cNvPr id="8" name="Text 6"/>
          <p:cNvSpPr/>
          <p:nvPr/>
        </p:nvSpPr>
        <p:spPr>
          <a:xfrm>
            <a:off x="3136392" y="1152144"/>
            <a:ext cx="2825496" cy="301752"/>
          </a:xfrm>
          <a:prstGeom prst="rect">
            <a:avLst/>
          </a:prstGeom>
          <a:noFill/>
          <a:ln/>
        </p:spPr>
        <p:txBody>
          <a:bodyPr wrap="square" lIns="0" tIns="0" rIns="0" bIns="0" rtlCol="0" anchor="ctr"/>
          <a:lstStyle/>
          <a:p>
            <a:pPr marL="0" indent="0">
              <a:buNone/>
            </a:pPr>
            <a:r>
              <a:rPr lang="en-US" sz="1050" b="1" dirty="0">
                <a:solidFill>
                  <a:srgbClr val="1C1200"/>
                </a:solidFill>
                <a:latin typeface="Arial" pitchFamily="34" charset="0"/>
                <a:ea typeface="Arial" pitchFamily="34" charset="-122"/>
                <a:cs typeface="Arial" pitchFamily="34" charset="-120"/>
              </a:rPr>
              <a:t>Before (original)</a:t>
            </a:r>
            <a:endParaRPr lang="en-US" sz="1050" dirty="0"/>
          </a:p>
        </p:txBody>
      </p:sp>
      <p:sp>
        <p:nvSpPr>
          <p:cNvPr id="9" name="Shape 7"/>
          <p:cNvSpPr/>
          <p:nvPr/>
        </p:nvSpPr>
        <p:spPr>
          <a:xfrm>
            <a:off x="6080760" y="1152144"/>
            <a:ext cx="2944368" cy="301752"/>
          </a:xfrm>
          <a:prstGeom prst="rect">
            <a:avLst/>
          </a:prstGeom>
          <a:solidFill>
            <a:srgbClr val="D4870A">
              <a:alpha val="85000"/>
            </a:srgbClr>
          </a:solidFill>
          <a:ln w="12700">
            <a:solidFill>
              <a:srgbClr val="FFFFFF">
                <a:alpha val="0"/>
              </a:srgbClr>
            </a:solidFill>
            <a:prstDash val="solid"/>
          </a:ln>
        </p:spPr>
      </p:sp>
      <p:sp>
        <p:nvSpPr>
          <p:cNvPr id="10" name="Text 8"/>
          <p:cNvSpPr/>
          <p:nvPr/>
        </p:nvSpPr>
        <p:spPr>
          <a:xfrm>
            <a:off x="6153912" y="1152144"/>
            <a:ext cx="2871216" cy="301752"/>
          </a:xfrm>
          <a:prstGeom prst="rect">
            <a:avLst/>
          </a:prstGeom>
          <a:noFill/>
          <a:ln/>
        </p:spPr>
        <p:txBody>
          <a:bodyPr wrap="square" lIns="0" tIns="0" rIns="0" bIns="0" rtlCol="0" anchor="ctr"/>
          <a:lstStyle/>
          <a:p>
            <a:pPr marL="0" indent="0">
              <a:buNone/>
            </a:pPr>
            <a:r>
              <a:rPr lang="en-US" sz="1050" b="1" dirty="0">
                <a:solidFill>
                  <a:srgbClr val="1C1200"/>
                </a:solidFill>
                <a:latin typeface="Arial" pitchFamily="34" charset="0"/>
                <a:ea typeface="Arial" pitchFamily="34" charset="-122"/>
                <a:cs typeface="Arial" pitchFamily="34" charset="-120"/>
              </a:rPr>
              <a:t>After (live)</a:t>
            </a:r>
            <a:endParaRPr lang="en-US" sz="1050" dirty="0"/>
          </a:p>
        </p:txBody>
      </p:sp>
      <p:sp>
        <p:nvSpPr>
          <p:cNvPr id="11" name="Shape 9"/>
          <p:cNvSpPr/>
          <p:nvPr/>
        </p:nvSpPr>
        <p:spPr>
          <a:xfrm>
            <a:off x="411480" y="1481328"/>
            <a:ext cx="2532888" cy="384048"/>
          </a:xfrm>
          <a:prstGeom prst="rect">
            <a:avLst/>
          </a:prstGeom>
          <a:solidFill>
            <a:srgbClr val="2A1800"/>
          </a:solidFill>
          <a:ln w="6350">
            <a:solidFill>
              <a:srgbClr val="3A2000"/>
            </a:solidFill>
            <a:prstDash val="solid"/>
          </a:ln>
        </p:spPr>
      </p:sp>
      <p:sp>
        <p:nvSpPr>
          <p:cNvPr id="12" name="Text 10"/>
          <p:cNvSpPr/>
          <p:nvPr/>
        </p:nvSpPr>
        <p:spPr>
          <a:xfrm>
            <a:off x="502920" y="1481328"/>
            <a:ext cx="2423160" cy="384048"/>
          </a:xfrm>
          <a:prstGeom prst="rect">
            <a:avLst/>
          </a:prstGeom>
          <a:noFill/>
          <a:ln/>
        </p:spPr>
        <p:txBody>
          <a:bodyPr wrap="square" lIns="0" tIns="0" rIns="0" bIns="0" rtlCol="0" anchor="ctr"/>
          <a:lstStyle/>
          <a:p>
            <a:pPr marL="0" indent="0">
              <a:buNone/>
            </a:pPr>
            <a:r>
              <a:rPr lang="en-US" sz="1050" dirty="0">
                <a:solidFill>
                  <a:srgbClr val="FFFFFF"/>
                </a:solidFill>
                <a:latin typeface="Arial" pitchFamily="34" charset="0"/>
                <a:ea typeface="Arial" pitchFamily="34" charset="-122"/>
                <a:cs typeface="Arial" pitchFamily="34" charset="-120"/>
              </a:rPr>
              <a:t>Homepage hero</a:t>
            </a:r>
            <a:endParaRPr lang="en-US" sz="1050" dirty="0"/>
          </a:p>
        </p:txBody>
      </p:sp>
      <p:sp>
        <p:nvSpPr>
          <p:cNvPr id="13" name="Shape 11"/>
          <p:cNvSpPr/>
          <p:nvPr/>
        </p:nvSpPr>
        <p:spPr>
          <a:xfrm>
            <a:off x="3063240" y="1481328"/>
            <a:ext cx="2898648" cy="384048"/>
          </a:xfrm>
          <a:prstGeom prst="rect">
            <a:avLst/>
          </a:prstGeom>
          <a:solidFill>
            <a:srgbClr val="2A1800"/>
          </a:solidFill>
          <a:ln w="6350">
            <a:solidFill>
              <a:srgbClr val="3A2000"/>
            </a:solidFill>
            <a:prstDash val="solid"/>
          </a:ln>
        </p:spPr>
      </p:sp>
      <p:sp>
        <p:nvSpPr>
          <p:cNvPr id="14" name="Text 12"/>
          <p:cNvSpPr/>
          <p:nvPr/>
        </p:nvSpPr>
        <p:spPr>
          <a:xfrm>
            <a:off x="3154680" y="1481328"/>
            <a:ext cx="2788920" cy="384048"/>
          </a:xfrm>
          <a:prstGeom prst="rect">
            <a:avLst/>
          </a:prstGeom>
          <a:noFill/>
          <a:ln/>
        </p:spPr>
        <p:txBody>
          <a:bodyPr wrap="square" lIns="0" tIns="0" rIns="0" bIns="0" rtlCol="0" anchor="ctr"/>
          <a:lstStyle/>
          <a:p>
            <a:pPr marL="0" indent="0">
              <a:buNone/>
            </a:pPr>
            <a:r>
              <a:rPr lang="en-US" sz="1050" dirty="0">
                <a:solidFill>
                  <a:srgbClr val="FFFFFF"/>
                </a:solidFill>
                <a:latin typeface="Arial" pitchFamily="34" charset="0"/>
                <a:ea typeface="Arial" pitchFamily="34" charset="-122"/>
                <a:cs typeface="Arial" pitchFamily="34" charset="-120"/>
              </a:rPr>
              <a:t>Plain text, no subtitle</a:t>
            </a:r>
            <a:endParaRPr lang="en-US" sz="1050" dirty="0"/>
          </a:p>
        </p:txBody>
      </p:sp>
      <p:sp>
        <p:nvSpPr>
          <p:cNvPr id="15" name="Shape 13"/>
          <p:cNvSpPr/>
          <p:nvPr/>
        </p:nvSpPr>
        <p:spPr>
          <a:xfrm>
            <a:off x="6080760" y="1481328"/>
            <a:ext cx="2944368" cy="384048"/>
          </a:xfrm>
          <a:prstGeom prst="rect">
            <a:avLst/>
          </a:prstGeom>
          <a:solidFill>
            <a:srgbClr val="2A1800"/>
          </a:solidFill>
          <a:ln w="6350">
            <a:solidFill>
              <a:srgbClr val="3A2000"/>
            </a:solidFill>
            <a:prstDash val="solid"/>
          </a:ln>
        </p:spPr>
      </p:sp>
      <p:sp>
        <p:nvSpPr>
          <p:cNvPr id="16" name="Text 14"/>
          <p:cNvSpPr/>
          <p:nvPr/>
        </p:nvSpPr>
        <p:spPr>
          <a:xfrm>
            <a:off x="6172200" y="1481328"/>
            <a:ext cx="2834640" cy="384048"/>
          </a:xfrm>
          <a:prstGeom prst="rect">
            <a:avLst/>
          </a:prstGeom>
          <a:noFill/>
          <a:ln/>
        </p:spPr>
        <p:txBody>
          <a:bodyPr wrap="square" lIns="0" tIns="0" rIns="0" bIns="0" rtlCol="0" anchor="ctr"/>
          <a:lstStyle/>
          <a:p>
            <a:pPr marL="0" indent="0">
              <a:buNone/>
            </a:pPr>
            <a:r>
              <a:rPr lang="en-US" sz="1050" dirty="0">
                <a:solidFill>
                  <a:srgbClr val="F5A623"/>
                </a:solidFill>
                <a:latin typeface="Arial" pitchFamily="34" charset="0"/>
                <a:ea typeface="Arial" pitchFamily="34" charset="-122"/>
                <a:cs typeface="Arial" pitchFamily="34" charset="-120"/>
              </a:rPr>
              <a:t>Keyword-rich subtitle added</a:t>
            </a:r>
            <a:endParaRPr lang="en-US" sz="1050" dirty="0"/>
          </a:p>
        </p:txBody>
      </p:sp>
      <p:sp>
        <p:nvSpPr>
          <p:cNvPr id="17" name="Shape 15"/>
          <p:cNvSpPr/>
          <p:nvPr/>
        </p:nvSpPr>
        <p:spPr>
          <a:xfrm>
            <a:off x="411480" y="1901952"/>
            <a:ext cx="2532888" cy="384048"/>
          </a:xfrm>
          <a:prstGeom prst="rect">
            <a:avLst/>
          </a:prstGeom>
          <a:solidFill>
            <a:srgbClr val="221400"/>
          </a:solidFill>
          <a:ln w="6350">
            <a:solidFill>
              <a:srgbClr val="3A2000"/>
            </a:solidFill>
            <a:prstDash val="solid"/>
          </a:ln>
        </p:spPr>
      </p:sp>
      <p:sp>
        <p:nvSpPr>
          <p:cNvPr id="18" name="Text 16"/>
          <p:cNvSpPr/>
          <p:nvPr/>
        </p:nvSpPr>
        <p:spPr>
          <a:xfrm>
            <a:off x="502920" y="1901952"/>
            <a:ext cx="2423160" cy="384048"/>
          </a:xfrm>
          <a:prstGeom prst="rect">
            <a:avLst/>
          </a:prstGeom>
          <a:noFill/>
          <a:ln/>
        </p:spPr>
        <p:txBody>
          <a:bodyPr wrap="square" lIns="0" tIns="0" rIns="0" bIns="0" rtlCol="0" anchor="ctr"/>
          <a:lstStyle/>
          <a:p>
            <a:pPr marL="0" indent="0">
              <a:buNone/>
            </a:pPr>
            <a:r>
              <a:rPr lang="en-US" sz="1050" dirty="0">
                <a:solidFill>
                  <a:srgbClr val="FFFFFF"/>
                </a:solidFill>
                <a:latin typeface="Arial" pitchFamily="34" charset="0"/>
                <a:ea typeface="Arial" pitchFamily="34" charset="-122"/>
                <a:cs typeface="Arial" pitchFamily="34" charset="-120"/>
              </a:rPr>
              <a:t>'Who is Aphrodite?' section</a:t>
            </a:r>
            <a:endParaRPr lang="en-US" sz="1050" dirty="0"/>
          </a:p>
        </p:txBody>
      </p:sp>
      <p:sp>
        <p:nvSpPr>
          <p:cNvPr id="19" name="Shape 17"/>
          <p:cNvSpPr/>
          <p:nvPr/>
        </p:nvSpPr>
        <p:spPr>
          <a:xfrm>
            <a:off x="3063240" y="1901952"/>
            <a:ext cx="2898648" cy="384048"/>
          </a:xfrm>
          <a:prstGeom prst="rect">
            <a:avLst/>
          </a:prstGeom>
          <a:solidFill>
            <a:srgbClr val="221400"/>
          </a:solidFill>
          <a:ln w="6350">
            <a:solidFill>
              <a:srgbClr val="3A2000"/>
            </a:solidFill>
            <a:prstDash val="solid"/>
          </a:ln>
        </p:spPr>
      </p:sp>
      <p:sp>
        <p:nvSpPr>
          <p:cNvPr id="20" name="Text 18"/>
          <p:cNvSpPr/>
          <p:nvPr/>
        </p:nvSpPr>
        <p:spPr>
          <a:xfrm>
            <a:off x="3154680" y="1901952"/>
            <a:ext cx="2788920" cy="384048"/>
          </a:xfrm>
          <a:prstGeom prst="rect">
            <a:avLst/>
          </a:prstGeom>
          <a:noFill/>
          <a:ln/>
        </p:spPr>
        <p:txBody>
          <a:bodyPr wrap="square" lIns="0" tIns="0" rIns="0" bIns="0" rtlCol="0" anchor="ctr"/>
          <a:lstStyle/>
          <a:p>
            <a:pPr marL="0" indent="0">
              <a:buNone/>
            </a:pPr>
            <a:r>
              <a:rPr lang="en-US" sz="1050" dirty="0">
                <a:solidFill>
                  <a:srgbClr val="FFFFFF"/>
                </a:solidFill>
                <a:latin typeface="Arial" pitchFamily="34" charset="0"/>
                <a:ea typeface="Arial" pitchFamily="34" charset="-122"/>
                <a:cs typeface="Arial" pitchFamily="34" charset="-120"/>
              </a:rPr>
              <a:t>Not present</a:t>
            </a:r>
            <a:endParaRPr lang="en-US" sz="1050" dirty="0"/>
          </a:p>
        </p:txBody>
      </p:sp>
      <p:sp>
        <p:nvSpPr>
          <p:cNvPr id="21" name="Shape 19"/>
          <p:cNvSpPr/>
          <p:nvPr/>
        </p:nvSpPr>
        <p:spPr>
          <a:xfrm>
            <a:off x="6080760" y="1901952"/>
            <a:ext cx="2944368" cy="384048"/>
          </a:xfrm>
          <a:prstGeom prst="rect">
            <a:avLst/>
          </a:prstGeom>
          <a:solidFill>
            <a:srgbClr val="221400"/>
          </a:solidFill>
          <a:ln w="6350">
            <a:solidFill>
              <a:srgbClr val="3A2000"/>
            </a:solidFill>
            <a:prstDash val="solid"/>
          </a:ln>
        </p:spPr>
      </p:sp>
      <p:sp>
        <p:nvSpPr>
          <p:cNvPr id="22" name="Text 20"/>
          <p:cNvSpPr/>
          <p:nvPr/>
        </p:nvSpPr>
        <p:spPr>
          <a:xfrm>
            <a:off x="6172200" y="1901952"/>
            <a:ext cx="2834640" cy="384048"/>
          </a:xfrm>
          <a:prstGeom prst="rect">
            <a:avLst/>
          </a:prstGeom>
          <a:noFill/>
          <a:ln/>
        </p:spPr>
        <p:txBody>
          <a:bodyPr wrap="square" lIns="0" tIns="0" rIns="0" bIns="0" rtlCol="0" anchor="ctr"/>
          <a:lstStyle/>
          <a:p>
            <a:pPr marL="0" indent="0">
              <a:buNone/>
            </a:pPr>
            <a:r>
              <a:rPr lang="en-US" sz="1050" dirty="0">
                <a:solidFill>
                  <a:srgbClr val="F5A623"/>
                </a:solidFill>
                <a:latin typeface="Arial" pitchFamily="34" charset="0"/>
                <a:ea typeface="Arial" pitchFamily="34" charset="-122"/>
                <a:cs typeface="Arial" pitchFamily="34" charset="-120"/>
              </a:rPr>
              <a:t>Added with photo + callout box</a:t>
            </a:r>
            <a:endParaRPr lang="en-US" sz="1050" dirty="0"/>
          </a:p>
        </p:txBody>
      </p:sp>
      <p:sp>
        <p:nvSpPr>
          <p:cNvPr id="23" name="Shape 21"/>
          <p:cNvSpPr/>
          <p:nvPr/>
        </p:nvSpPr>
        <p:spPr>
          <a:xfrm>
            <a:off x="411480" y="2322576"/>
            <a:ext cx="2532888" cy="384048"/>
          </a:xfrm>
          <a:prstGeom prst="rect">
            <a:avLst/>
          </a:prstGeom>
          <a:solidFill>
            <a:srgbClr val="2A1800"/>
          </a:solidFill>
          <a:ln w="6350">
            <a:solidFill>
              <a:srgbClr val="3A2000"/>
            </a:solidFill>
            <a:prstDash val="solid"/>
          </a:ln>
        </p:spPr>
      </p:sp>
      <p:sp>
        <p:nvSpPr>
          <p:cNvPr id="24" name="Text 22"/>
          <p:cNvSpPr/>
          <p:nvPr/>
        </p:nvSpPr>
        <p:spPr>
          <a:xfrm>
            <a:off x="502920" y="2322576"/>
            <a:ext cx="2423160" cy="384048"/>
          </a:xfrm>
          <a:prstGeom prst="rect">
            <a:avLst/>
          </a:prstGeom>
          <a:noFill/>
          <a:ln/>
        </p:spPr>
        <p:txBody>
          <a:bodyPr wrap="square" lIns="0" tIns="0" rIns="0" bIns="0" rtlCol="0" anchor="ctr"/>
          <a:lstStyle/>
          <a:p>
            <a:pPr marL="0" indent="0">
              <a:buNone/>
            </a:pPr>
            <a:r>
              <a:rPr lang="en-US" sz="1050" dirty="0">
                <a:solidFill>
                  <a:srgbClr val="FFFFFF"/>
                </a:solidFill>
                <a:latin typeface="Arial" pitchFamily="34" charset="0"/>
                <a:ea typeface="Arial" pitchFamily="34" charset="-122"/>
                <a:cs typeface="Arial" pitchFamily="34" charset="-120"/>
              </a:rPr>
              <a:t>Blog section on homepage</a:t>
            </a:r>
            <a:endParaRPr lang="en-US" sz="1050" dirty="0"/>
          </a:p>
        </p:txBody>
      </p:sp>
      <p:sp>
        <p:nvSpPr>
          <p:cNvPr id="25" name="Shape 23"/>
          <p:cNvSpPr/>
          <p:nvPr/>
        </p:nvSpPr>
        <p:spPr>
          <a:xfrm>
            <a:off x="3063240" y="2322576"/>
            <a:ext cx="2898648" cy="384048"/>
          </a:xfrm>
          <a:prstGeom prst="rect">
            <a:avLst/>
          </a:prstGeom>
          <a:solidFill>
            <a:srgbClr val="2A1800"/>
          </a:solidFill>
          <a:ln w="6350">
            <a:solidFill>
              <a:srgbClr val="3A2000"/>
            </a:solidFill>
            <a:prstDash val="solid"/>
          </a:ln>
        </p:spPr>
      </p:sp>
      <p:sp>
        <p:nvSpPr>
          <p:cNvPr id="26" name="Text 24"/>
          <p:cNvSpPr/>
          <p:nvPr/>
        </p:nvSpPr>
        <p:spPr>
          <a:xfrm>
            <a:off x="3154680" y="2322576"/>
            <a:ext cx="2788920" cy="384048"/>
          </a:xfrm>
          <a:prstGeom prst="rect">
            <a:avLst/>
          </a:prstGeom>
          <a:noFill/>
          <a:ln/>
        </p:spPr>
        <p:txBody>
          <a:bodyPr wrap="square" lIns="0" tIns="0" rIns="0" bIns="0" rtlCol="0" anchor="ctr"/>
          <a:lstStyle/>
          <a:p>
            <a:pPr marL="0" indent="0">
              <a:buNone/>
            </a:pPr>
            <a:r>
              <a:rPr lang="en-US" sz="1050" dirty="0">
                <a:solidFill>
                  <a:srgbClr val="FFFFFF"/>
                </a:solidFill>
                <a:latin typeface="Arial" pitchFamily="34" charset="0"/>
                <a:ea typeface="Arial" pitchFamily="34" charset="-122"/>
                <a:cs typeface="Arial" pitchFamily="34" charset="-120"/>
              </a:rPr>
              <a:t>Missing</a:t>
            </a:r>
            <a:endParaRPr lang="en-US" sz="1050" dirty="0"/>
          </a:p>
        </p:txBody>
      </p:sp>
      <p:sp>
        <p:nvSpPr>
          <p:cNvPr id="27" name="Shape 25"/>
          <p:cNvSpPr/>
          <p:nvPr/>
        </p:nvSpPr>
        <p:spPr>
          <a:xfrm>
            <a:off x="6080760" y="2322576"/>
            <a:ext cx="2944368" cy="384048"/>
          </a:xfrm>
          <a:prstGeom prst="rect">
            <a:avLst/>
          </a:prstGeom>
          <a:solidFill>
            <a:srgbClr val="2A1800"/>
          </a:solidFill>
          <a:ln w="6350">
            <a:solidFill>
              <a:srgbClr val="3A2000"/>
            </a:solidFill>
            <a:prstDash val="solid"/>
          </a:ln>
        </p:spPr>
      </p:sp>
      <p:sp>
        <p:nvSpPr>
          <p:cNvPr id="28" name="Text 26"/>
          <p:cNvSpPr/>
          <p:nvPr/>
        </p:nvSpPr>
        <p:spPr>
          <a:xfrm>
            <a:off x="6172200" y="2322576"/>
            <a:ext cx="2834640" cy="384048"/>
          </a:xfrm>
          <a:prstGeom prst="rect">
            <a:avLst/>
          </a:prstGeom>
          <a:noFill/>
          <a:ln/>
        </p:spPr>
        <p:txBody>
          <a:bodyPr wrap="square" lIns="0" tIns="0" rIns="0" bIns="0" rtlCol="0" anchor="ctr"/>
          <a:lstStyle/>
          <a:p>
            <a:pPr marL="0" indent="0">
              <a:buNone/>
            </a:pPr>
            <a:r>
              <a:rPr lang="en-US" sz="1050" dirty="0">
                <a:solidFill>
                  <a:srgbClr val="F5A623"/>
                </a:solidFill>
                <a:latin typeface="Arial" pitchFamily="34" charset="0"/>
                <a:ea typeface="Arial" pitchFamily="34" charset="-122"/>
                <a:cs typeface="Arial" pitchFamily="34" charset="-120"/>
              </a:rPr>
              <a:t>Recent Blogs feed - 2 posts</a:t>
            </a:r>
            <a:endParaRPr lang="en-US" sz="1050" dirty="0"/>
          </a:p>
        </p:txBody>
      </p:sp>
      <p:sp>
        <p:nvSpPr>
          <p:cNvPr id="29" name="Shape 27"/>
          <p:cNvSpPr/>
          <p:nvPr/>
        </p:nvSpPr>
        <p:spPr>
          <a:xfrm>
            <a:off x="411480" y="2743200"/>
            <a:ext cx="2532888" cy="384048"/>
          </a:xfrm>
          <a:prstGeom prst="rect">
            <a:avLst/>
          </a:prstGeom>
          <a:solidFill>
            <a:srgbClr val="221400"/>
          </a:solidFill>
          <a:ln w="6350">
            <a:solidFill>
              <a:srgbClr val="3A2000"/>
            </a:solidFill>
            <a:prstDash val="solid"/>
          </a:ln>
        </p:spPr>
      </p:sp>
      <p:sp>
        <p:nvSpPr>
          <p:cNvPr id="30" name="Text 28"/>
          <p:cNvSpPr/>
          <p:nvPr/>
        </p:nvSpPr>
        <p:spPr>
          <a:xfrm>
            <a:off x="502920" y="2743200"/>
            <a:ext cx="2423160" cy="384048"/>
          </a:xfrm>
          <a:prstGeom prst="rect">
            <a:avLst/>
          </a:prstGeom>
          <a:noFill/>
          <a:ln/>
        </p:spPr>
        <p:txBody>
          <a:bodyPr wrap="square" lIns="0" tIns="0" rIns="0" bIns="0" rtlCol="0" anchor="ctr"/>
          <a:lstStyle/>
          <a:p>
            <a:pPr marL="0" indent="0">
              <a:buNone/>
            </a:pPr>
            <a:r>
              <a:rPr lang="en-US" sz="1050" dirty="0">
                <a:solidFill>
                  <a:srgbClr val="FFFFFF"/>
                </a:solidFill>
                <a:latin typeface="Arial" pitchFamily="34" charset="0"/>
                <a:ea typeface="Arial" pitchFamily="34" charset="-122"/>
                <a:cs typeface="Arial" pitchFamily="34" charset="-120"/>
              </a:rPr>
              <a:t>Nav menu</a:t>
            </a:r>
            <a:endParaRPr lang="en-US" sz="1050" dirty="0"/>
          </a:p>
        </p:txBody>
      </p:sp>
      <p:sp>
        <p:nvSpPr>
          <p:cNvPr id="31" name="Shape 29"/>
          <p:cNvSpPr/>
          <p:nvPr/>
        </p:nvSpPr>
        <p:spPr>
          <a:xfrm>
            <a:off x="3063240" y="2743200"/>
            <a:ext cx="2898648" cy="384048"/>
          </a:xfrm>
          <a:prstGeom prst="rect">
            <a:avLst/>
          </a:prstGeom>
          <a:solidFill>
            <a:srgbClr val="221400"/>
          </a:solidFill>
          <a:ln w="6350">
            <a:solidFill>
              <a:srgbClr val="3A2000"/>
            </a:solidFill>
            <a:prstDash val="solid"/>
          </a:ln>
        </p:spPr>
      </p:sp>
      <p:sp>
        <p:nvSpPr>
          <p:cNvPr id="32" name="Text 30"/>
          <p:cNvSpPr/>
          <p:nvPr/>
        </p:nvSpPr>
        <p:spPr>
          <a:xfrm>
            <a:off x="3154680" y="2743200"/>
            <a:ext cx="2788920" cy="384048"/>
          </a:xfrm>
          <a:prstGeom prst="rect">
            <a:avLst/>
          </a:prstGeom>
          <a:noFill/>
          <a:ln/>
        </p:spPr>
        <p:txBody>
          <a:bodyPr wrap="square" lIns="0" tIns="0" rIns="0" bIns="0" rtlCol="0" anchor="ctr"/>
          <a:lstStyle/>
          <a:p>
            <a:pPr marL="0" indent="0">
              <a:buNone/>
            </a:pPr>
            <a:r>
              <a:rPr lang="en-US" sz="1050" dirty="0">
                <a:solidFill>
                  <a:srgbClr val="FFFFFF"/>
                </a:solidFill>
                <a:latin typeface="Arial" pitchFamily="34" charset="0"/>
                <a:ea typeface="Arial" pitchFamily="34" charset="-122"/>
                <a:cs typeface="Arial" pitchFamily="34" charset="-120"/>
              </a:rPr>
              <a:t>No Blogs link</a:t>
            </a:r>
            <a:endParaRPr lang="en-US" sz="1050" dirty="0"/>
          </a:p>
        </p:txBody>
      </p:sp>
      <p:sp>
        <p:nvSpPr>
          <p:cNvPr id="33" name="Shape 31"/>
          <p:cNvSpPr/>
          <p:nvPr/>
        </p:nvSpPr>
        <p:spPr>
          <a:xfrm>
            <a:off x="6080760" y="2743200"/>
            <a:ext cx="2944368" cy="384048"/>
          </a:xfrm>
          <a:prstGeom prst="rect">
            <a:avLst/>
          </a:prstGeom>
          <a:solidFill>
            <a:srgbClr val="221400"/>
          </a:solidFill>
          <a:ln w="6350">
            <a:solidFill>
              <a:srgbClr val="3A2000"/>
            </a:solidFill>
            <a:prstDash val="solid"/>
          </a:ln>
        </p:spPr>
      </p:sp>
      <p:sp>
        <p:nvSpPr>
          <p:cNvPr id="34" name="Text 32"/>
          <p:cNvSpPr/>
          <p:nvPr/>
        </p:nvSpPr>
        <p:spPr>
          <a:xfrm>
            <a:off x="6172200" y="2743200"/>
            <a:ext cx="2834640" cy="384048"/>
          </a:xfrm>
          <a:prstGeom prst="rect">
            <a:avLst/>
          </a:prstGeom>
          <a:noFill/>
          <a:ln/>
        </p:spPr>
        <p:txBody>
          <a:bodyPr wrap="square" lIns="0" tIns="0" rIns="0" bIns="0" rtlCol="0" anchor="ctr"/>
          <a:lstStyle/>
          <a:p>
            <a:pPr marL="0" indent="0">
              <a:buNone/>
            </a:pPr>
            <a:r>
              <a:rPr lang="en-US" sz="1050" dirty="0">
                <a:solidFill>
                  <a:srgbClr val="F5A623"/>
                </a:solidFill>
                <a:latin typeface="Arial" pitchFamily="34" charset="0"/>
                <a:ea typeface="Arial" pitchFamily="34" charset="-122"/>
                <a:cs typeface="Arial" pitchFamily="34" charset="-120"/>
              </a:rPr>
              <a:t>'Blogs' item added</a:t>
            </a:r>
            <a:endParaRPr lang="en-US" sz="1050" dirty="0"/>
          </a:p>
        </p:txBody>
      </p:sp>
      <p:sp>
        <p:nvSpPr>
          <p:cNvPr id="35" name="Shape 33"/>
          <p:cNvSpPr/>
          <p:nvPr/>
        </p:nvSpPr>
        <p:spPr>
          <a:xfrm>
            <a:off x="411480" y="3163824"/>
            <a:ext cx="2532888" cy="384048"/>
          </a:xfrm>
          <a:prstGeom prst="rect">
            <a:avLst/>
          </a:prstGeom>
          <a:solidFill>
            <a:srgbClr val="2A1800"/>
          </a:solidFill>
          <a:ln w="6350">
            <a:solidFill>
              <a:srgbClr val="3A2000"/>
            </a:solidFill>
            <a:prstDash val="solid"/>
          </a:ln>
        </p:spPr>
      </p:sp>
      <p:sp>
        <p:nvSpPr>
          <p:cNvPr id="36" name="Text 34"/>
          <p:cNvSpPr/>
          <p:nvPr/>
        </p:nvSpPr>
        <p:spPr>
          <a:xfrm>
            <a:off x="502920" y="3163824"/>
            <a:ext cx="2423160" cy="384048"/>
          </a:xfrm>
          <a:prstGeom prst="rect">
            <a:avLst/>
          </a:prstGeom>
          <a:noFill/>
          <a:ln/>
        </p:spPr>
        <p:txBody>
          <a:bodyPr wrap="square" lIns="0" tIns="0" rIns="0" bIns="0" rtlCol="0" anchor="ctr"/>
          <a:lstStyle/>
          <a:p>
            <a:pPr marL="0" indent="0">
              <a:buNone/>
            </a:pPr>
            <a:r>
              <a:rPr lang="en-US" sz="1050" dirty="0">
                <a:solidFill>
                  <a:srgbClr val="FFFFFF"/>
                </a:solidFill>
                <a:latin typeface="Arial" pitchFamily="34" charset="0"/>
                <a:ea typeface="Arial" pitchFamily="34" charset="-122"/>
                <a:cs typeface="Arial" pitchFamily="34" charset="-120"/>
              </a:rPr>
              <a:t>Meta titles (all pages)</a:t>
            </a:r>
            <a:endParaRPr lang="en-US" sz="1050" dirty="0"/>
          </a:p>
        </p:txBody>
      </p:sp>
      <p:sp>
        <p:nvSpPr>
          <p:cNvPr id="37" name="Shape 35"/>
          <p:cNvSpPr/>
          <p:nvPr/>
        </p:nvSpPr>
        <p:spPr>
          <a:xfrm>
            <a:off x="3063240" y="3163824"/>
            <a:ext cx="2898648" cy="384048"/>
          </a:xfrm>
          <a:prstGeom prst="rect">
            <a:avLst/>
          </a:prstGeom>
          <a:solidFill>
            <a:srgbClr val="2A1800"/>
          </a:solidFill>
          <a:ln w="6350">
            <a:solidFill>
              <a:srgbClr val="3A2000"/>
            </a:solidFill>
            <a:prstDash val="solid"/>
          </a:ln>
        </p:spPr>
      </p:sp>
      <p:sp>
        <p:nvSpPr>
          <p:cNvPr id="38" name="Text 36"/>
          <p:cNvSpPr/>
          <p:nvPr/>
        </p:nvSpPr>
        <p:spPr>
          <a:xfrm>
            <a:off x="3154680" y="3163824"/>
            <a:ext cx="2788920" cy="384048"/>
          </a:xfrm>
          <a:prstGeom prst="rect">
            <a:avLst/>
          </a:prstGeom>
          <a:noFill/>
          <a:ln/>
        </p:spPr>
        <p:txBody>
          <a:bodyPr wrap="square" lIns="0" tIns="0" rIns="0" bIns="0" rtlCol="0" anchor="ctr"/>
          <a:lstStyle/>
          <a:p>
            <a:pPr marL="0" indent="0">
              <a:buNone/>
            </a:pPr>
            <a:r>
              <a:rPr lang="en-US" sz="1050" dirty="0">
                <a:solidFill>
                  <a:srgbClr val="FFFFFF"/>
                </a:solidFill>
                <a:latin typeface="Arial" pitchFamily="34" charset="0"/>
                <a:ea typeface="Arial" pitchFamily="34" charset="-122"/>
                <a:cs typeface="Arial" pitchFamily="34" charset="-120"/>
              </a:rPr>
              <a:t>Default WP page titles</a:t>
            </a:r>
            <a:endParaRPr lang="en-US" sz="1050" dirty="0"/>
          </a:p>
        </p:txBody>
      </p:sp>
      <p:sp>
        <p:nvSpPr>
          <p:cNvPr id="39" name="Shape 37"/>
          <p:cNvSpPr/>
          <p:nvPr/>
        </p:nvSpPr>
        <p:spPr>
          <a:xfrm>
            <a:off x="6080760" y="3163824"/>
            <a:ext cx="2944368" cy="384048"/>
          </a:xfrm>
          <a:prstGeom prst="rect">
            <a:avLst/>
          </a:prstGeom>
          <a:solidFill>
            <a:srgbClr val="2A1800"/>
          </a:solidFill>
          <a:ln w="6350">
            <a:solidFill>
              <a:srgbClr val="3A2000"/>
            </a:solidFill>
            <a:prstDash val="solid"/>
          </a:ln>
        </p:spPr>
      </p:sp>
      <p:sp>
        <p:nvSpPr>
          <p:cNvPr id="40" name="Text 38"/>
          <p:cNvSpPr/>
          <p:nvPr/>
        </p:nvSpPr>
        <p:spPr>
          <a:xfrm>
            <a:off x="6172200" y="3163824"/>
            <a:ext cx="2834640" cy="384048"/>
          </a:xfrm>
          <a:prstGeom prst="rect">
            <a:avLst/>
          </a:prstGeom>
          <a:noFill/>
          <a:ln/>
        </p:spPr>
        <p:txBody>
          <a:bodyPr wrap="square" lIns="0" tIns="0" rIns="0" bIns="0" rtlCol="0" anchor="ctr"/>
          <a:lstStyle/>
          <a:p>
            <a:pPr marL="0" indent="0">
              <a:buNone/>
            </a:pPr>
            <a:r>
              <a:rPr lang="en-US" sz="1050" dirty="0">
                <a:solidFill>
                  <a:srgbClr val="F5A623"/>
                </a:solidFill>
                <a:latin typeface="Arial" pitchFamily="34" charset="0"/>
                <a:ea typeface="Arial" pitchFamily="34" charset="-122"/>
                <a:cs typeface="Arial" pitchFamily="34" charset="-120"/>
              </a:rPr>
              <a:t>Custom keyword-optimised</a:t>
            </a:r>
            <a:endParaRPr lang="en-US" sz="1050" dirty="0"/>
          </a:p>
        </p:txBody>
      </p:sp>
      <p:sp>
        <p:nvSpPr>
          <p:cNvPr id="41" name="Shape 39"/>
          <p:cNvSpPr/>
          <p:nvPr/>
        </p:nvSpPr>
        <p:spPr>
          <a:xfrm>
            <a:off x="411480" y="3584448"/>
            <a:ext cx="2532888" cy="384048"/>
          </a:xfrm>
          <a:prstGeom prst="rect">
            <a:avLst/>
          </a:prstGeom>
          <a:solidFill>
            <a:srgbClr val="221400"/>
          </a:solidFill>
          <a:ln w="6350">
            <a:solidFill>
              <a:srgbClr val="3A2000"/>
            </a:solidFill>
            <a:prstDash val="solid"/>
          </a:ln>
        </p:spPr>
      </p:sp>
      <p:sp>
        <p:nvSpPr>
          <p:cNvPr id="42" name="Text 40"/>
          <p:cNvSpPr/>
          <p:nvPr/>
        </p:nvSpPr>
        <p:spPr>
          <a:xfrm>
            <a:off x="502920" y="3584448"/>
            <a:ext cx="2423160" cy="384048"/>
          </a:xfrm>
          <a:prstGeom prst="rect">
            <a:avLst/>
          </a:prstGeom>
          <a:noFill/>
          <a:ln/>
        </p:spPr>
        <p:txBody>
          <a:bodyPr wrap="square" lIns="0" tIns="0" rIns="0" bIns="0" rtlCol="0" anchor="ctr"/>
          <a:lstStyle/>
          <a:p>
            <a:pPr marL="0" indent="0">
              <a:buNone/>
            </a:pPr>
            <a:r>
              <a:rPr lang="en-US" sz="1050" dirty="0">
                <a:solidFill>
                  <a:srgbClr val="FFFFFF"/>
                </a:solidFill>
                <a:latin typeface="Arial" pitchFamily="34" charset="0"/>
                <a:ea typeface="Arial" pitchFamily="34" charset="-122"/>
                <a:cs typeface="Arial" pitchFamily="34" charset="-120"/>
              </a:rPr>
              <a:t>RankMath / SEO plugin</a:t>
            </a:r>
            <a:endParaRPr lang="en-US" sz="1050" dirty="0"/>
          </a:p>
        </p:txBody>
      </p:sp>
      <p:sp>
        <p:nvSpPr>
          <p:cNvPr id="43" name="Shape 41"/>
          <p:cNvSpPr/>
          <p:nvPr/>
        </p:nvSpPr>
        <p:spPr>
          <a:xfrm>
            <a:off x="3063240" y="3584448"/>
            <a:ext cx="2898648" cy="384048"/>
          </a:xfrm>
          <a:prstGeom prst="rect">
            <a:avLst/>
          </a:prstGeom>
          <a:solidFill>
            <a:srgbClr val="221400"/>
          </a:solidFill>
          <a:ln w="6350">
            <a:solidFill>
              <a:srgbClr val="3A2000"/>
            </a:solidFill>
            <a:prstDash val="solid"/>
          </a:ln>
        </p:spPr>
      </p:sp>
      <p:sp>
        <p:nvSpPr>
          <p:cNvPr id="44" name="Text 42"/>
          <p:cNvSpPr/>
          <p:nvPr/>
        </p:nvSpPr>
        <p:spPr>
          <a:xfrm>
            <a:off x="3154680" y="3584448"/>
            <a:ext cx="2788920" cy="384048"/>
          </a:xfrm>
          <a:prstGeom prst="rect">
            <a:avLst/>
          </a:prstGeom>
          <a:noFill/>
          <a:ln/>
        </p:spPr>
        <p:txBody>
          <a:bodyPr wrap="square" lIns="0" tIns="0" rIns="0" bIns="0" rtlCol="0" anchor="ctr"/>
          <a:lstStyle/>
          <a:p>
            <a:pPr marL="0" indent="0">
              <a:buNone/>
            </a:pPr>
            <a:r>
              <a:rPr lang="en-US" sz="1050" dirty="0">
                <a:solidFill>
                  <a:srgbClr val="FFFFFF"/>
                </a:solidFill>
                <a:latin typeface="Arial" pitchFamily="34" charset="0"/>
                <a:ea typeface="Arial" pitchFamily="34" charset="-122"/>
                <a:cs typeface="Arial" pitchFamily="34" charset="-120"/>
              </a:rPr>
              <a:t>Not installed</a:t>
            </a:r>
            <a:endParaRPr lang="en-US" sz="1050" dirty="0"/>
          </a:p>
        </p:txBody>
      </p:sp>
      <p:sp>
        <p:nvSpPr>
          <p:cNvPr id="45" name="Shape 43"/>
          <p:cNvSpPr/>
          <p:nvPr/>
        </p:nvSpPr>
        <p:spPr>
          <a:xfrm>
            <a:off x="6080760" y="3584448"/>
            <a:ext cx="2944368" cy="384048"/>
          </a:xfrm>
          <a:prstGeom prst="rect">
            <a:avLst/>
          </a:prstGeom>
          <a:solidFill>
            <a:srgbClr val="221400"/>
          </a:solidFill>
          <a:ln w="6350">
            <a:solidFill>
              <a:srgbClr val="3A2000"/>
            </a:solidFill>
            <a:prstDash val="solid"/>
          </a:ln>
        </p:spPr>
      </p:sp>
      <p:sp>
        <p:nvSpPr>
          <p:cNvPr id="46" name="Text 44"/>
          <p:cNvSpPr/>
          <p:nvPr/>
        </p:nvSpPr>
        <p:spPr>
          <a:xfrm>
            <a:off x="6172200" y="3584448"/>
            <a:ext cx="2834640" cy="384048"/>
          </a:xfrm>
          <a:prstGeom prst="rect">
            <a:avLst/>
          </a:prstGeom>
          <a:noFill/>
          <a:ln/>
        </p:spPr>
        <p:txBody>
          <a:bodyPr wrap="square" lIns="0" tIns="0" rIns="0" bIns="0" rtlCol="0" anchor="ctr"/>
          <a:lstStyle/>
          <a:p>
            <a:pPr marL="0" indent="0">
              <a:buNone/>
            </a:pPr>
            <a:r>
              <a:rPr lang="en-US" sz="1050" dirty="0">
                <a:solidFill>
                  <a:srgbClr val="F5A623"/>
                </a:solidFill>
                <a:latin typeface="Arial" pitchFamily="34" charset="0"/>
                <a:ea typeface="Arial" pitchFamily="34" charset="-122"/>
                <a:cs typeface="Arial" pitchFamily="34" charset="-120"/>
              </a:rPr>
              <a:t>Installed, GSC connected</a:t>
            </a:r>
            <a:endParaRPr lang="en-US" sz="1050" dirty="0"/>
          </a:p>
        </p:txBody>
      </p:sp>
      <p:sp>
        <p:nvSpPr>
          <p:cNvPr id="47" name="Shape 45"/>
          <p:cNvSpPr/>
          <p:nvPr/>
        </p:nvSpPr>
        <p:spPr>
          <a:xfrm>
            <a:off x="411480" y="4572000"/>
            <a:ext cx="8321040" cy="457200"/>
          </a:xfrm>
          <a:prstGeom prst="roundRect">
            <a:avLst>
              <a:gd name="adj" fmla="val 16000"/>
            </a:avLst>
          </a:prstGeom>
          <a:solidFill>
            <a:srgbClr val="2A1800"/>
          </a:solidFill>
          <a:ln w="12700">
            <a:solidFill>
              <a:srgbClr val="D4870A"/>
            </a:solidFill>
            <a:prstDash val="solid"/>
          </a:ln>
        </p:spPr>
      </p:sp>
      <p:sp>
        <p:nvSpPr>
          <p:cNvPr id="48" name="Text 46"/>
          <p:cNvSpPr/>
          <p:nvPr/>
        </p:nvSpPr>
        <p:spPr>
          <a:xfrm>
            <a:off x="548640" y="4572000"/>
            <a:ext cx="8046720" cy="457200"/>
          </a:xfrm>
          <a:prstGeom prst="rect">
            <a:avLst/>
          </a:prstGeom>
          <a:noFill/>
          <a:ln/>
        </p:spPr>
        <p:txBody>
          <a:bodyPr wrap="square" lIns="0" tIns="0" rIns="0" bIns="0" rtlCol="0" anchor="ctr"/>
          <a:lstStyle/>
          <a:p>
            <a:pPr marL="0" indent="0">
              <a:buNone/>
            </a:pPr>
            <a:r>
              <a:rPr lang="en-US" sz="1100" i="1" dirty="0">
                <a:solidFill>
                  <a:srgbClr val="D4870A"/>
                </a:solidFill>
                <a:latin typeface="Arial" pitchFamily="34" charset="0"/>
                <a:ea typeface="Arial" pitchFamily="34" charset="-122"/>
                <a:cs typeface="Arial" pitchFamily="34" charset="-120"/>
              </a:rPr>
              <a:t>All changes use RankMath GUI only — no custom code — so the client can maintain everything independently after handover.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8E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457200"/>
          </a:xfrm>
          <a:prstGeom prst="rect">
            <a:avLst/>
          </a:prstGeom>
          <a:noFill/>
          <a:ln/>
        </p:spPr>
        <p:txBody>
          <a:bodyPr wrap="square" lIns="0" tIns="0" rIns="0" bIns="0" rtlCol="0" anchor="ctr"/>
          <a:lstStyle/>
          <a:p>
            <a:pPr marL="0" indent="0" algn="l">
              <a:buNone/>
            </a:pPr>
            <a:r>
              <a:rPr lang="en-US" sz="2600" b="1" dirty="0">
                <a:solidFill>
                  <a:srgbClr val="B8860B"/>
                </a:solidFill>
                <a:latin typeface="Arial" pitchFamily="34" charset="0"/>
                <a:ea typeface="Arial" pitchFamily="34" charset="-122"/>
                <a:cs typeface="Arial" pitchFamily="34" charset="-120"/>
              </a:rPr>
              <a:t>Supporting Documentation </a:t>
            </a:r>
            <a:endParaRPr lang="en-US" sz="2600" dirty="0"/>
          </a:p>
        </p:txBody>
      </p:sp>
      <p:sp>
        <p:nvSpPr>
          <p:cNvPr id="3" name="Shape 1"/>
          <p:cNvSpPr/>
          <p:nvPr/>
        </p:nvSpPr>
        <p:spPr>
          <a:xfrm>
            <a:off x="457200" y="685800"/>
            <a:ext cx="8229600" cy="22860"/>
          </a:xfrm>
          <a:prstGeom prst="rect">
            <a:avLst/>
          </a:prstGeom>
          <a:solidFill>
            <a:srgbClr val="D4870A"/>
          </a:solidFill>
          <a:ln w="12700">
            <a:solidFill>
              <a:srgbClr val="FFFFFF">
                <a:alpha val="0"/>
              </a:srgbClr>
            </a:solidFill>
            <a:prstDash val="solid"/>
          </a:ln>
        </p:spPr>
      </p:sp>
      <p:sp>
        <p:nvSpPr>
          <p:cNvPr id="4" name="Shape 2"/>
          <p:cNvSpPr/>
          <p:nvPr/>
        </p:nvSpPr>
        <p:spPr>
          <a:xfrm>
            <a:off x="411480" y="822960"/>
            <a:ext cx="4069080" cy="1920240"/>
          </a:xfrm>
          <a:prstGeom prst="roundRect">
            <a:avLst>
              <a:gd name="adj" fmla="val 4762"/>
            </a:avLst>
          </a:prstGeom>
          <a:solidFill>
            <a:srgbClr val="FFFFFF"/>
          </a:solidFill>
          <a:ln w="12700">
            <a:solidFill>
              <a:srgbClr val="D4870A"/>
            </a:solidFill>
            <a:prstDash val="solid"/>
          </a:ln>
          <a:effectLst>
            <a:outerShdw blurRad="63500" dist="25400" dir="2700000" algn="bl" rotWithShape="0">
              <a:srgbClr val="000000">
                <a:alpha val="13000"/>
              </a:srgbClr>
            </a:outerShdw>
          </a:effectLst>
        </p:spPr>
      </p:sp>
      <p:pic>
        <p:nvPicPr>
          <p:cNvPr id="5" name="Image 0" descr="preencoded.png"/>
          <p:cNvPicPr>
            <a:picLocks noChangeAspect="1"/>
          </p:cNvPicPr>
          <p:nvPr/>
        </p:nvPicPr>
        <p:blipFill>
          <a:blip r:embed="rId3"/>
          <a:stretch>
            <a:fillRect/>
          </a:stretch>
        </p:blipFill>
        <p:spPr>
          <a:xfrm>
            <a:off x="548640" y="960120"/>
            <a:ext cx="347472" cy="347472"/>
          </a:xfrm>
          <a:prstGeom prst="rect">
            <a:avLst/>
          </a:prstGeom>
        </p:spPr>
      </p:pic>
      <p:sp>
        <p:nvSpPr>
          <p:cNvPr id="6" name="Text 3"/>
          <p:cNvSpPr/>
          <p:nvPr/>
        </p:nvSpPr>
        <p:spPr>
          <a:xfrm>
            <a:off x="978408" y="932688"/>
            <a:ext cx="3383280" cy="411480"/>
          </a:xfrm>
          <a:prstGeom prst="rect">
            <a:avLst/>
          </a:prstGeom>
          <a:noFill/>
          <a:ln/>
        </p:spPr>
        <p:txBody>
          <a:bodyPr wrap="square" lIns="0" tIns="0" rIns="0" bIns="0" rtlCol="0" anchor="ctr"/>
          <a:lstStyle/>
          <a:p>
            <a:pPr marL="0" indent="0">
              <a:buNone/>
            </a:pPr>
            <a:r>
              <a:rPr lang="en-US" sz="1300" b="1" dirty="0">
                <a:solidFill>
                  <a:srgbClr val="B8860B"/>
                </a:solidFill>
                <a:latin typeface="Arial" pitchFamily="34" charset="0"/>
                <a:ea typeface="Arial" pitchFamily="34" charset="-122"/>
                <a:cs typeface="Arial" pitchFamily="34" charset="-120"/>
              </a:rPr>
              <a:t>Chapter 7 - SEO Toolkit</a:t>
            </a:r>
            <a:endParaRPr lang="en-US" sz="1300" dirty="0"/>
          </a:p>
        </p:txBody>
      </p:sp>
      <p:sp>
        <p:nvSpPr>
          <p:cNvPr id="7" name="Text 4"/>
          <p:cNvSpPr/>
          <p:nvPr/>
        </p:nvSpPr>
        <p:spPr>
          <a:xfrm>
            <a:off x="594360" y="1389888"/>
            <a:ext cx="3749040" cy="1261872"/>
          </a:xfrm>
          <a:prstGeom prst="rect">
            <a:avLst/>
          </a:prstGeom>
          <a:noFill/>
          <a:ln/>
        </p:spPr>
        <p:txBody>
          <a:bodyPr wrap="square" rtlCol="0" anchor="t"/>
          <a:lstStyle/>
          <a:p>
            <a:pPr marL="342900" indent="-342900">
              <a:spcAft>
                <a:spcPts val="300"/>
              </a:spcAft>
              <a:buSzPct val="100000"/>
              <a:buChar char="•"/>
            </a:pPr>
            <a:r>
              <a:rPr lang="en-US" sz="1100" dirty="0">
                <a:solidFill>
                  <a:srgbClr val="1A1200"/>
                </a:solidFill>
                <a:latin typeface="Arial" pitchFamily="34" charset="0"/>
                <a:ea typeface="Arial" pitchFamily="34" charset="-122"/>
                <a:cs typeface="Arial" pitchFamily="34" charset="-120"/>
              </a:rPr>
              <a:t>Full Word document - screen share ready</a:t>
            </a:r>
            <a:endParaRPr lang="en-US" sz="1100" dirty="0"/>
          </a:p>
          <a:p>
            <a:pPr marL="342900" indent="-342900">
              <a:spcAft>
                <a:spcPts val="300"/>
              </a:spcAft>
              <a:buSzPct val="100000"/>
              <a:buChar char="•"/>
            </a:pPr>
            <a:r>
              <a:rPr lang="en-US" sz="1100" dirty="0">
                <a:solidFill>
                  <a:srgbClr val="1A1200"/>
                </a:solidFill>
                <a:latin typeface="Arial" pitchFamily="34" charset="0"/>
                <a:ea typeface="Arial" pitchFamily="34" charset="-122"/>
                <a:cs typeface="Arial" pitchFamily="34" charset="-120"/>
              </a:rPr>
              <a:t>Methodology, keyword matrix, monthly checklist</a:t>
            </a:r>
            <a:endParaRPr lang="en-US" sz="1100" dirty="0"/>
          </a:p>
          <a:p>
            <a:pPr marL="342900" indent="-342900">
              <a:spcAft>
                <a:spcPts val="300"/>
              </a:spcAft>
              <a:buSzPct val="100000"/>
              <a:buChar char="•"/>
            </a:pPr>
            <a:r>
              <a:rPr lang="en-US" sz="1100" dirty="0">
                <a:solidFill>
                  <a:srgbClr val="1A1200"/>
                </a:solidFill>
                <a:latin typeface="Arial" pitchFamily="34" charset="0"/>
                <a:ea typeface="Arial" pitchFamily="34" charset="-122"/>
                <a:cs typeface="Arial" pitchFamily="34" charset="-120"/>
              </a:rPr>
              <a:t>APA 7 citations &amp; reference list</a:t>
            </a:r>
            <a:endParaRPr lang="en-US" sz="1100" dirty="0"/>
          </a:p>
          <a:p>
            <a:pPr marL="342900" indent="-342900">
              <a:spcAft>
                <a:spcPts val="300"/>
              </a:spcAft>
              <a:buSzPct val="100000"/>
              <a:buChar char="•"/>
            </a:pPr>
            <a:r>
              <a:rPr lang="en-US" sz="1100" dirty="0">
                <a:solidFill>
                  <a:srgbClr val="1A1200"/>
                </a:solidFill>
                <a:latin typeface="Arial" pitchFamily="34" charset="0"/>
                <a:ea typeface="Arial" pitchFamily="34" charset="-122"/>
                <a:cs typeface="Arial" pitchFamily="34" charset="-120"/>
              </a:rPr>
              <a:t>Plain-language guide for non-technical client</a:t>
            </a:r>
            <a:endParaRPr lang="en-US" sz="1100" dirty="0"/>
          </a:p>
        </p:txBody>
      </p:sp>
      <p:sp>
        <p:nvSpPr>
          <p:cNvPr id="8" name="Shape 5"/>
          <p:cNvSpPr/>
          <p:nvPr/>
        </p:nvSpPr>
        <p:spPr>
          <a:xfrm>
            <a:off x="4663440" y="822960"/>
            <a:ext cx="4069080" cy="1920240"/>
          </a:xfrm>
          <a:prstGeom prst="roundRect">
            <a:avLst>
              <a:gd name="adj" fmla="val 4762"/>
            </a:avLst>
          </a:prstGeom>
          <a:solidFill>
            <a:srgbClr val="FFFFFF"/>
          </a:solidFill>
          <a:ln w="12700">
            <a:solidFill>
              <a:srgbClr val="D4870A"/>
            </a:solidFill>
            <a:prstDash val="solid"/>
          </a:ln>
          <a:effectLst>
            <a:outerShdw blurRad="63500" dist="25400" dir="2700000" algn="bl" rotWithShape="0">
              <a:srgbClr val="000000">
                <a:alpha val="13000"/>
              </a:srgbClr>
            </a:outerShdw>
          </a:effectLst>
        </p:spPr>
      </p:sp>
      <p:pic>
        <p:nvPicPr>
          <p:cNvPr id="9" name="Image 1" descr="preencoded.png"/>
          <p:cNvPicPr>
            <a:picLocks noChangeAspect="1"/>
          </p:cNvPicPr>
          <p:nvPr/>
        </p:nvPicPr>
        <p:blipFill>
          <a:blip r:embed="rId4"/>
          <a:stretch>
            <a:fillRect/>
          </a:stretch>
        </p:blipFill>
        <p:spPr>
          <a:xfrm>
            <a:off x="4800600" y="960120"/>
            <a:ext cx="347472" cy="347472"/>
          </a:xfrm>
          <a:prstGeom prst="rect">
            <a:avLst/>
          </a:prstGeom>
        </p:spPr>
      </p:pic>
      <p:sp>
        <p:nvSpPr>
          <p:cNvPr id="10" name="Text 6"/>
          <p:cNvSpPr/>
          <p:nvPr/>
        </p:nvSpPr>
        <p:spPr>
          <a:xfrm>
            <a:off x="5230368" y="932688"/>
            <a:ext cx="3383280" cy="411480"/>
          </a:xfrm>
          <a:prstGeom prst="rect">
            <a:avLst/>
          </a:prstGeom>
          <a:noFill/>
          <a:ln/>
        </p:spPr>
        <p:txBody>
          <a:bodyPr wrap="square" lIns="0" tIns="0" rIns="0" bIns="0" rtlCol="0" anchor="ctr"/>
          <a:lstStyle/>
          <a:p>
            <a:pPr marL="0" indent="0">
              <a:buNone/>
            </a:pPr>
            <a:r>
              <a:rPr lang="en-US" sz="1300" b="1" dirty="0">
                <a:solidFill>
                  <a:srgbClr val="B8860B"/>
                </a:solidFill>
                <a:latin typeface="Arial" pitchFamily="34" charset="0"/>
                <a:ea typeface="Arial" pitchFamily="34" charset="-122"/>
                <a:cs typeface="Arial" pitchFamily="34" charset="-120"/>
              </a:rPr>
              <a:t>Backlog / Journal</a:t>
            </a:r>
            <a:endParaRPr lang="en-US" sz="1300" dirty="0"/>
          </a:p>
        </p:txBody>
      </p:sp>
      <p:sp>
        <p:nvSpPr>
          <p:cNvPr id="11" name="Text 7"/>
          <p:cNvSpPr/>
          <p:nvPr/>
        </p:nvSpPr>
        <p:spPr>
          <a:xfrm>
            <a:off x="4846320" y="1389888"/>
            <a:ext cx="3749040" cy="1261872"/>
          </a:xfrm>
          <a:prstGeom prst="rect">
            <a:avLst/>
          </a:prstGeom>
          <a:noFill/>
          <a:ln/>
        </p:spPr>
        <p:txBody>
          <a:bodyPr wrap="square" rtlCol="0" anchor="t"/>
          <a:lstStyle/>
          <a:p>
            <a:pPr marL="342900" indent="-342900">
              <a:spcAft>
                <a:spcPts val="300"/>
              </a:spcAft>
              <a:buSzPct val="100000"/>
              <a:buChar char="•"/>
            </a:pPr>
            <a:r>
              <a:rPr lang="en-US" sz="1100" dirty="0">
                <a:solidFill>
                  <a:srgbClr val="1A1200"/>
                </a:solidFill>
                <a:latin typeface="Arial" pitchFamily="34" charset="0"/>
                <a:ea typeface="Arial" pitchFamily="34" charset="-122"/>
                <a:cs typeface="Arial" pitchFamily="34" charset="-120"/>
              </a:rPr>
              <a:t>All tasks logged with dates &amp; decisions</a:t>
            </a:r>
            <a:endParaRPr lang="en-US" sz="1100" dirty="0"/>
          </a:p>
          <a:p>
            <a:pPr marL="342900" indent="-342900">
              <a:spcAft>
                <a:spcPts val="300"/>
              </a:spcAft>
              <a:buSzPct val="100000"/>
              <a:buChar char="•"/>
            </a:pPr>
            <a:r>
              <a:rPr lang="en-US" sz="1100" dirty="0">
                <a:solidFill>
                  <a:srgbClr val="1A1200"/>
                </a:solidFill>
                <a:latin typeface="Arial" pitchFamily="34" charset="0"/>
                <a:ea typeface="Arial" pitchFamily="34" charset="-122"/>
                <a:cs typeface="Arial" pitchFamily="34" charset="-120"/>
              </a:rPr>
              <a:t>Cross-referenced with deliverables</a:t>
            </a:r>
            <a:endParaRPr lang="en-US" sz="1100" dirty="0"/>
          </a:p>
          <a:p>
            <a:pPr marL="342900" indent="-342900">
              <a:spcAft>
                <a:spcPts val="300"/>
              </a:spcAft>
              <a:buSzPct val="100000"/>
              <a:buChar char="•"/>
            </a:pPr>
            <a:r>
              <a:rPr lang="en-US" sz="1100" dirty="0">
                <a:solidFill>
                  <a:srgbClr val="1A1200"/>
                </a:solidFill>
                <a:latin typeface="Arial" pitchFamily="34" charset="0"/>
                <a:ea typeface="Arial" pitchFamily="34" charset="-122"/>
                <a:cs typeface="Arial" pitchFamily="34" charset="-120"/>
              </a:rPr>
              <a:t>Demonstrates quantity &amp; quality of output</a:t>
            </a:r>
            <a:endParaRPr lang="en-US" sz="1100" dirty="0"/>
          </a:p>
          <a:p>
            <a:pPr marL="342900" indent="-342900">
              <a:spcAft>
                <a:spcPts val="300"/>
              </a:spcAft>
              <a:buSzPct val="100000"/>
              <a:buChar char="•"/>
            </a:pPr>
            <a:r>
              <a:rPr lang="en-US" sz="1100" dirty="0">
                <a:solidFill>
                  <a:srgbClr val="1A1200"/>
                </a:solidFill>
                <a:latin typeface="Arial" pitchFamily="34" charset="0"/>
                <a:ea typeface="Arial" pitchFamily="34" charset="-122"/>
                <a:cs typeface="Arial" pitchFamily="34" charset="-120"/>
              </a:rPr>
              <a:t>Available for supervisor cross-check</a:t>
            </a:r>
            <a:endParaRPr lang="en-US" sz="1100" dirty="0"/>
          </a:p>
        </p:txBody>
      </p:sp>
      <p:sp>
        <p:nvSpPr>
          <p:cNvPr id="12" name="Shape 8"/>
          <p:cNvSpPr/>
          <p:nvPr/>
        </p:nvSpPr>
        <p:spPr>
          <a:xfrm>
            <a:off x="411480" y="2880360"/>
            <a:ext cx="4069080" cy="1920240"/>
          </a:xfrm>
          <a:prstGeom prst="roundRect">
            <a:avLst>
              <a:gd name="adj" fmla="val 4762"/>
            </a:avLst>
          </a:prstGeom>
          <a:solidFill>
            <a:srgbClr val="FFFFFF"/>
          </a:solidFill>
          <a:ln w="12700">
            <a:solidFill>
              <a:srgbClr val="D4870A"/>
            </a:solidFill>
            <a:prstDash val="solid"/>
          </a:ln>
          <a:effectLst>
            <a:outerShdw blurRad="63500" dist="25400" dir="2700000" algn="bl" rotWithShape="0">
              <a:srgbClr val="000000">
                <a:alpha val="13000"/>
              </a:srgbClr>
            </a:outerShdw>
          </a:effectLst>
        </p:spPr>
      </p:sp>
      <p:pic>
        <p:nvPicPr>
          <p:cNvPr id="13" name="Image 2" descr="preencoded.png"/>
          <p:cNvPicPr>
            <a:picLocks noChangeAspect="1"/>
          </p:cNvPicPr>
          <p:nvPr/>
        </p:nvPicPr>
        <p:blipFill>
          <a:blip r:embed="rId5"/>
          <a:stretch>
            <a:fillRect/>
          </a:stretch>
        </p:blipFill>
        <p:spPr>
          <a:xfrm>
            <a:off x="548640" y="3017520"/>
            <a:ext cx="347472" cy="347472"/>
          </a:xfrm>
          <a:prstGeom prst="rect">
            <a:avLst/>
          </a:prstGeom>
        </p:spPr>
      </p:pic>
      <p:sp>
        <p:nvSpPr>
          <p:cNvPr id="14" name="Text 9"/>
          <p:cNvSpPr/>
          <p:nvPr/>
        </p:nvSpPr>
        <p:spPr>
          <a:xfrm>
            <a:off x="978408" y="2990088"/>
            <a:ext cx="3383280" cy="411480"/>
          </a:xfrm>
          <a:prstGeom prst="rect">
            <a:avLst/>
          </a:prstGeom>
          <a:noFill/>
          <a:ln/>
        </p:spPr>
        <p:txBody>
          <a:bodyPr wrap="square" lIns="0" tIns="0" rIns="0" bIns="0" rtlCol="0" anchor="ctr"/>
          <a:lstStyle/>
          <a:p>
            <a:pPr marL="0" indent="0">
              <a:buNone/>
            </a:pPr>
            <a:r>
              <a:rPr lang="en-US" sz="1300" b="1" dirty="0">
                <a:solidFill>
                  <a:srgbClr val="B8860B"/>
                </a:solidFill>
                <a:latin typeface="Arial" pitchFamily="34" charset="0"/>
                <a:ea typeface="Arial" pitchFamily="34" charset="-122"/>
                <a:cs typeface="Arial" pitchFamily="34" charset="-120"/>
              </a:rPr>
              <a:t>Live Site Evidence</a:t>
            </a:r>
            <a:endParaRPr lang="en-US" sz="1300" dirty="0"/>
          </a:p>
        </p:txBody>
      </p:sp>
      <p:sp>
        <p:nvSpPr>
          <p:cNvPr id="15" name="Text 10"/>
          <p:cNvSpPr/>
          <p:nvPr/>
        </p:nvSpPr>
        <p:spPr>
          <a:xfrm>
            <a:off x="594360" y="3447288"/>
            <a:ext cx="3749040" cy="1261872"/>
          </a:xfrm>
          <a:prstGeom prst="rect">
            <a:avLst/>
          </a:prstGeom>
          <a:noFill/>
          <a:ln/>
        </p:spPr>
        <p:txBody>
          <a:bodyPr wrap="square" rtlCol="0" anchor="t"/>
          <a:lstStyle/>
          <a:p>
            <a:pPr marL="342900" indent="-342900">
              <a:spcAft>
                <a:spcPts val="300"/>
              </a:spcAft>
              <a:buSzPct val="100000"/>
              <a:buChar char="•"/>
            </a:pPr>
            <a:r>
              <a:rPr lang="en-US" sz="1100" dirty="0">
                <a:solidFill>
                  <a:srgbClr val="1A1200"/>
                </a:solidFill>
                <a:latin typeface="Arial" pitchFamily="34" charset="0"/>
                <a:ea typeface="Arial" pitchFamily="34" charset="-122"/>
                <a:cs typeface="Arial" pitchFamily="34" charset="-120"/>
              </a:rPr>
              <a:t>aphroditesharvest.com.au - live in browser</a:t>
            </a:r>
            <a:endParaRPr lang="en-US" sz="1100" dirty="0"/>
          </a:p>
          <a:p>
            <a:pPr marL="342900" indent="-342900">
              <a:spcAft>
                <a:spcPts val="300"/>
              </a:spcAft>
              <a:buSzPct val="100000"/>
              <a:buChar char="•"/>
            </a:pPr>
            <a:r>
              <a:rPr lang="en-US" sz="1100" dirty="0">
                <a:solidFill>
                  <a:srgbClr val="1A1200"/>
                </a:solidFill>
                <a:latin typeface="Arial" pitchFamily="34" charset="0"/>
                <a:ea typeface="Arial" pitchFamily="34" charset="-122"/>
                <a:cs typeface="Arial" pitchFamily="34" charset="-120"/>
              </a:rPr>
              <a:t>RankMath dashboard - meta, schema, GSC</a:t>
            </a:r>
            <a:endParaRPr lang="en-US" sz="1100" dirty="0"/>
          </a:p>
          <a:p>
            <a:pPr marL="342900" indent="-342900">
              <a:spcAft>
                <a:spcPts val="300"/>
              </a:spcAft>
              <a:buSzPct val="100000"/>
              <a:buChar char="•"/>
            </a:pPr>
            <a:r>
              <a:rPr lang="en-US" sz="1100" dirty="0">
                <a:solidFill>
                  <a:srgbClr val="1A1200"/>
                </a:solidFill>
                <a:latin typeface="Arial" pitchFamily="34" charset="0"/>
                <a:ea typeface="Arial" pitchFamily="34" charset="-122"/>
                <a:cs typeface="Arial" pitchFamily="34" charset="-120"/>
              </a:rPr>
              <a:t>Google Search Console - sitemap submitted</a:t>
            </a:r>
            <a:endParaRPr lang="en-US" sz="1100" dirty="0"/>
          </a:p>
          <a:p>
            <a:pPr marL="342900" indent="-342900">
              <a:spcAft>
                <a:spcPts val="300"/>
              </a:spcAft>
              <a:buSzPct val="100000"/>
              <a:buChar char="•"/>
            </a:pPr>
            <a:r>
              <a:rPr lang="en-US" sz="1100" dirty="0">
                <a:solidFill>
                  <a:srgbClr val="1A1200"/>
                </a:solidFill>
                <a:latin typeface="Arial" pitchFamily="34" charset="0"/>
                <a:ea typeface="Arial" pitchFamily="34" charset="-122"/>
                <a:cs typeface="Arial" pitchFamily="34" charset="-120"/>
              </a:rPr>
              <a:t>2 published blog posts with SEO structure</a:t>
            </a:r>
            <a:endParaRPr lang="en-US" sz="1100" dirty="0"/>
          </a:p>
        </p:txBody>
      </p:sp>
      <p:sp>
        <p:nvSpPr>
          <p:cNvPr id="16" name="Shape 11"/>
          <p:cNvSpPr/>
          <p:nvPr/>
        </p:nvSpPr>
        <p:spPr>
          <a:xfrm>
            <a:off x="4663440" y="2880360"/>
            <a:ext cx="4069080" cy="1920240"/>
          </a:xfrm>
          <a:prstGeom prst="roundRect">
            <a:avLst>
              <a:gd name="adj" fmla="val 4762"/>
            </a:avLst>
          </a:prstGeom>
          <a:solidFill>
            <a:srgbClr val="FFFFFF"/>
          </a:solidFill>
          <a:ln w="12700">
            <a:solidFill>
              <a:srgbClr val="D4870A"/>
            </a:solidFill>
            <a:prstDash val="solid"/>
          </a:ln>
          <a:effectLst>
            <a:outerShdw blurRad="63500" dist="25400" dir="2700000" algn="bl" rotWithShape="0">
              <a:srgbClr val="000000">
                <a:alpha val="13000"/>
              </a:srgbClr>
            </a:outerShdw>
          </a:effectLst>
        </p:spPr>
      </p:sp>
      <p:pic>
        <p:nvPicPr>
          <p:cNvPr id="17" name="Image 3" descr="preencoded.png"/>
          <p:cNvPicPr>
            <a:picLocks noChangeAspect="1"/>
          </p:cNvPicPr>
          <p:nvPr/>
        </p:nvPicPr>
        <p:blipFill>
          <a:blip r:embed="rId6"/>
          <a:stretch>
            <a:fillRect/>
          </a:stretch>
        </p:blipFill>
        <p:spPr>
          <a:xfrm>
            <a:off x="4800600" y="3017520"/>
            <a:ext cx="347472" cy="347472"/>
          </a:xfrm>
          <a:prstGeom prst="rect">
            <a:avLst/>
          </a:prstGeom>
        </p:spPr>
      </p:pic>
      <p:sp>
        <p:nvSpPr>
          <p:cNvPr id="18" name="Text 12"/>
          <p:cNvSpPr/>
          <p:nvPr/>
        </p:nvSpPr>
        <p:spPr>
          <a:xfrm>
            <a:off x="5230368" y="2990088"/>
            <a:ext cx="3383280" cy="411480"/>
          </a:xfrm>
          <a:prstGeom prst="rect">
            <a:avLst/>
          </a:prstGeom>
          <a:noFill/>
          <a:ln/>
        </p:spPr>
        <p:txBody>
          <a:bodyPr wrap="square" lIns="0" tIns="0" rIns="0" bIns="0" rtlCol="0" anchor="ctr"/>
          <a:lstStyle/>
          <a:p>
            <a:pPr marL="0" indent="0">
              <a:buNone/>
            </a:pPr>
            <a:r>
              <a:rPr lang="en-US" sz="1300" b="1" dirty="0">
                <a:solidFill>
                  <a:srgbClr val="B8860B"/>
                </a:solidFill>
                <a:latin typeface="Arial" pitchFamily="34" charset="0"/>
                <a:ea typeface="Arial" pitchFamily="34" charset="-122"/>
                <a:cs typeface="Arial" pitchFamily="34" charset="-120"/>
              </a:rPr>
              <a:t>Research &amp; Methodology</a:t>
            </a:r>
            <a:endParaRPr lang="en-US" sz="1300" dirty="0"/>
          </a:p>
        </p:txBody>
      </p:sp>
      <p:sp>
        <p:nvSpPr>
          <p:cNvPr id="19" name="Text 13"/>
          <p:cNvSpPr/>
          <p:nvPr/>
        </p:nvSpPr>
        <p:spPr>
          <a:xfrm>
            <a:off x="4846320" y="3447288"/>
            <a:ext cx="3749040" cy="1261872"/>
          </a:xfrm>
          <a:prstGeom prst="rect">
            <a:avLst/>
          </a:prstGeom>
          <a:noFill/>
          <a:ln/>
        </p:spPr>
        <p:txBody>
          <a:bodyPr wrap="square" rtlCol="0" anchor="t"/>
          <a:lstStyle/>
          <a:p>
            <a:pPr marL="342900" indent="-342900">
              <a:spcAft>
                <a:spcPts val="300"/>
              </a:spcAft>
              <a:buSzPct val="100000"/>
              <a:buChar char="•"/>
            </a:pPr>
            <a:r>
              <a:rPr lang="en-US" sz="1100" dirty="0">
                <a:solidFill>
                  <a:srgbClr val="1A1200"/>
                </a:solidFill>
                <a:latin typeface="Arial" pitchFamily="34" charset="0"/>
                <a:ea typeface="Arial" pitchFamily="34" charset="-122"/>
                <a:cs typeface="Arial" pitchFamily="34" charset="-120"/>
              </a:rPr>
              <a:t>Keyword research - 3-tool approach</a:t>
            </a:r>
            <a:endParaRPr lang="en-US" sz="1100" dirty="0"/>
          </a:p>
          <a:p>
            <a:pPr marL="342900" indent="-342900">
              <a:spcAft>
                <a:spcPts val="300"/>
              </a:spcAft>
              <a:buSzPct val="100000"/>
              <a:buChar char="•"/>
            </a:pPr>
            <a:r>
              <a:rPr lang="en-US" sz="1100" dirty="0">
                <a:solidFill>
                  <a:srgbClr val="1A1200"/>
                </a:solidFill>
                <a:latin typeface="Arial" pitchFamily="34" charset="0"/>
                <a:ea typeface="Arial" pitchFamily="34" charset="-122"/>
                <a:cs typeface="Arial" pitchFamily="34" charset="-120"/>
              </a:rPr>
              <a:t>Competitor gap analysis (top 5 SA sites)</a:t>
            </a:r>
            <a:endParaRPr lang="en-US" sz="1100" dirty="0"/>
          </a:p>
          <a:p>
            <a:pPr marL="342900" indent="-342900">
              <a:spcAft>
                <a:spcPts val="300"/>
              </a:spcAft>
              <a:buSzPct val="100000"/>
              <a:buChar char="•"/>
            </a:pPr>
            <a:r>
              <a:rPr lang="en-US" sz="1100" dirty="0">
                <a:solidFill>
                  <a:srgbClr val="1A1200"/>
                </a:solidFill>
                <a:latin typeface="Arial" pitchFamily="34" charset="0"/>
                <a:ea typeface="Arial" pitchFamily="34" charset="-122"/>
                <a:cs typeface="Arial" pitchFamily="34" charset="-120"/>
              </a:rPr>
              <a:t>Content brief process for each blog post</a:t>
            </a:r>
            <a:endParaRPr lang="en-US" sz="1100" dirty="0"/>
          </a:p>
          <a:p>
            <a:pPr marL="342900" indent="-342900">
              <a:spcAft>
                <a:spcPts val="300"/>
              </a:spcAft>
              <a:buSzPct val="100000"/>
              <a:buChar char="•"/>
            </a:pPr>
            <a:r>
              <a:rPr lang="en-US" sz="1100" dirty="0">
                <a:solidFill>
                  <a:srgbClr val="1A1200"/>
                </a:solidFill>
                <a:latin typeface="Arial" pitchFamily="34" charset="0"/>
                <a:ea typeface="Arial" pitchFamily="34" charset="-122"/>
                <a:cs typeface="Arial" pitchFamily="34" charset="-120"/>
              </a:rPr>
              <a:t>Sources: GSC, Moz, SEJ, PIRSA, BSSA</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C1200"/>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457200"/>
          </a:xfrm>
          <a:prstGeom prst="rect">
            <a:avLst/>
          </a:prstGeom>
          <a:noFill/>
          <a:ln/>
        </p:spPr>
        <p:txBody>
          <a:bodyPr wrap="square" lIns="0" tIns="0" rIns="0" bIns="0" rtlCol="0" anchor="ctr"/>
          <a:lstStyle/>
          <a:p>
            <a:pPr marL="0" indent="0" algn="l">
              <a:buNone/>
            </a:pPr>
            <a:r>
              <a:rPr lang="en-US" sz="2600" b="1" dirty="0">
                <a:solidFill>
                  <a:srgbClr val="F5A623"/>
                </a:solidFill>
                <a:latin typeface="Arial" pitchFamily="34" charset="0"/>
                <a:ea typeface="Arial" pitchFamily="34" charset="-122"/>
                <a:cs typeface="Arial" pitchFamily="34" charset="-120"/>
              </a:rPr>
              <a:t>Viva Demo</a:t>
            </a:r>
            <a:endParaRPr lang="en-US" sz="2600" dirty="0"/>
          </a:p>
        </p:txBody>
      </p:sp>
      <p:sp>
        <p:nvSpPr>
          <p:cNvPr id="3" name="Shape 1"/>
          <p:cNvSpPr/>
          <p:nvPr/>
        </p:nvSpPr>
        <p:spPr>
          <a:xfrm>
            <a:off x="457200" y="685800"/>
            <a:ext cx="8229600" cy="22860"/>
          </a:xfrm>
          <a:prstGeom prst="rect">
            <a:avLst/>
          </a:prstGeom>
          <a:solidFill>
            <a:srgbClr val="D4870A"/>
          </a:solidFill>
          <a:ln w="12700">
            <a:solidFill>
              <a:srgbClr val="FFFFFF">
                <a:alpha val="0"/>
              </a:srgbClr>
            </a:solidFill>
            <a:prstDash val="solid"/>
          </a:ln>
        </p:spPr>
      </p:sp>
      <p:sp>
        <p:nvSpPr>
          <p:cNvPr id="4" name="Shape 2"/>
          <p:cNvSpPr/>
          <p:nvPr/>
        </p:nvSpPr>
        <p:spPr>
          <a:xfrm>
            <a:off x="411480" y="896112"/>
            <a:ext cx="4069080" cy="914400"/>
          </a:xfrm>
          <a:prstGeom prst="roundRect">
            <a:avLst>
              <a:gd name="adj" fmla="val 8000"/>
            </a:avLst>
          </a:prstGeom>
          <a:solidFill>
            <a:srgbClr val="2A1800"/>
          </a:solidFill>
          <a:ln w="12700">
            <a:solidFill>
              <a:srgbClr val="D4870A"/>
            </a:solidFill>
            <a:prstDash val="solid"/>
          </a:ln>
          <a:effectLst>
            <a:outerShdw blurRad="101600" dist="38100" dir="2700000" algn="bl" rotWithShape="0">
              <a:srgbClr val="000000">
                <a:alpha val="25000"/>
              </a:srgbClr>
            </a:outerShdw>
          </a:effectLst>
        </p:spPr>
      </p:sp>
      <p:sp>
        <p:nvSpPr>
          <p:cNvPr id="5" name="Shape 3"/>
          <p:cNvSpPr/>
          <p:nvPr/>
        </p:nvSpPr>
        <p:spPr>
          <a:xfrm>
            <a:off x="548640" y="1097280"/>
            <a:ext cx="457200" cy="457200"/>
          </a:xfrm>
          <a:prstGeom prst="ellipse">
            <a:avLst/>
          </a:prstGeom>
          <a:solidFill>
            <a:srgbClr val="D4870A"/>
          </a:solidFill>
          <a:ln w="12700">
            <a:solidFill>
              <a:srgbClr val="FFFFFF">
                <a:alpha val="0"/>
              </a:srgbClr>
            </a:solidFill>
            <a:prstDash val="solid"/>
          </a:ln>
        </p:spPr>
      </p:sp>
      <p:sp>
        <p:nvSpPr>
          <p:cNvPr id="6" name="Text 4"/>
          <p:cNvSpPr/>
          <p:nvPr/>
        </p:nvSpPr>
        <p:spPr>
          <a:xfrm>
            <a:off x="548640" y="1097280"/>
            <a:ext cx="457200" cy="457200"/>
          </a:xfrm>
          <a:prstGeom prst="rect">
            <a:avLst/>
          </a:prstGeom>
          <a:noFill/>
          <a:ln/>
        </p:spPr>
        <p:txBody>
          <a:bodyPr wrap="square" lIns="0" tIns="0" rIns="0" bIns="0" rtlCol="0" anchor="ctr"/>
          <a:lstStyle/>
          <a:p>
            <a:pPr marL="0" indent="0" algn="ctr">
              <a:buNone/>
            </a:pPr>
            <a:r>
              <a:rPr lang="en-US" sz="1600" b="1" dirty="0">
                <a:solidFill>
                  <a:srgbClr val="1C1200"/>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106424" y="969264"/>
            <a:ext cx="3246120" cy="347472"/>
          </a:xfrm>
          <a:prstGeom prst="rect">
            <a:avLst/>
          </a:prstGeom>
          <a:noFill/>
          <a:ln/>
        </p:spPr>
        <p:txBody>
          <a:bodyPr wrap="square" lIns="0" tIns="0" rIns="0" bIns="0" rtlCol="0" anchor="ctr"/>
          <a:lstStyle/>
          <a:p>
            <a:pPr marL="0" indent="0">
              <a:buNone/>
            </a:pPr>
            <a:r>
              <a:rPr lang="en-US" sz="1200" b="1" dirty="0">
                <a:solidFill>
                  <a:srgbClr val="F5A623"/>
                </a:solidFill>
                <a:latin typeface="Arial" pitchFamily="34" charset="0"/>
                <a:ea typeface="Arial" pitchFamily="34" charset="-122"/>
                <a:cs typeface="Arial" pitchFamily="34" charset="-120"/>
              </a:rPr>
              <a:t>Live homepage comparison</a:t>
            </a:r>
            <a:endParaRPr lang="en-US" sz="1200" dirty="0"/>
          </a:p>
        </p:txBody>
      </p:sp>
      <p:sp>
        <p:nvSpPr>
          <p:cNvPr id="8" name="Text 6"/>
          <p:cNvSpPr/>
          <p:nvPr/>
        </p:nvSpPr>
        <p:spPr>
          <a:xfrm>
            <a:off x="1106424" y="1335024"/>
            <a:ext cx="3246120" cy="402336"/>
          </a:xfrm>
          <a:prstGeom prst="rect">
            <a:avLst/>
          </a:prstGeom>
          <a:noFill/>
          <a:ln/>
        </p:spPr>
        <p:txBody>
          <a:bodyPr wrap="square" lIns="0" tIns="0" rIns="0" bIns="0" rtlCol="0" anchor="ctr"/>
          <a:lstStyle/>
          <a:p>
            <a:pPr marL="0" indent="0">
              <a:buNone/>
            </a:pPr>
            <a:r>
              <a:rPr lang="en-US" sz="1050" dirty="0">
                <a:solidFill>
                  <a:srgbClr val="FFFFFF"/>
                </a:solidFill>
                <a:latin typeface="Arial" pitchFamily="34" charset="0"/>
                <a:ea typeface="Arial" pitchFamily="34" charset="-122"/>
                <a:cs typeface="Arial" pitchFamily="34" charset="-120"/>
              </a:rPr>
              <a:t>Two browser tabs - staging vs aphroditesharvest.com.au</a:t>
            </a:r>
            <a:endParaRPr lang="en-US" sz="1050" dirty="0"/>
          </a:p>
        </p:txBody>
      </p:sp>
      <p:sp>
        <p:nvSpPr>
          <p:cNvPr id="9" name="Shape 7"/>
          <p:cNvSpPr/>
          <p:nvPr/>
        </p:nvSpPr>
        <p:spPr>
          <a:xfrm>
            <a:off x="411480" y="1920240"/>
            <a:ext cx="4069080" cy="914400"/>
          </a:xfrm>
          <a:prstGeom prst="roundRect">
            <a:avLst>
              <a:gd name="adj" fmla="val 8000"/>
            </a:avLst>
          </a:prstGeom>
          <a:solidFill>
            <a:srgbClr val="2A1800"/>
          </a:solidFill>
          <a:ln w="12700">
            <a:solidFill>
              <a:srgbClr val="D4870A"/>
            </a:solidFill>
            <a:prstDash val="solid"/>
          </a:ln>
          <a:effectLst>
            <a:outerShdw blurRad="101600" dist="38100" dir="2700000" algn="bl" rotWithShape="0">
              <a:srgbClr val="000000">
                <a:alpha val="25000"/>
              </a:srgbClr>
            </a:outerShdw>
          </a:effectLst>
        </p:spPr>
      </p:sp>
      <p:sp>
        <p:nvSpPr>
          <p:cNvPr id="10" name="Shape 8"/>
          <p:cNvSpPr/>
          <p:nvPr/>
        </p:nvSpPr>
        <p:spPr>
          <a:xfrm>
            <a:off x="548640" y="2121408"/>
            <a:ext cx="457200" cy="457200"/>
          </a:xfrm>
          <a:prstGeom prst="ellipse">
            <a:avLst/>
          </a:prstGeom>
          <a:solidFill>
            <a:srgbClr val="D4870A"/>
          </a:solidFill>
          <a:ln w="12700">
            <a:solidFill>
              <a:srgbClr val="FFFFFF">
                <a:alpha val="0"/>
              </a:srgbClr>
            </a:solidFill>
            <a:prstDash val="solid"/>
          </a:ln>
        </p:spPr>
      </p:sp>
      <p:sp>
        <p:nvSpPr>
          <p:cNvPr id="11" name="Text 9"/>
          <p:cNvSpPr/>
          <p:nvPr/>
        </p:nvSpPr>
        <p:spPr>
          <a:xfrm>
            <a:off x="548640" y="2121408"/>
            <a:ext cx="457200" cy="457200"/>
          </a:xfrm>
          <a:prstGeom prst="rect">
            <a:avLst/>
          </a:prstGeom>
          <a:noFill/>
          <a:ln/>
        </p:spPr>
        <p:txBody>
          <a:bodyPr wrap="square" lIns="0" tIns="0" rIns="0" bIns="0" rtlCol="0" anchor="ctr"/>
          <a:lstStyle/>
          <a:p>
            <a:pPr marL="0" indent="0" algn="ctr">
              <a:buNone/>
            </a:pPr>
            <a:r>
              <a:rPr lang="en-US" sz="1600" b="1" dirty="0">
                <a:solidFill>
                  <a:srgbClr val="1C1200"/>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106424" y="1993392"/>
            <a:ext cx="3246120" cy="347472"/>
          </a:xfrm>
          <a:prstGeom prst="rect">
            <a:avLst/>
          </a:prstGeom>
          <a:noFill/>
          <a:ln/>
        </p:spPr>
        <p:txBody>
          <a:bodyPr wrap="square" lIns="0" tIns="0" rIns="0" bIns="0" rtlCol="0" anchor="ctr"/>
          <a:lstStyle/>
          <a:p>
            <a:pPr marL="0" indent="0">
              <a:buNone/>
            </a:pPr>
            <a:r>
              <a:rPr lang="en-US" sz="1200" b="1" dirty="0">
                <a:solidFill>
                  <a:srgbClr val="F5A623"/>
                </a:solidFill>
                <a:latin typeface="Arial" pitchFamily="34" charset="0"/>
                <a:ea typeface="Arial" pitchFamily="34" charset="-122"/>
                <a:cs typeface="Arial" pitchFamily="34" charset="-120"/>
              </a:rPr>
              <a:t>RankMath dashboard</a:t>
            </a:r>
            <a:endParaRPr lang="en-US" sz="1200" dirty="0"/>
          </a:p>
        </p:txBody>
      </p:sp>
      <p:sp>
        <p:nvSpPr>
          <p:cNvPr id="13" name="Text 11"/>
          <p:cNvSpPr/>
          <p:nvPr/>
        </p:nvSpPr>
        <p:spPr>
          <a:xfrm>
            <a:off x="1106424" y="2359152"/>
            <a:ext cx="3246120" cy="402336"/>
          </a:xfrm>
          <a:prstGeom prst="rect">
            <a:avLst/>
          </a:prstGeom>
          <a:noFill/>
          <a:ln/>
        </p:spPr>
        <p:txBody>
          <a:bodyPr wrap="square" lIns="0" tIns="0" rIns="0" bIns="0" rtlCol="0" anchor="ctr"/>
          <a:lstStyle/>
          <a:p>
            <a:pPr marL="0" indent="0">
              <a:buNone/>
            </a:pPr>
            <a:r>
              <a:rPr lang="en-US" sz="1050" dirty="0">
                <a:solidFill>
                  <a:srgbClr val="FFFFFF"/>
                </a:solidFill>
                <a:latin typeface="Arial" pitchFamily="34" charset="0"/>
                <a:ea typeface="Arial" pitchFamily="34" charset="-122"/>
                <a:cs typeface="Arial" pitchFamily="34" charset="-120"/>
              </a:rPr>
              <a:t>WP Admin → RankMath → Dashboard (site-wide SEO score)</a:t>
            </a:r>
            <a:endParaRPr lang="en-US" sz="1050" dirty="0"/>
          </a:p>
        </p:txBody>
      </p:sp>
      <p:sp>
        <p:nvSpPr>
          <p:cNvPr id="14" name="Shape 12"/>
          <p:cNvSpPr/>
          <p:nvPr/>
        </p:nvSpPr>
        <p:spPr>
          <a:xfrm>
            <a:off x="411480" y="2944368"/>
            <a:ext cx="4069080" cy="914400"/>
          </a:xfrm>
          <a:prstGeom prst="roundRect">
            <a:avLst>
              <a:gd name="adj" fmla="val 8000"/>
            </a:avLst>
          </a:prstGeom>
          <a:solidFill>
            <a:srgbClr val="2A1800"/>
          </a:solidFill>
          <a:ln w="12700">
            <a:solidFill>
              <a:srgbClr val="D4870A"/>
            </a:solidFill>
            <a:prstDash val="solid"/>
          </a:ln>
          <a:effectLst>
            <a:outerShdw blurRad="101600" dist="38100" dir="2700000" algn="bl" rotWithShape="0">
              <a:srgbClr val="000000">
                <a:alpha val="25000"/>
              </a:srgbClr>
            </a:outerShdw>
          </a:effectLst>
        </p:spPr>
      </p:sp>
      <p:sp>
        <p:nvSpPr>
          <p:cNvPr id="15" name="Shape 13"/>
          <p:cNvSpPr/>
          <p:nvPr/>
        </p:nvSpPr>
        <p:spPr>
          <a:xfrm>
            <a:off x="548640" y="3145536"/>
            <a:ext cx="457200" cy="457200"/>
          </a:xfrm>
          <a:prstGeom prst="ellipse">
            <a:avLst/>
          </a:prstGeom>
          <a:solidFill>
            <a:srgbClr val="D4870A"/>
          </a:solidFill>
          <a:ln w="12700">
            <a:solidFill>
              <a:srgbClr val="FFFFFF">
                <a:alpha val="0"/>
              </a:srgbClr>
            </a:solidFill>
            <a:prstDash val="solid"/>
          </a:ln>
        </p:spPr>
      </p:sp>
      <p:sp>
        <p:nvSpPr>
          <p:cNvPr id="16" name="Text 14"/>
          <p:cNvSpPr/>
          <p:nvPr/>
        </p:nvSpPr>
        <p:spPr>
          <a:xfrm>
            <a:off x="548640" y="3145536"/>
            <a:ext cx="457200" cy="457200"/>
          </a:xfrm>
          <a:prstGeom prst="rect">
            <a:avLst/>
          </a:prstGeom>
          <a:noFill/>
          <a:ln/>
        </p:spPr>
        <p:txBody>
          <a:bodyPr wrap="square" lIns="0" tIns="0" rIns="0" bIns="0" rtlCol="0" anchor="ctr"/>
          <a:lstStyle/>
          <a:p>
            <a:pPr marL="0" indent="0" algn="ctr">
              <a:buNone/>
            </a:pPr>
            <a:r>
              <a:rPr lang="en-US" sz="1600" b="1" dirty="0">
                <a:solidFill>
                  <a:srgbClr val="1C1200"/>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106424" y="3017520"/>
            <a:ext cx="3246120" cy="347472"/>
          </a:xfrm>
          <a:prstGeom prst="rect">
            <a:avLst/>
          </a:prstGeom>
          <a:noFill/>
          <a:ln/>
        </p:spPr>
        <p:txBody>
          <a:bodyPr wrap="square" lIns="0" tIns="0" rIns="0" bIns="0" rtlCol="0" anchor="ctr"/>
          <a:lstStyle/>
          <a:p>
            <a:pPr marL="0" indent="0">
              <a:buNone/>
            </a:pPr>
            <a:r>
              <a:rPr lang="en-US" sz="1200" b="1" dirty="0">
                <a:solidFill>
                  <a:srgbClr val="F5A623"/>
                </a:solidFill>
                <a:latin typeface="Arial" pitchFamily="34" charset="0"/>
                <a:ea typeface="Arial" pitchFamily="34" charset="-122"/>
                <a:cs typeface="Arial" pitchFamily="34" charset="-120"/>
              </a:rPr>
              <a:t>Meta titles &amp; descriptions</a:t>
            </a:r>
            <a:endParaRPr lang="en-US" sz="1200" dirty="0"/>
          </a:p>
        </p:txBody>
      </p:sp>
      <p:sp>
        <p:nvSpPr>
          <p:cNvPr id="18" name="Text 16"/>
          <p:cNvSpPr/>
          <p:nvPr/>
        </p:nvSpPr>
        <p:spPr>
          <a:xfrm>
            <a:off x="1106424" y="3383280"/>
            <a:ext cx="3246120" cy="402336"/>
          </a:xfrm>
          <a:prstGeom prst="rect">
            <a:avLst/>
          </a:prstGeom>
          <a:noFill/>
          <a:ln/>
        </p:spPr>
        <p:txBody>
          <a:bodyPr wrap="square" lIns="0" tIns="0" rIns="0" bIns="0" rtlCol="0" anchor="ctr"/>
          <a:lstStyle/>
          <a:p>
            <a:pPr marL="0" indent="0">
              <a:buNone/>
            </a:pPr>
            <a:r>
              <a:rPr lang="en-US" sz="1050" dirty="0">
                <a:solidFill>
                  <a:srgbClr val="FFFFFF"/>
                </a:solidFill>
                <a:latin typeface="Arial" pitchFamily="34" charset="0"/>
                <a:ea typeface="Arial" pitchFamily="34" charset="-122"/>
                <a:cs typeface="Arial" pitchFamily="34" charset="-120"/>
              </a:rPr>
              <a:t>WP Admin → Pages → Edit → RankMath snippet (5 pages)</a:t>
            </a:r>
            <a:endParaRPr lang="en-US" sz="1050" dirty="0"/>
          </a:p>
        </p:txBody>
      </p:sp>
      <p:sp>
        <p:nvSpPr>
          <p:cNvPr id="19" name="Shape 17"/>
          <p:cNvSpPr/>
          <p:nvPr/>
        </p:nvSpPr>
        <p:spPr>
          <a:xfrm>
            <a:off x="411480" y="3968496"/>
            <a:ext cx="4069080" cy="914400"/>
          </a:xfrm>
          <a:prstGeom prst="roundRect">
            <a:avLst>
              <a:gd name="adj" fmla="val 8000"/>
            </a:avLst>
          </a:prstGeom>
          <a:solidFill>
            <a:srgbClr val="2A1800"/>
          </a:solidFill>
          <a:ln w="12700">
            <a:solidFill>
              <a:srgbClr val="D4870A"/>
            </a:solidFill>
            <a:prstDash val="solid"/>
          </a:ln>
          <a:effectLst>
            <a:outerShdw blurRad="101600" dist="38100" dir="2700000" algn="bl" rotWithShape="0">
              <a:srgbClr val="000000">
                <a:alpha val="25000"/>
              </a:srgbClr>
            </a:outerShdw>
          </a:effectLst>
        </p:spPr>
      </p:sp>
      <p:sp>
        <p:nvSpPr>
          <p:cNvPr id="20" name="Shape 18"/>
          <p:cNvSpPr/>
          <p:nvPr/>
        </p:nvSpPr>
        <p:spPr>
          <a:xfrm>
            <a:off x="548640" y="4169664"/>
            <a:ext cx="457200" cy="457200"/>
          </a:xfrm>
          <a:prstGeom prst="ellipse">
            <a:avLst/>
          </a:prstGeom>
          <a:solidFill>
            <a:srgbClr val="D4870A"/>
          </a:solidFill>
          <a:ln w="12700">
            <a:solidFill>
              <a:srgbClr val="FFFFFF">
                <a:alpha val="0"/>
              </a:srgbClr>
            </a:solidFill>
            <a:prstDash val="solid"/>
          </a:ln>
        </p:spPr>
      </p:sp>
      <p:sp>
        <p:nvSpPr>
          <p:cNvPr id="21" name="Text 19"/>
          <p:cNvSpPr/>
          <p:nvPr/>
        </p:nvSpPr>
        <p:spPr>
          <a:xfrm>
            <a:off x="548640" y="4169664"/>
            <a:ext cx="457200" cy="457200"/>
          </a:xfrm>
          <a:prstGeom prst="rect">
            <a:avLst/>
          </a:prstGeom>
          <a:noFill/>
          <a:ln/>
        </p:spPr>
        <p:txBody>
          <a:bodyPr wrap="square" lIns="0" tIns="0" rIns="0" bIns="0" rtlCol="0" anchor="ctr"/>
          <a:lstStyle/>
          <a:p>
            <a:pPr marL="0" indent="0" algn="ctr">
              <a:buNone/>
            </a:pPr>
            <a:r>
              <a:rPr lang="en-US" sz="1600" b="1" dirty="0">
                <a:solidFill>
                  <a:srgbClr val="1C1200"/>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1106424" y="4041648"/>
            <a:ext cx="3246120" cy="347472"/>
          </a:xfrm>
          <a:prstGeom prst="rect">
            <a:avLst/>
          </a:prstGeom>
          <a:noFill/>
          <a:ln/>
        </p:spPr>
        <p:txBody>
          <a:bodyPr wrap="square" lIns="0" tIns="0" rIns="0" bIns="0" rtlCol="0" anchor="ctr"/>
          <a:lstStyle/>
          <a:p>
            <a:pPr marL="0" indent="0">
              <a:buNone/>
            </a:pPr>
            <a:r>
              <a:rPr lang="en-US" sz="1200" b="1" dirty="0">
                <a:solidFill>
                  <a:srgbClr val="F5A623"/>
                </a:solidFill>
                <a:latin typeface="Arial" pitchFamily="34" charset="0"/>
                <a:ea typeface="Arial" pitchFamily="34" charset="-122"/>
                <a:cs typeface="Arial" pitchFamily="34" charset="-120"/>
              </a:rPr>
              <a:t>Blog posts — on-page structure</a:t>
            </a:r>
            <a:endParaRPr lang="en-US" sz="1200" dirty="0"/>
          </a:p>
        </p:txBody>
      </p:sp>
      <p:sp>
        <p:nvSpPr>
          <p:cNvPr id="23" name="Text 21"/>
          <p:cNvSpPr/>
          <p:nvPr/>
        </p:nvSpPr>
        <p:spPr>
          <a:xfrm>
            <a:off x="1106424" y="4407408"/>
            <a:ext cx="3246120" cy="402336"/>
          </a:xfrm>
          <a:prstGeom prst="rect">
            <a:avLst/>
          </a:prstGeom>
          <a:noFill/>
          <a:ln/>
        </p:spPr>
        <p:txBody>
          <a:bodyPr wrap="square" lIns="0" tIns="0" rIns="0" bIns="0" rtlCol="0" anchor="ctr"/>
          <a:lstStyle/>
          <a:p>
            <a:pPr marL="0" indent="0">
              <a:buNone/>
            </a:pPr>
            <a:r>
              <a:rPr lang="en-US" sz="1050" dirty="0">
                <a:solidFill>
                  <a:srgbClr val="FFFFFF"/>
                </a:solidFill>
                <a:latin typeface="Arial" pitchFamily="34" charset="0"/>
                <a:ea typeface="Arial" pitchFamily="34" charset="-122"/>
                <a:cs typeface="Arial" pitchFamily="34" charset="-120"/>
              </a:rPr>
              <a:t>Live site → Blogs → Varroa Mite + Raw Honey posts</a:t>
            </a:r>
            <a:endParaRPr lang="en-US" sz="1050" dirty="0"/>
          </a:p>
        </p:txBody>
      </p:sp>
      <p:sp>
        <p:nvSpPr>
          <p:cNvPr id="24" name="Shape 22"/>
          <p:cNvSpPr/>
          <p:nvPr/>
        </p:nvSpPr>
        <p:spPr>
          <a:xfrm>
            <a:off x="4663440" y="896112"/>
            <a:ext cx="4069080" cy="914400"/>
          </a:xfrm>
          <a:prstGeom prst="roundRect">
            <a:avLst>
              <a:gd name="adj" fmla="val 8000"/>
            </a:avLst>
          </a:prstGeom>
          <a:solidFill>
            <a:srgbClr val="2A1800"/>
          </a:solidFill>
          <a:ln w="12700">
            <a:solidFill>
              <a:srgbClr val="D4870A"/>
            </a:solidFill>
            <a:prstDash val="solid"/>
          </a:ln>
          <a:effectLst>
            <a:outerShdw blurRad="101600" dist="38100" dir="2700000" algn="bl" rotWithShape="0">
              <a:srgbClr val="000000">
                <a:alpha val="25000"/>
              </a:srgbClr>
            </a:outerShdw>
          </a:effectLst>
        </p:spPr>
      </p:sp>
      <p:sp>
        <p:nvSpPr>
          <p:cNvPr id="25" name="Shape 23"/>
          <p:cNvSpPr/>
          <p:nvPr/>
        </p:nvSpPr>
        <p:spPr>
          <a:xfrm>
            <a:off x="4800600" y="1097280"/>
            <a:ext cx="457200" cy="457200"/>
          </a:xfrm>
          <a:prstGeom prst="ellipse">
            <a:avLst/>
          </a:prstGeom>
          <a:solidFill>
            <a:srgbClr val="D4870A"/>
          </a:solidFill>
          <a:ln w="12700">
            <a:solidFill>
              <a:srgbClr val="FFFFFF">
                <a:alpha val="0"/>
              </a:srgbClr>
            </a:solidFill>
            <a:prstDash val="solid"/>
          </a:ln>
        </p:spPr>
      </p:sp>
      <p:sp>
        <p:nvSpPr>
          <p:cNvPr id="26" name="Text 24"/>
          <p:cNvSpPr/>
          <p:nvPr/>
        </p:nvSpPr>
        <p:spPr>
          <a:xfrm>
            <a:off x="4800600" y="1097280"/>
            <a:ext cx="457200" cy="457200"/>
          </a:xfrm>
          <a:prstGeom prst="rect">
            <a:avLst/>
          </a:prstGeom>
          <a:noFill/>
          <a:ln/>
        </p:spPr>
        <p:txBody>
          <a:bodyPr wrap="square" lIns="0" tIns="0" rIns="0" bIns="0" rtlCol="0" anchor="ctr"/>
          <a:lstStyle/>
          <a:p>
            <a:pPr marL="0" indent="0" algn="ctr">
              <a:buNone/>
            </a:pPr>
            <a:r>
              <a:rPr lang="en-US" sz="1600" b="1" dirty="0">
                <a:solidFill>
                  <a:srgbClr val="1C1200"/>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5358384" y="969264"/>
            <a:ext cx="3246120" cy="347472"/>
          </a:xfrm>
          <a:prstGeom prst="rect">
            <a:avLst/>
          </a:prstGeom>
          <a:noFill/>
          <a:ln/>
        </p:spPr>
        <p:txBody>
          <a:bodyPr wrap="square" lIns="0" tIns="0" rIns="0" bIns="0" rtlCol="0" anchor="ctr"/>
          <a:lstStyle/>
          <a:p>
            <a:pPr marL="0" indent="0">
              <a:buNone/>
            </a:pPr>
            <a:r>
              <a:rPr lang="en-US" sz="1200" b="1" dirty="0">
                <a:solidFill>
                  <a:srgbClr val="F5A623"/>
                </a:solidFill>
                <a:latin typeface="Arial" pitchFamily="34" charset="0"/>
                <a:ea typeface="Arial" pitchFamily="34" charset="-122"/>
                <a:cs typeface="Arial" pitchFamily="34" charset="-120"/>
              </a:rPr>
              <a:t>Image alt-text — Media Library</a:t>
            </a:r>
            <a:endParaRPr lang="en-US" sz="1200" dirty="0"/>
          </a:p>
        </p:txBody>
      </p:sp>
      <p:sp>
        <p:nvSpPr>
          <p:cNvPr id="28" name="Text 26"/>
          <p:cNvSpPr/>
          <p:nvPr/>
        </p:nvSpPr>
        <p:spPr>
          <a:xfrm>
            <a:off x="5358384" y="1335024"/>
            <a:ext cx="3246120" cy="402336"/>
          </a:xfrm>
          <a:prstGeom prst="rect">
            <a:avLst/>
          </a:prstGeom>
          <a:noFill/>
          <a:ln/>
        </p:spPr>
        <p:txBody>
          <a:bodyPr wrap="square" lIns="0" tIns="0" rIns="0" bIns="0" rtlCol="0" anchor="ctr"/>
          <a:lstStyle/>
          <a:p>
            <a:pPr marL="0" indent="0">
              <a:buNone/>
            </a:pPr>
            <a:r>
              <a:rPr lang="en-US" sz="1050" dirty="0">
                <a:solidFill>
                  <a:srgbClr val="FFFFFF"/>
                </a:solidFill>
                <a:latin typeface="Arial" pitchFamily="34" charset="0"/>
                <a:ea typeface="Arial" pitchFamily="34" charset="-122"/>
                <a:cs typeface="Arial" pitchFamily="34" charset="-120"/>
              </a:rPr>
              <a:t>WP Admin → Media → filter 'no alt text' = 0 results</a:t>
            </a:r>
            <a:endParaRPr lang="en-US" sz="1050" dirty="0"/>
          </a:p>
        </p:txBody>
      </p:sp>
      <p:sp>
        <p:nvSpPr>
          <p:cNvPr id="29" name="Shape 27"/>
          <p:cNvSpPr/>
          <p:nvPr/>
        </p:nvSpPr>
        <p:spPr>
          <a:xfrm>
            <a:off x="4663440" y="1920240"/>
            <a:ext cx="4069080" cy="914400"/>
          </a:xfrm>
          <a:prstGeom prst="roundRect">
            <a:avLst>
              <a:gd name="adj" fmla="val 8000"/>
            </a:avLst>
          </a:prstGeom>
          <a:solidFill>
            <a:srgbClr val="2A1800"/>
          </a:solidFill>
          <a:ln w="12700">
            <a:solidFill>
              <a:srgbClr val="D4870A"/>
            </a:solidFill>
            <a:prstDash val="solid"/>
          </a:ln>
          <a:effectLst>
            <a:outerShdw blurRad="101600" dist="38100" dir="2700000" algn="bl" rotWithShape="0">
              <a:srgbClr val="000000">
                <a:alpha val="25000"/>
              </a:srgbClr>
            </a:outerShdw>
          </a:effectLst>
        </p:spPr>
      </p:sp>
      <p:sp>
        <p:nvSpPr>
          <p:cNvPr id="30" name="Shape 28"/>
          <p:cNvSpPr/>
          <p:nvPr/>
        </p:nvSpPr>
        <p:spPr>
          <a:xfrm>
            <a:off x="4800600" y="2121408"/>
            <a:ext cx="457200" cy="457200"/>
          </a:xfrm>
          <a:prstGeom prst="ellipse">
            <a:avLst/>
          </a:prstGeom>
          <a:solidFill>
            <a:srgbClr val="D4870A"/>
          </a:solidFill>
          <a:ln w="12700">
            <a:solidFill>
              <a:srgbClr val="FFFFFF">
                <a:alpha val="0"/>
              </a:srgbClr>
            </a:solidFill>
            <a:prstDash val="solid"/>
          </a:ln>
        </p:spPr>
      </p:sp>
      <p:sp>
        <p:nvSpPr>
          <p:cNvPr id="31" name="Text 29"/>
          <p:cNvSpPr/>
          <p:nvPr/>
        </p:nvSpPr>
        <p:spPr>
          <a:xfrm>
            <a:off x="4800600" y="2121408"/>
            <a:ext cx="457200" cy="457200"/>
          </a:xfrm>
          <a:prstGeom prst="rect">
            <a:avLst/>
          </a:prstGeom>
          <a:noFill/>
          <a:ln/>
        </p:spPr>
        <p:txBody>
          <a:bodyPr wrap="square" lIns="0" tIns="0" rIns="0" bIns="0" rtlCol="0" anchor="ctr"/>
          <a:lstStyle/>
          <a:p>
            <a:pPr marL="0" indent="0" algn="ctr">
              <a:buNone/>
            </a:pPr>
            <a:r>
              <a:rPr lang="en-US" sz="1600" b="1" dirty="0">
                <a:solidFill>
                  <a:srgbClr val="1C1200"/>
                </a:solidFill>
                <a:latin typeface="Arial" pitchFamily="34" charset="0"/>
                <a:ea typeface="Arial" pitchFamily="34" charset="-122"/>
                <a:cs typeface="Arial" pitchFamily="34" charset="-120"/>
              </a:rPr>
              <a:t>6</a:t>
            </a:r>
            <a:endParaRPr lang="en-US" sz="1600" dirty="0"/>
          </a:p>
        </p:txBody>
      </p:sp>
      <p:sp>
        <p:nvSpPr>
          <p:cNvPr id="32" name="Text 30"/>
          <p:cNvSpPr/>
          <p:nvPr/>
        </p:nvSpPr>
        <p:spPr>
          <a:xfrm>
            <a:off x="5358384" y="1993392"/>
            <a:ext cx="3246120" cy="347472"/>
          </a:xfrm>
          <a:prstGeom prst="rect">
            <a:avLst/>
          </a:prstGeom>
          <a:noFill/>
          <a:ln/>
        </p:spPr>
        <p:txBody>
          <a:bodyPr wrap="square" lIns="0" tIns="0" rIns="0" bIns="0" rtlCol="0" anchor="ctr"/>
          <a:lstStyle/>
          <a:p>
            <a:pPr marL="0" indent="0">
              <a:buNone/>
            </a:pPr>
            <a:r>
              <a:rPr lang="en-US" sz="1200" b="1" dirty="0">
                <a:solidFill>
                  <a:srgbClr val="F5A623"/>
                </a:solidFill>
                <a:latin typeface="Arial" pitchFamily="34" charset="0"/>
                <a:ea typeface="Arial" pitchFamily="34" charset="-122"/>
                <a:cs typeface="Arial" pitchFamily="34" charset="-120"/>
              </a:rPr>
              <a:t>Chapter 7 Toolkit walkthrough</a:t>
            </a:r>
            <a:endParaRPr lang="en-US" sz="1200" dirty="0"/>
          </a:p>
        </p:txBody>
      </p:sp>
      <p:sp>
        <p:nvSpPr>
          <p:cNvPr id="33" name="Text 31"/>
          <p:cNvSpPr/>
          <p:nvPr/>
        </p:nvSpPr>
        <p:spPr>
          <a:xfrm>
            <a:off x="5358384" y="2359152"/>
            <a:ext cx="3246120" cy="402336"/>
          </a:xfrm>
          <a:prstGeom prst="rect">
            <a:avLst/>
          </a:prstGeom>
          <a:noFill/>
          <a:ln/>
        </p:spPr>
        <p:txBody>
          <a:bodyPr wrap="square" lIns="0" tIns="0" rIns="0" bIns="0" rtlCol="0" anchor="ctr"/>
          <a:lstStyle/>
          <a:p>
            <a:pPr marL="0" indent="0">
              <a:buNone/>
            </a:pPr>
            <a:r>
              <a:rPr lang="en-US" sz="1050" dirty="0">
                <a:solidFill>
                  <a:srgbClr val="FFFFFF"/>
                </a:solidFill>
                <a:latin typeface="Arial" pitchFamily="34" charset="0"/>
                <a:ea typeface="Arial" pitchFamily="34" charset="-122"/>
                <a:cs typeface="Arial" pitchFamily="34" charset="-120"/>
              </a:rPr>
              <a:t>Word document screen share</a:t>
            </a:r>
            <a:endParaRPr lang="en-US" sz="1050" dirty="0"/>
          </a:p>
        </p:txBody>
      </p:sp>
      <p:sp>
        <p:nvSpPr>
          <p:cNvPr id="34" name="Shape 32"/>
          <p:cNvSpPr/>
          <p:nvPr/>
        </p:nvSpPr>
        <p:spPr>
          <a:xfrm>
            <a:off x="4663440" y="2944368"/>
            <a:ext cx="4069080" cy="914400"/>
          </a:xfrm>
          <a:prstGeom prst="roundRect">
            <a:avLst>
              <a:gd name="adj" fmla="val 8000"/>
            </a:avLst>
          </a:prstGeom>
          <a:solidFill>
            <a:srgbClr val="2A1800"/>
          </a:solidFill>
          <a:ln w="12700">
            <a:solidFill>
              <a:srgbClr val="D4870A"/>
            </a:solidFill>
            <a:prstDash val="solid"/>
          </a:ln>
          <a:effectLst>
            <a:outerShdw blurRad="101600" dist="38100" dir="2700000" algn="bl" rotWithShape="0">
              <a:srgbClr val="000000">
                <a:alpha val="25000"/>
              </a:srgbClr>
            </a:outerShdw>
          </a:effectLst>
        </p:spPr>
      </p:sp>
      <p:sp>
        <p:nvSpPr>
          <p:cNvPr id="35" name="Shape 33"/>
          <p:cNvSpPr/>
          <p:nvPr/>
        </p:nvSpPr>
        <p:spPr>
          <a:xfrm>
            <a:off x="4800600" y="3145536"/>
            <a:ext cx="457200" cy="457200"/>
          </a:xfrm>
          <a:prstGeom prst="ellipse">
            <a:avLst/>
          </a:prstGeom>
          <a:solidFill>
            <a:srgbClr val="D4870A"/>
          </a:solidFill>
          <a:ln w="12700">
            <a:solidFill>
              <a:srgbClr val="FFFFFF">
                <a:alpha val="0"/>
              </a:srgbClr>
            </a:solidFill>
            <a:prstDash val="solid"/>
          </a:ln>
        </p:spPr>
      </p:sp>
      <p:sp>
        <p:nvSpPr>
          <p:cNvPr id="36" name="Text 34"/>
          <p:cNvSpPr/>
          <p:nvPr/>
        </p:nvSpPr>
        <p:spPr>
          <a:xfrm>
            <a:off x="4800600" y="3145536"/>
            <a:ext cx="457200" cy="457200"/>
          </a:xfrm>
          <a:prstGeom prst="rect">
            <a:avLst/>
          </a:prstGeom>
          <a:noFill/>
          <a:ln/>
        </p:spPr>
        <p:txBody>
          <a:bodyPr wrap="square" lIns="0" tIns="0" rIns="0" bIns="0" rtlCol="0" anchor="ctr"/>
          <a:lstStyle/>
          <a:p>
            <a:pPr marL="0" indent="0" algn="ctr">
              <a:buNone/>
            </a:pPr>
            <a:r>
              <a:rPr lang="en-US" sz="1600" b="1" dirty="0">
                <a:solidFill>
                  <a:srgbClr val="1C1200"/>
                </a:solidFill>
                <a:latin typeface="Arial" pitchFamily="34" charset="0"/>
                <a:ea typeface="Arial" pitchFamily="34" charset="-122"/>
                <a:cs typeface="Arial" pitchFamily="34" charset="-120"/>
              </a:rPr>
              <a:t>7</a:t>
            </a:r>
            <a:endParaRPr lang="en-US" sz="1600" dirty="0"/>
          </a:p>
        </p:txBody>
      </p:sp>
      <p:sp>
        <p:nvSpPr>
          <p:cNvPr id="37" name="Text 35"/>
          <p:cNvSpPr/>
          <p:nvPr/>
        </p:nvSpPr>
        <p:spPr>
          <a:xfrm>
            <a:off x="5358384" y="3017520"/>
            <a:ext cx="3246120" cy="347472"/>
          </a:xfrm>
          <a:prstGeom prst="rect">
            <a:avLst/>
          </a:prstGeom>
          <a:noFill/>
          <a:ln/>
        </p:spPr>
        <p:txBody>
          <a:bodyPr wrap="square" lIns="0" tIns="0" rIns="0" bIns="0" rtlCol="0" anchor="ctr"/>
          <a:lstStyle/>
          <a:p>
            <a:pPr marL="0" indent="0">
              <a:buNone/>
            </a:pPr>
            <a:r>
              <a:rPr lang="en-US" sz="1200" b="1" dirty="0">
                <a:solidFill>
                  <a:srgbClr val="F5A623"/>
                </a:solidFill>
                <a:latin typeface="Arial" pitchFamily="34" charset="0"/>
                <a:ea typeface="Arial" pitchFamily="34" charset="-122"/>
                <a:cs typeface="Arial" pitchFamily="34" charset="-120"/>
              </a:rPr>
              <a:t>Keyword matrix + checklist</a:t>
            </a:r>
            <a:endParaRPr lang="en-US" sz="1200" dirty="0"/>
          </a:p>
        </p:txBody>
      </p:sp>
      <p:sp>
        <p:nvSpPr>
          <p:cNvPr id="38" name="Text 36"/>
          <p:cNvSpPr/>
          <p:nvPr/>
        </p:nvSpPr>
        <p:spPr>
          <a:xfrm>
            <a:off x="5358384" y="3383280"/>
            <a:ext cx="3246120" cy="402336"/>
          </a:xfrm>
          <a:prstGeom prst="rect">
            <a:avLst/>
          </a:prstGeom>
          <a:noFill/>
          <a:ln/>
        </p:spPr>
        <p:txBody>
          <a:bodyPr wrap="square" lIns="0" tIns="0" rIns="0" bIns="0" rtlCol="0" anchor="ctr"/>
          <a:lstStyle/>
          <a:p>
            <a:pPr marL="0" indent="0">
              <a:buNone/>
            </a:pPr>
            <a:r>
              <a:rPr lang="en-US" sz="1050" dirty="0">
                <a:solidFill>
                  <a:srgbClr val="FFFFFF"/>
                </a:solidFill>
                <a:latin typeface="Arial" pitchFamily="34" charset="0"/>
                <a:ea typeface="Arial" pitchFamily="34" charset="-122"/>
                <a:cs typeface="Arial" pitchFamily="34" charset="-120"/>
              </a:rPr>
              <a:t>Chapter 7 appendix</a:t>
            </a:r>
            <a:endParaRPr lang="en-US" sz="1050" dirty="0"/>
          </a:p>
        </p:txBody>
      </p:sp>
      <p:sp>
        <p:nvSpPr>
          <p:cNvPr id="39" name="Shape 37"/>
          <p:cNvSpPr/>
          <p:nvPr/>
        </p:nvSpPr>
        <p:spPr>
          <a:xfrm>
            <a:off x="4663440" y="3968496"/>
            <a:ext cx="4069080" cy="914400"/>
          </a:xfrm>
          <a:prstGeom prst="roundRect">
            <a:avLst>
              <a:gd name="adj" fmla="val 8000"/>
            </a:avLst>
          </a:prstGeom>
          <a:solidFill>
            <a:srgbClr val="2A1800"/>
          </a:solidFill>
          <a:ln w="12700">
            <a:solidFill>
              <a:srgbClr val="D4870A"/>
            </a:solidFill>
            <a:prstDash val="solid"/>
          </a:ln>
          <a:effectLst>
            <a:outerShdw blurRad="101600" dist="38100" dir="2700000" algn="bl" rotWithShape="0">
              <a:srgbClr val="000000">
                <a:alpha val="25000"/>
              </a:srgbClr>
            </a:outerShdw>
          </a:effectLst>
        </p:spPr>
      </p:sp>
      <p:sp>
        <p:nvSpPr>
          <p:cNvPr id="40" name="Shape 38"/>
          <p:cNvSpPr/>
          <p:nvPr/>
        </p:nvSpPr>
        <p:spPr>
          <a:xfrm>
            <a:off x="4800600" y="4169664"/>
            <a:ext cx="457200" cy="457200"/>
          </a:xfrm>
          <a:prstGeom prst="ellipse">
            <a:avLst/>
          </a:prstGeom>
          <a:solidFill>
            <a:srgbClr val="D4870A"/>
          </a:solidFill>
          <a:ln w="12700">
            <a:solidFill>
              <a:srgbClr val="FFFFFF">
                <a:alpha val="0"/>
              </a:srgbClr>
            </a:solidFill>
            <a:prstDash val="solid"/>
          </a:ln>
        </p:spPr>
      </p:sp>
      <p:sp>
        <p:nvSpPr>
          <p:cNvPr id="41" name="Text 39"/>
          <p:cNvSpPr/>
          <p:nvPr/>
        </p:nvSpPr>
        <p:spPr>
          <a:xfrm>
            <a:off x="4800600" y="4169664"/>
            <a:ext cx="457200" cy="457200"/>
          </a:xfrm>
          <a:prstGeom prst="rect">
            <a:avLst/>
          </a:prstGeom>
          <a:noFill/>
          <a:ln/>
        </p:spPr>
        <p:txBody>
          <a:bodyPr wrap="square" lIns="0" tIns="0" rIns="0" bIns="0" rtlCol="0" anchor="ctr"/>
          <a:lstStyle/>
          <a:p>
            <a:pPr marL="0" indent="0" algn="ctr">
              <a:buNone/>
            </a:pPr>
            <a:r>
              <a:rPr lang="en-US" sz="1600" b="1" dirty="0">
                <a:solidFill>
                  <a:srgbClr val="1C1200"/>
                </a:solidFill>
                <a:latin typeface="Arial" pitchFamily="34" charset="0"/>
                <a:ea typeface="Arial" pitchFamily="34" charset="-122"/>
                <a:cs typeface="Arial" pitchFamily="34" charset="-120"/>
              </a:rPr>
              <a:t>8</a:t>
            </a:r>
            <a:endParaRPr lang="en-US" sz="1600" dirty="0"/>
          </a:p>
        </p:txBody>
      </p:sp>
      <p:sp>
        <p:nvSpPr>
          <p:cNvPr id="42" name="Text 40"/>
          <p:cNvSpPr/>
          <p:nvPr/>
        </p:nvSpPr>
        <p:spPr>
          <a:xfrm>
            <a:off x="5358384" y="4041648"/>
            <a:ext cx="3246120" cy="347472"/>
          </a:xfrm>
          <a:prstGeom prst="rect">
            <a:avLst/>
          </a:prstGeom>
          <a:noFill/>
          <a:ln/>
        </p:spPr>
        <p:txBody>
          <a:bodyPr wrap="square" lIns="0" tIns="0" rIns="0" bIns="0" rtlCol="0" anchor="ctr"/>
          <a:lstStyle/>
          <a:p>
            <a:pPr marL="0" indent="0">
              <a:buNone/>
            </a:pPr>
            <a:r>
              <a:rPr lang="en-US" sz="1200" b="1" dirty="0">
                <a:solidFill>
                  <a:srgbClr val="F5A623"/>
                </a:solidFill>
                <a:latin typeface="Arial" pitchFamily="34" charset="0"/>
                <a:ea typeface="Arial" pitchFamily="34" charset="-122"/>
                <a:cs typeface="Arial" pitchFamily="34" charset="-120"/>
              </a:rPr>
              <a:t>Google Search Console — sitemap</a:t>
            </a:r>
            <a:endParaRPr lang="en-US" sz="1200" dirty="0"/>
          </a:p>
        </p:txBody>
      </p:sp>
      <p:sp>
        <p:nvSpPr>
          <p:cNvPr id="43" name="Text 41"/>
          <p:cNvSpPr/>
          <p:nvPr/>
        </p:nvSpPr>
        <p:spPr>
          <a:xfrm>
            <a:off x="5358384" y="4407408"/>
            <a:ext cx="3246120" cy="402336"/>
          </a:xfrm>
          <a:prstGeom prst="rect">
            <a:avLst/>
          </a:prstGeom>
          <a:noFill/>
          <a:ln/>
        </p:spPr>
        <p:txBody>
          <a:bodyPr wrap="square" lIns="0" tIns="0" rIns="0" bIns="0" rtlCol="0" anchor="ctr"/>
          <a:lstStyle/>
          <a:p>
            <a:pPr marL="0" indent="0">
              <a:buNone/>
            </a:pPr>
            <a:r>
              <a:rPr lang="en-US" sz="1050" dirty="0">
                <a:solidFill>
                  <a:srgbClr val="FFFFFF"/>
                </a:solidFill>
                <a:latin typeface="Arial" pitchFamily="34" charset="0"/>
                <a:ea typeface="Arial" pitchFamily="34" charset="-122"/>
                <a:cs typeface="Arial" pitchFamily="34" charset="-120"/>
              </a:rPr>
              <a:t>GSC → Sitemaps (aphroditesharvest.com.au/sitemap_index.xml)</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C1200"/>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457200"/>
          </a:xfrm>
          <a:prstGeom prst="rect">
            <a:avLst/>
          </a:prstGeom>
          <a:noFill/>
          <a:ln/>
        </p:spPr>
        <p:txBody>
          <a:bodyPr wrap="square" lIns="0" tIns="0" rIns="0" bIns="0" rtlCol="0" anchor="ctr"/>
          <a:lstStyle/>
          <a:p>
            <a:pPr marL="0" indent="0" algn="l">
              <a:buNone/>
            </a:pPr>
            <a:r>
              <a:rPr lang="en-US" sz="2600" b="1" dirty="0">
                <a:solidFill>
                  <a:srgbClr val="F5A623"/>
                </a:solidFill>
                <a:latin typeface="Arial" pitchFamily="34" charset="0"/>
                <a:ea typeface="Arial" pitchFamily="34" charset="-122"/>
                <a:cs typeface="Arial" pitchFamily="34" charset="-120"/>
              </a:rPr>
              <a:t>CLO Alignment &amp; Reflection</a:t>
            </a:r>
            <a:endParaRPr lang="en-US" sz="2600" dirty="0"/>
          </a:p>
        </p:txBody>
      </p:sp>
      <p:sp>
        <p:nvSpPr>
          <p:cNvPr id="3" name="Shape 1"/>
          <p:cNvSpPr/>
          <p:nvPr/>
        </p:nvSpPr>
        <p:spPr>
          <a:xfrm>
            <a:off x="457200" y="685800"/>
            <a:ext cx="8229600" cy="22860"/>
          </a:xfrm>
          <a:prstGeom prst="rect">
            <a:avLst/>
          </a:prstGeom>
          <a:solidFill>
            <a:srgbClr val="D4870A"/>
          </a:solidFill>
          <a:ln w="12700">
            <a:solidFill>
              <a:srgbClr val="FFFFFF">
                <a:alpha val="0"/>
              </a:srgbClr>
            </a:solidFill>
            <a:prstDash val="solid"/>
          </a:ln>
        </p:spPr>
      </p:sp>
      <p:sp>
        <p:nvSpPr>
          <p:cNvPr id="4" name="Shape 2"/>
          <p:cNvSpPr/>
          <p:nvPr/>
        </p:nvSpPr>
        <p:spPr>
          <a:xfrm>
            <a:off x="411480" y="868680"/>
            <a:ext cx="4069080" cy="1097280"/>
          </a:xfrm>
          <a:prstGeom prst="roundRect">
            <a:avLst>
              <a:gd name="adj" fmla="val 8333"/>
            </a:avLst>
          </a:prstGeom>
          <a:solidFill>
            <a:srgbClr val="2A1800"/>
          </a:solidFill>
          <a:ln w="12700">
            <a:solidFill>
              <a:srgbClr val="D4870A"/>
            </a:solidFill>
            <a:prstDash val="solid"/>
          </a:ln>
          <a:effectLst>
            <a:outerShdw blurRad="101600" dist="38100" dir="2700000" algn="bl" rotWithShape="0">
              <a:srgbClr val="000000">
                <a:alpha val="25000"/>
              </a:srgbClr>
            </a:outerShdw>
          </a:effectLst>
        </p:spPr>
      </p:sp>
      <p:sp>
        <p:nvSpPr>
          <p:cNvPr id="5" name="Shape 3"/>
          <p:cNvSpPr/>
          <p:nvPr/>
        </p:nvSpPr>
        <p:spPr>
          <a:xfrm>
            <a:off x="539496" y="996696"/>
            <a:ext cx="658368" cy="347472"/>
          </a:xfrm>
          <a:prstGeom prst="roundRect">
            <a:avLst>
              <a:gd name="adj" fmla="val 13158"/>
            </a:avLst>
          </a:prstGeom>
          <a:solidFill>
            <a:srgbClr val="D4870A"/>
          </a:solidFill>
          <a:ln w="12700">
            <a:solidFill>
              <a:srgbClr val="FFFFFF">
                <a:alpha val="0"/>
              </a:srgbClr>
            </a:solidFill>
            <a:prstDash val="solid"/>
          </a:ln>
        </p:spPr>
      </p:sp>
      <p:sp>
        <p:nvSpPr>
          <p:cNvPr id="6" name="Text 4"/>
          <p:cNvSpPr/>
          <p:nvPr/>
        </p:nvSpPr>
        <p:spPr>
          <a:xfrm>
            <a:off x="539496" y="996696"/>
            <a:ext cx="658368" cy="347472"/>
          </a:xfrm>
          <a:prstGeom prst="rect">
            <a:avLst/>
          </a:prstGeom>
          <a:noFill/>
          <a:ln/>
        </p:spPr>
        <p:txBody>
          <a:bodyPr wrap="square" lIns="0" tIns="0" rIns="0" bIns="0" rtlCol="0" anchor="ctr"/>
          <a:lstStyle/>
          <a:p>
            <a:pPr marL="0" indent="0" algn="ctr">
              <a:buNone/>
            </a:pPr>
            <a:r>
              <a:rPr lang="en-US" sz="1100" b="1" dirty="0">
                <a:solidFill>
                  <a:srgbClr val="1C1200"/>
                </a:solidFill>
                <a:latin typeface="Arial" pitchFamily="34" charset="0"/>
                <a:ea typeface="Arial" pitchFamily="34" charset="-122"/>
                <a:cs typeface="Arial" pitchFamily="34" charset="-120"/>
              </a:rPr>
              <a:t>CLO1</a:t>
            </a:r>
            <a:endParaRPr lang="en-US" sz="1100" dirty="0"/>
          </a:p>
        </p:txBody>
      </p:sp>
      <p:sp>
        <p:nvSpPr>
          <p:cNvPr id="7" name="Text 5"/>
          <p:cNvSpPr/>
          <p:nvPr/>
        </p:nvSpPr>
        <p:spPr>
          <a:xfrm>
            <a:off x="1271016" y="996696"/>
            <a:ext cx="3108960" cy="347472"/>
          </a:xfrm>
          <a:prstGeom prst="rect">
            <a:avLst/>
          </a:prstGeom>
          <a:noFill/>
          <a:ln/>
        </p:spPr>
        <p:txBody>
          <a:bodyPr wrap="square" lIns="0" tIns="0" rIns="0" bIns="0" rtlCol="0" anchor="ctr"/>
          <a:lstStyle/>
          <a:p>
            <a:pPr marL="0" indent="0">
              <a:buNone/>
            </a:pPr>
            <a:r>
              <a:rPr lang="en-US" sz="1200" b="1" dirty="0">
                <a:solidFill>
                  <a:srgbClr val="F5A623"/>
                </a:solidFill>
                <a:latin typeface="Arial" pitchFamily="34" charset="0"/>
                <a:ea typeface="Arial" pitchFamily="34" charset="-122"/>
                <a:cs typeface="Arial" pitchFamily="34" charset="-120"/>
              </a:rPr>
              <a:t>Domain Knowledge</a:t>
            </a:r>
            <a:endParaRPr lang="en-US" sz="1200" dirty="0"/>
          </a:p>
        </p:txBody>
      </p:sp>
      <p:sp>
        <p:nvSpPr>
          <p:cNvPr id="8" name="Text 6"/>
          <p:cNvSpPr/>
          <p:nvPr/>
        </p:nvSpPr>
        <p:spPr>
          <a:xfrm>
            <a:off x="612648" y="1399032"/>
            <a:ext cx="3749040" cy="502920"/>
          </a:xfrm>
          <a:prstGeom prst="rect">
            <a:avLst/>
          </a:prstGeom>
          <a:noFill/>
          <a:ln/>
        </p:spPr>
        <p:txBody>
          <a:bodyPr wrap="square" lIns="0" tIns="0" rIns="0" bIns="0" rtlCol="0" anchor="t"/>
          <a:lstStyle/>
          <a:p>
            <a:pPr marL="0" indent="0">
              <a:buNone/>
            </a:pPr>
            <a:r>
              <a:rPr lang="en-US" sz="1100" dirty="0">
                <a:solidFill>
                  <a:srgbClr val="FFFFFF"/>
                </a:solidFill>
                <a:latin typeface="Arial" pitchFamily="34" charset="0"/>
                <a:ea typeface="Arial" pitchFamily="34" charset="-122"/>
                <a:cs typeface="Arial" pitchFamily="34" charset="-120"/>
              </a:rPr>
              <a:t>Applied SEO expertise across technical implementation &amp; written toolkit</a:t>
            </a:r>
            <a:endParaRPr lang="en-US" sz="1100" dirty="0"/>
          </a:p>
        </p:txBody>
      </p:sp>
      <p:sp>
        <p:nvSpPr>
          <p:cNvPr id="9" name="Shape 7"/>
          <p:cNvSpPr/>
          <p:nvPr/>
        </p:nvSpPr>
        <p:spPr>
          <a:xfrm>
            <a:off x="4663440" y="868680"/>
            <a:ext cx="4069080" cy="1097280"/>
          </a:xfrm>
          <a:prstGeom prst="roundRect">
            <a:avLst>
              <a:gd name="adj" fmla="val 8333"/>
            </a:avLst>
          </a:prstGeom>
          <a:solidFill>
            <a:srgbClr val="2A1800"/>
          </a:solidFill>
          <a:ln w="12700">
            <a:solidFill>
              <a:srgbClr val="D4870A"/>
            </a:solidFill>
            <a:prstDash val="solid"/>
          </a:ln>
          <a:effectLst>
            <a:outerShdw blurRad="101600" dist="38100" dir="2700000" algn="bl" rotWithShape="0">
              <a:srgbClr val="000000">
                <a:alpha val="25000"/>
              </a:srgbClr>
            </a:outerShdw>
          </a:effectLst>
        </p:spPr>
      </p:sp>
      <p:sp>
        <p:nvSpPr>
          <p:cNvPr id="10" name="Shape 8"/>
          <p:cNvSpPr/>
          <p:nvPr/>
        </p:nvSpPr>
        <p:spPr>
          <a:xfrm>
            <a:off x="4791456" y="996696"/>
            <a:ext cx="658368" cy="347472"/>
          </a:xfrm>
          <a:prstGeom prst="roundRect">
            <a:avLst>
              <a:gd name="adj" fmla="val 13158"/>
            </a:avLst>
          </a:prstGeom>
          <a:solidFill>
            <a:srgbClr val="D4870A"/>
          </a:solidFill>
          <a:ln w="12700">
            <a:solidFill>
              <a:srgbClr val="FFFFFF">
                <a:alpha val="0"/>
              </a:srgbClr>
            </a:solidFill>
            <a:prstDash val="solid"/>
          </a:ln>
        </p:spPr>
      </p:sp>
      <p:sp>
        <p:nvSpPr>
          <p:cNvPr id="11" name="Text 9"/>
          <p:cNvSpPr/>
          <p:nvPr/>
        </p:nvSpPr>
        <p:spPr>
          <a:xfrm>
            <a:off x="4791456" y="996696"/>
            <a:ext cx="658368" cy="347472"/>
          </a:xfrm>
          <a:prstGeom prst="rect">
            <a:avLst/>
          </a:prstGeom>
          <a:noFill/>
          <a:ln/>
        </p:spPr>
        <p:txBody>
          <a:bodyPr wrap="square" lIns="0" tIns="0" rIns="0" bIns="0" rtlCol="0" anchor="ctr"/>
          <a:lstStyle/>
          <a:p>
            <a:pPr marL="0" indent="0" algn="ctr">
              <a:buNone/>
            </a:pPr>
            <a:r>
              <a:rPr lang="en-US" sz="1100" b="1" dirty="0">
                <a:solidFill>
                  <a:srgbClr val="1C1200"/>
                </a:solidFill>
                <a:latin typeface="Arial" pitchFamily="34" charset="0"/>
                <a:ea typeface="Arial" pitchFamily="34" charset="-122"/>
                <a:cs typeface="Arial" pitchFamily="34" charset="-120"/>
              </a:rPr>
              <a:t>CLO2</a:t>
            </a:r>
            <a:endParaRPr lang="en-US" sz="1100" dirty="0"/>
          </a:p>
        </p:txBody>
      </p:sp>
      <p:sp>
        <p:nvSpPr>
          <p:cNvPr id="12" name="Text 10"/>
          <p:cNvSpPr/>
          <p:nvPr/>
        </p:nvSpPr>
        <p:spPr>
          <a:xfrm>
            <a:off x="5522976" y="996696"/>
            <a:ext cx="3108960" cy="347472"/>
          </a:xfrm>
          <a:prstGeom prst="rect">
            <a:avLst/>
          </a:prstGeom>
          <a:noFill/>
          <a:ln/>
        </p:spPr>
        <p:txBody>
          <a:bodyPr wrap="square" lIns="0" tIns="0" rIns="0" bIns="0" rtlCol="0" anchor="ctr"/>
          <a:lstStyle/>
          <a:p>
            <a:pPr marL="0" indent="0">
              <a:buNone/>
            </a:pPr>
            <a:r>
              <a:rPr lang="en-US" sz="1200" b="1" dirty="0">
                <a:solidFill>
                  <a:srgbClr val="F5A623"/>
                </a:solidFill>
                <a:latin typeface="Arial" pitchFamily="34" charset="0"/>
                <a:ea typeface="Arial" pitchFamily="34" charset="-122"/>
                <a:cs typeface="Arial" pitchFamily="34" charset="-120"/>
              </a:rPr>
              <a:t>Team Contribution</a:t>
            </a:r>
            <a:endParaRPr lang="en-US" sz="1200" dirty="0"/>
          </a:p>
        </p:txBody>
      </p:sp>
      <p:sp>
        <p:nvSpPr>
          <p:cNvPr id="13" name="Text 11"/>
          <p:cNvSpPr/>
          <p:nvPr/>
        </p:nvSpPr>
        <p:spPr>
          <a:xfrm>
            <a:off x="4864608" y="1399032"/>
            <a:ext cx="3749040" cy="502920"/>
          </a:xfrm>
          <a:prstGeom prst="rect">
            <a:avLst/>
          </a:prstGeom>
          <a:noFill/>
          <a:ln/>
        </p:spPr>
        <p:txBody>
          <a:bodyPr wrap="square" lIns="0" tIns="0" rIns="0" bIns="0" rtlCol="0" anchor="t"/>
          <a:lstStyle/>
          <a:p>
            <a:pPr marL="0" indent="0">
              <a:buNone/>
            </a:pPr>
            <a:r>
              <a:rPr lang="en-US" sz="1100" dirty="0">
                <a:solidFill>
                  <a:srgbClr val="FFFFFF"/>
                </a:solidFill>
                <a:latin typeface="Arial" pitchFamily="34" charset="0"/>
                <a:ea typeface="Arial" pitchFamily="34" charset="-122"/>
                <a:cs typeface="Arial" pitchFamily="34" charset="-120"/>
              </a:rPr>
              <a:t>Owned Chapter 7, all live SEO, and both blog posts as individual deliverables</a:t>
            </a:r>
            <a:endParaRPr lang="en-US" sz="1100" dirty="0"/>
          </a:p>
        </p:txBody>
      </p:sp>
      <p:sp>
        <p:nvSpPr>
          <p:cNvPr id="14" name="Shape 12"/>
          <p:cNvSpPr/>
          <p:nvPr/>
        </p:nvSpPr>
        <p:spPr>
          <a:xfrm>
            <a:off x="411480" y="2103120"/>
            <a:ext cx="4069080" cy="1097280"/>
          </a:xfrm>
          <a:prstGeom prst="roundRect">
            <a:avLst>
              <a:gd name="adj" fmla="val 8333"/>
            </a:avLst>
          </a:prstGeom>
          <a:solidFill>
            <a:srgbClr val="2A1800"/>
          </a:solidFill>
          <a:ln w="12700">
            <a:solidFill>
              <a:srgbClr val="D4870A"/>
            </a:solidFill>
            <a:prstDash val="solid"/>
          </a:ln>
          <a:effectLst>
            <a:outerShdw blurRad="101600" dist="38100" dir="2700000" algn="bl" rotWithShape="0">
              <a:srgbClr val="000000">
                <a:alpha val="25000"/>
              </a:srgbClr>
            </a:outerShdw>
          </a:effectLst>
        </p:spPr>
      </p:sp>
      <p:sp>
        <p:nvSpPr>
          <p:cNvPr id="15" name="Shape 13"/>
          <p:cNvSpPr/>
          <p:nvPr/>
        </p:nvSpPr>
        <p:spPr>
          <a:xfrm>
            <a:off x="539496" y="2231136"/>
            <a:ext cx="658368" cy="347472"/>
          </a:xfrm>
          <a:prstGeom prst="roundRect">
            <a:avLst>
              <a:gd name="adj" fmla="val 13158"/>
            </a:avLst>
          </a:prstGeom>
          <a:solidFill>
            <a:srgbClr val="D4870A"/>
          </a:solidFill>
          <a:ln w="12700">
            <a:solidFill>
              <a:srgbClr val="FFFFFF">
                <a:alpha val="0"/>
              </a:srgbClr>
            </a:solidFill>
            <a:prstDash val="solid"/>
          </a:ln>
        </p:spPr>
      </p:sp>
      <p:sp>
        <p:nvSpPr>
          <p:cNvPr id="16" name="Text 14"/>
          <p:cNvSpPr/>
          <p:nvPr/>
        </p:nvSpPr>
        <p:spPr>
          <a:xfrm>
            <a:off x="539496" y="2231136"/>
            <a:ext cx="658368" cy="347472"/>
          </a:xfrm>
          <a:prstGeom prst="rect">
            <a:avLst/>
          </a:prstGeom>
          <a:noFill/>
          <a:ln/>
        </p:spPr>
        <p:txBody>
          <a:bodyPr wrap="square" lIns="0" tIns="0" rIns="0" bIns="0" rtlCol="0" anchor="ctr"/>
          <a:lstStyle/>
          <a:p>
            <a:pPr marL="0" indent="0" algn="ctr">
              <a:buNone/>
            </a:pPr>
            <a:r>
              <a:rPr lang="en-US" sz="1100" b="1" dirty="0">
                <a:solidFill>
                  <a:srgbClr val="1C1200"/>
                </a:solidFill>
                <a:latin typeface="Arial" pitchFamily="34" charset="0"/>
                <a:ea typeface="Arial" pitchFamily="34" charset="-122"/>
                <a:cs typeface="Arial" pitchFamily="34" charset="-120"/>
              </a:rPr>
              <a:t>CLO3</a:t>
            </a:r>
            <a:endParaRPr lang="en-US" sz="1100" dirty="0"/>
          </a:p>
        </p:txBody>
      </p:sp>
      <p:sp>
        <p:nvSpPr>
          <p:cNvPr id="17" name="Text 15"/>
          <p:cNvSpPr/>
          <p:nvPr/>
        </p:nvSpPr>
        <p:spPr>
          <a:xfrm>
            <a:off x="1271016" y="2231136"/>
            <a:ext cx="3108960" cy="347472"/>
          </a:xfrm>
          <a:prstGeom prst="rect">
            <a:avLst/>
          </a:prstGeom>
          <a:noFill/>
          <a:ln/>
        </p:spPr>
        <p:txBody>
          <a:bodyPr wrap="square" lIns="0" tIns="0" rIns="0" bIns="0" rtlCol="0" anchor="ctr"/>
          <a:lstStyle/>
          <a:p>
            <a:pPr marL="0" indent="0">
              <a:buNone/>
            </a:pPr>
            <a:r>
              <a:rPr lang="en-US" sz="1200" b="1" dirty="0">
                <a:solidFill>
                  <a:srgbClr val="F5A623"/>
                </a:solidFill>
                <a:latin typeface="Arial" pitchFamily="34" charset="0"/>
                <a:ea typeface="Arial" pitchFamily="34" charset="-122"/>
                <a:cs typeface="Arial" pitchFamily="34" charset="-120"/>
              </a:rPr>
              <a:t>Justify &amp; Communicate</a:t>
            </a:r>
            <a:endParaRPr lang="en-US" sz="1200" dirty="0"/>
          </a:p>
        </p:txBody>
      </p:sp>
      <p:sp>
        <p:nvSpPr>
          <p:cNvPr id="18" name="Text 16"/>
          <p:cNvSpPr/>
          <p:nvPr/>
        </p:nvSpPr>
        <p:spPr>
          <a:xfrm>
            <a:off x="612648" y="2633472"/>
            <a:ext cx="3749040" cy="502920"/>
          </a:xfrm>
          <a:prstGeom prst="rect">
            <a:avLst/>
          </a:prstGeom>
          <a:noFill/>
          <a:ln/>
        </p:spPr>
        <p:txBody>
          <a:bodyPr wrap="square" lIns="0" tIns="0" rIns="0" bIns="0" rtlCol="0" anchor="t"/>
          <a:lstStyle/>
          <a:p>
            <a:pPr marL="0" indent="0">
              <a:buNone/>
            </a:pPr>
            <a:r>
              <a:rPr lang="en-US" sz="1100" dirty="0">
                <a:solidFill>
                  <a:srgbClr val="FFFFFF"/>
                </a:solidFill>
                <a:latin typeface="Arial" pitchFamily="34" charset="0"/>
                <a:ea typeface="Arial" pitchFamily="34" charset="-122"/>
                <a:cs typeface="Arial" pitchFamily="34" charset="-120"/>
              </a:rPr>
              <a:t>Every recommendation in Chapter 7 includes a plain-language rationale for the client</a:t>
            </a:r>
            <a:endParaRPr lang="en-US" sz="1100" dirty="0"/>
          </a:p>
        </p:txBody>
      </p:sp>
      <p:sp>
        <p:nvSpPr>
          <p:cNvPr id="19" name="Shape 17"/>
          <p:cNvSpPr/>
          <p:nvPr/>
        </p:nvSpPr>
        <p:spPr>
          <a:xfrm>
            <a:off x="4663440" y="2103120"/>
            <a:ext cx="4069080" cy="1097280"/>
          </a:xfrm>
          <a:prstGeom prst="roundRect">
            <a:avLst>
              <a:gd name="adj" fmla="val 8333"/>
            </a:avLst>
          </a:prstGeom>
          <a:solidFill>
            <a:srgbClr val="2A1800"/>
          </a:solidFill>
          <a:ln w="12700">
            <a:solidFill>
              <a:srgbClr val="D4870A"/>
            </a:solidFill>
            <a:prstDash val="solid"/>
          </a:ln>
          <a:effectLst>
            <a:outerShdw blurRad="101600" dist="38100" dir="2700000" algn="bl" rotWithShape="0">
              <a:srgbClr val="000000">
                <a:alpha val="25000"/>
              </a:srgbClr>
            </a:outerShdw>
          </a:effectLst>
        </p:spPr>
      </p:sp>
      <p:sp>
        <p:nvSpPr>
          <p:cNvPr id="20" name="Shape 18"/>
          <p:cNvSpPr/>
          <p:nvPr/>
        </p:nvSpPr>
        <p:spPr>
          <a:xfrm>
            <a:off x="4791456" y="2231136"/>
            <a:ext cx="658368" cy="347472"/>
          </a:xfrm>
          <a:prstGeom prst="roundRect">
            <a:avLst>
              <a:gd name="adj" fmla="val 13158"/>
            </a:avLst>
          </a:prstGeom>
          <a:solidFill>
            <a:srgbClr val="D4870A"/>
          </a:solidFill>
          <a:ln w="12700">
            <a:solidFill>
              <a:srgbClr val="FFFFFF">
                <a:alpha val="0"/>
              </a:srgbClr>
            </a:solidFill>
            <a:prstDash val="solid"/>
          </a:ln>
        </p:spPr>
      </p:sp>
      <p:sp>
        <p:nvSpPr>
          <p:cNvPr id="21" name="Text 19"/>
          <p:cNvSpPr/>
          <p:nvPr/>
        </p:nvSpPr>
        <p:spPr>
          <a:xfrm>
            <a:off x="4791456" y="2231136"/>
            <a:ext cx="658368" cy="347472"/>
          </a:xfrm>
          <a:prstGeom prst="rect">
            <a:avLst/>
          </a:prstGeom>
          <a:noFill/>
          <a:ln/>
        </p:spPr>
        <p:txBody>
          <a:bodyPr wrap="square" lIns="0" tIns="0" rIns="0" bIns="0" rtlCol="0" anchor="ctr"/>
          <a:lstStyle/>
          <a:p>
            <a:pPr marL="0" indent="0" algn="ctr">
              <a:buNone/>
            </a:pPr>
            <a:r>
              <a:rPr lang="en-US" sz="1100" b="1" dirty="0">
                <a:solidFill>
                  <a:srgbClr val="1C1200"/>
                </a:solidFill>
                <a:latin typeface="Arial" pitchFamily="34" charset="0"/>
                <a:ea typeface="Arial" pitchFamily="34" charset="-122"/>
                <a:cs typeface="Arial" pitchFamily="34" charset="-120"/>
              </a:rPr>
              <a:t>CLO4</a:t>
            </a:r>
            <a:endParaRPr lang="en-US" sz="1100" dirty="0"/>
          </a:p>
        </p:txBody>
      </p:sp>
      <p:sp>
        <p:nvSpPr>
          <p:cNvPr id="22" name="Text 20"/>
          <p:cNvSpPr/>
          <p:nvPr/>
        </p:nvSpPr>
        <p:spPr>
          <a:xfrm>
            <a:off x="5522976" y="2231136"/>
            <a:ext cx="3108960" cy="347472"/>
          </a:xfrm>
          <a:prstGeom prst="rect">
            <a:avLst/>
          </a:prstGeom>
          <a:noFill/>
          <a:ln/>
        </p:spPr>
        <p:txBody>
          <a:bodyPr wrap="square" lIns="0" tIns="0" rIns="0" bIns="0" rtlCol="0" anchor="ctr"/>
          <a:lstStyle/>
          <a:p>
            <a:pPr marL="0" indent="0">
              <a:buNone/>
            </a:pPr>
            <a:r>
              <a:rPr lang="en-US" sz="1200" b="1" dirty="0">
                <a:solidFill>
                  <a:srgbClr val="F5A623"/>
                </a:solidFill>
                <a:latin typeface="Arial" pitchFamily="34" charset="0"/>
                <a:ea typeface="Arial" pitchFamily="34" charset="-122"/>
                <a:cs typeface="Arial" pitchFamily="34" charset="-120"/>
              </a:rPr>
              <a:t>Key Learnings</a:t>
            </a:r>
            <a:endParaRPr lang="en-US" sz="1200" dirty="0"/>
          </a:p>
        </p:txBody>
      </p:sp>
      <p:sp>
        <p:nvSpPr>
          <p:cNvPr id="23" name="Text 21"/>
          <p:cNvSpPr/>
          <p:nvPr/>
        </p:nvSpPr>
        <p:spPr>
          <a:xfrm>
            <a:off x="4864608" y="2633472"/>
            <a:ext cx="3749040" cy="502920"/>
          </a:xfrm>
          <a:prstGeom prst="rect">
            <a:avLst/>
          </a:prstGeom>
          <a:noFill/>
          <a:ln/>
        </p:spPr>
        <p:txBody>
          <a:bodyPr wrap="square" lIns="0" tIns="0" rIns="0" bIns="0" rtlCol="0" anchor="t"/>
          <a:lstStyle/>
          <a:p>
            <a:pPr marL="0" indent="0">
              <a:buNone/>
            </a:pPr>
            <a:r>
              <a:rPr lang="en-US" sz="1100" dirty="0">
                <a:solidFill>
                  <a:srgbClr val="FFFFFF"/>
                </a:solidFill>
                <a:latin typeface="Arial" pitchFamily="34" charset="0"/>
                <a:ea typeface="Arial" pitchFamily="34" charset="-122"/>
                <a:cs typeface="Arial" pitchFamily="34" charset="-120"/>
              </a:rPr>
              <a:t>Gained hands-on RankMath, Elementor, GSC skills - bridged theory → client implementation</a:t>
            </a:r>
            <a:endParaRPr lang="en-US" sz="1100" dirty="0"/>
          </a:p>
        </p:txBody>
      </p:sp>
      <p:sp>
        <p:nvSpPr>
          <p:cNvPr id="24" name="Shape 22"/>
          <p:cNvSpPr/>
          <p:nvPr/>
        </p:nvSpPr>
        <p:spPr>
          <a:xfrm>
            <a:off x="411480" y="3337560"/>
            <a:ext cx="4069080" cy="1097280"/>
          </a:xfrm>
          <a:prstGeom prst="roundRect">
            <a:avLst>
              <a:gd name="adj" fmla="val 8333"/>
            </a:avLst>
          </a:prstGeom>
          <a:solidFill>
            <a:srgbClr val="2A1800"/>
          </a:solidFill>
          <a:ln w="12700">
            <a:solidFill>
              <a:srgbClr val="D4870A"/>
            </a:solidFill>
            <a:prstDash val="solid"/>
          </a:ln>
          <a:effectLst>
            <a:outerShdw blurRad="101600" dist="38100" dir="2700000" algn="bl" rotWithShape="0">
              <a:srgbClr val="000000">
                <a:alpha val="25000"/>
              </a:srgbClr>
            </a:outerShdw>
          </a:effectLst>
        </p:spPr>
      </p:sp>
      <p:sp>
        <p:nvSpPr>
          <p:cNvPr id="25" name="Shape 23"/>
          <p:cNvSpPr/>
          <p:nvPr/>
        </p:nvSpPr>
        <p:spPr>
          <a:xfrm>
            <a:off x="539496" y="3465576"/>
            <a:ext cx="658368" cy="347472"/>
          </a:xfrm>
          <a:prstGeom prst="roundRect">
            <a:avLst>
              <a:gd name="adj" fmla="val 13158"/>
            </a:avLst>
          </a:prstGeom>
          <a:solidFill>
            <a:srgbClr val="D4870A"/>
          </a:solidFill>
          <a:ln w="12700">
            <a:solidFill>
              <a:srgbClr val="FFFFFF">
                <a:alpha val="0"/>
              </a:srgbClr>
            </a:solidFill>
            <a:prstDash val="solid"/>
          </a:ln>
        </p:spPr>
      </p:sp>
      <p:sp>
        <p:nvSpPr>
          <p:cNvPr id="26" name="Text 24"/>
          <p:cNvSpPr/>
          <p:nvPr/>
        </p:nvSpPr>
        <p:spPr>
          <a:xfrm>
            <a:off x="539496" y="3465576"/>
            <a:ext cx="658368" cy="347472"/>
          </a:xfrm>
          <a:prstGeom prst="rect">
            <a:avLst/>
          </a:prstGeom>
          <a:noFill/>
          <a:ln/>
        </p:spPr>
        <p:txBody>
          <a:bodyPr wrap="square" lIns="0" tIns="0" rIns="0" bIns="0" rtlCol="0" anchor="ctr"/>
          <a:lstStyle/>
          <a:p>
            <a:pPr marL="0" indent="0" algn="ctr">
              <a:buNone/>
            </a:pPr>
            <a:r>
              <a:rPr lang="en-US" sz="1100" b="1" dirty="0">
                <a:solidFill>
                  <a:srgbClr val="1C1200"/>
                </a:solidFill>
                <a:latin typeface="Arial" pitchFamily="34" charset="0"/>
                <a:ea typeface="Arial" pitchFamily="34" charset="-122"/>
                <a:cs typeface="Arial" pitchFamily="34" charset="-120"/>
              </a:rPr>
              <a:t>CLO5</a:t>
            </a:r>
            <a:endParaRPr lang="en-US" sz="1100" dirty="0"/>
          </a:p>
        </p:txBody>
      </p:sp>
      <p:sp>
        <p:nvSpPr>
          <p:cNvPr id="27" name="Text 25"/>
          <p:cNvSpPr/>
          <p:nvPr/>
        </p:nvSpPr>
        <p:spPr>
          <a:xfrm>
            <a:off x="1271016" y="3465576"/>
            <a:ext cx="3108960" cy="347472"/>
          </a:xfrm>
          <a:prstGeom prst="rect">
            <a:avLst/>
          </a:prstGeom>
          <a:noFill/>
          <a:ln/>
        </p:spPr>
        <p:txBody>
          <a:bodyPr wrap="square" lIns="0" tIns="0" rIns="0" bIns="0" rtlCol="0" anchor="ctr"/>
          <a:lstStyle/>
          <a:p>
            <a:pPr marL="0" indent="0">
              <a:buNone/>
            </a:pPr>
            <a:r>
              <a:rPr lang="en-US" sz="1200" b="1" dirty="0">
                <a:solidFill>
                  <a:srgbClr val="F5A623"/>
                </a:solidFill>
                <a:latin typeface="Arial" pitchFamily="34" charset="0"/>
                <a:ea typeface="Arial" pitchFamily="34" charset="-122"/>
                <a:cs typeface="Arial" pitchFamily="34" charset="-120"/>
              </a:rPr>
              <a:t>Ethics &amp; Culture</a:t>
            </a:r>
            <a:endParaRPr lang="en-US" sz="1200" dirty="0"/>
          </a:p>
        </p:txBody>
      </p:sp>
      <p:sp>
        <p:nvSpPr>
          <p:cNvPr id="28" name="Text 26"/>
          <p:cNvSpPr/>
          <p:nvPr/>
        </p:nvSpPr>
        <p:spPr>
          <a:xfrm>
            <a:off x="612648" y="3867912"/>
            <a:ext cx="3749040" cy="502920"/>
          </a:xfrm>
          <a:prstGeom prst="rect">
            <a:avLst/>
          </a:prstGeom>
          <a:noFill/>
          <a:ln/>
        </p:spPr>
        <p:txBody>
          <a:bodyPr wrap="square" lIns="0" tIns="0" rIns="0" bIns="0" rtlCol="0" anchor="t"/>
          <a:lstStyle/>
          <a:p>
            <a:pPr marL="0" indent="0">
              <a:buNone/>
            </a:pPr>
            <a:r>
              <a:rPr lang="en-US" sz="1100" dirty="0">
                <a:solidFill>
                  <a:srgbClr val="FFFFFF"/>
                </a:solidFill>
                <a:latin typeface="Arial" pitchFamily="34" charset="0"/>
                <a:ea typeface="Arial" pitchFamily="34" charset="-122"/>
                <a:cs typeface="Arial" pitchFamily="34" charset="-120"/>
              </a:rPr>
              <a:t>Factually accurate content, accessible language, respects client's brand voice</a:t>
            </a:r>
            <a:endParaRPr lang="en-US" sz="1100" dirty="0"/>
          </a:p>
        </p:txBody>
      </p:sp>
      <p:sp>
        <p:nvSpPr>
          <p:cNvPr id="29" name="Shape 27"/>
          <p:cNvSpPr/>
          <p:nvPr/>
        </p:nvSpPr>
        <p:spPr>
          <a:xfrm>
            <a:off x="4663440" y="3337560"/>
            <a:ext cx="4069080" cy="1097280"/>
          </a:xfrm>
          <a:prstGeom prst="roundRect">
            <a:avLst>
              <a:gd name="adj" fmla="val 8333"/>
            </a:avLst>
          </a:prstGeom>
          <a:solidFill>
            <a:srgbClr val="2A1800"/>
          </a:solidFill>
          <a:ln w="12700">
            <a:solidFill>
              <a:srgbClr val="D4870A"/>
            </a:solidFill>
            <a:prstDash val="solid"/>
          </a:ln>
          <a:effectLst>
            <a:outerShdw blurRad="101600" dist="38100" dir="2700000" algn="bl" rotWithShape="0">
              <a:srgbClr val="000000">
                <a:alpha val="25000"/>
              </a:srgbClr>
            </a:outerShdw>
          </a:effectLst>
        </p:spPr>
      </p:sp>
      <p:sp>
        <p:nvSpPr>
          <p:cNvPr id="30" name="Shape 28"/>
          <p:cNvSpPr/>
          <p:nvPr/>
        </p:nvSpPr>
        <p:spPr>
          <a:xfrm>
            <a:off x="4791456" y="3465576"/>
            <a:ext cx="658368" cy="347472"/>
          </a:xfrm>
          <a:prstGeom prst="roundRect">
            <a:avLst>
              <a:gd name="adj" fmla="val 13158"/>
            </a:avLst>
          </a:prstGeom>
          <a:solidFill>
            <a:srgbClr val="D4870A"/>
          </a:solidFill>
          <a:ln w="12700">
            <a:solidFill>
              <a:srgbClr val="FFFFFF">
                <a:alpha val="0"/>
              </a:srgbClr>
            </a:solidFill>
            <a:prstDash val="solid"/>
          </a:ln>
        </p:spPr>
      </p:sp>
      <p:sp>
        <p:nvSpPr>
          <p:cNvPr id="31" name="Text 29"/>
          <p:cNvSpPr/>
          <p:nvPr/>
        </p:nvSpPr>
        <p:spPr>
          <a:xfrm>
            <a:off x="4791456" y="3465576"/>
            <a:ext cx="658368" cy="347472"/>
          </a:xfrm>
          <a:prstGeom prst="rect">
            <a:avLst/>
          </a:prstGeom>
          <a:noFill/>
          <a:ln/>
        </p:spPr>
        <p:txBody>
          <a:bodyPr wrap="square" lIns="0" tIns="0" rIns="0" bIns="0" rtlCol="0" anchor="ctr"/>
          <a:lstStyle/>
          <a:p>
            <a:pPr marL="0" indent="0" algn="ctr">
              <a:buNone/>
            </a:pPr>
            <a:r>
              <a:rPr lang="en-US" sz="1100" b="1" dirty="0">
                <a:solidFill>
                  <a:srgbClr val="1C1200"/>
                </a:solidFill>
                <a:latin typeface="Arial" pitchFamily="34" charset="0"/>
                <a:ea typeface="Arial" pitchFamily="34" charset="-122"/>
                <a:cs typeface="Arial" pitchFamily="34" charset="-120"/>
              </a:rPr>
              <a:t>CLO6</a:t>
            </a:r>
            <a:endParaRPr lang="en-US" sz="1100" dirty="0"/>
          </a:p>
        </p:txBody>
      </p:sp>
      <p:sp>
        <p:nvSpPr>
          <p:cNvPr id="32" name="Text 30"/>
          <p:cNvSpPr/>
          <p:nvPr/>
        </p:nvSpPr>
        <p:spPr>
          <a:xfrm>
            <a:off x="5522976" y="3465576"/>
            <a:ext cx="3108960" cy="347472"/>
          </a:xfrm>
          <a:prstGeom prst="rect">
            <a:avLst/>
          </a:prstGeom>
          <a:noFill/>
          <a:ln/>
        </p:spPr>
        <p:txBody>
          <a:bodyPr wrap="square" lIns="0" tIns="0" rIns="0" bIns="0" rtlCol="0" anchor="ctr"/>
          <a:lstStyle/>
          <a:p>
            <a:pPr marL="0" indent="0">
              <a:buNone/>
            </a:pPr>
            <a:r>
              <a:rPr lang="en-US" sz="1200" b="1" dirty="0">
                <a:solidFill>
                  <a:srgbClr val="F5A623"/>
                </a:solidFill>
                <a:latin typeface="Arial" pitchFamily="34" charset="0"/>
                <a:ea typeface="Arial" pitchFamily="34" charset="-122"/>
                <a:cs typeface="Arial" pitchFamily="34" charset="-120"/>
              </a:rPr>
              <a:t>Handover Documentation</a:t>
            </a:r>
            <a:endParaRPr lang="en-US" sz="1200" dirty="0"/>
          </a:p>
        </p:txBody>
      </p:sp>
      <p:sp>
        <p:nvSpPr>
          <p:cNvPr id="33" name="Text 31"/>
          <p:cNvSpPr/>
          <p:nvPr/>
        </p:nvSpPr>
        <p:spPr>
          <a:xfrm>
            <a:off x="4864608" y="3867912"/>
            <a:ext cx="3749040" cy="502920"/>
          </a:xfrm>
          <a:prstGeom prst="rect">
            <a:avLst/>
          </a:prstGeom>
          <a:noFill/>
          <a:ln/>
        </p:spPr>
        <p:txBody>
          <a:bodyPr wrap="square" lIns="0" tIns="0" rIns="0" bIns="0" rtlCol="0" anchor="t"/>
          <a:lstStyle/>
          <a:p>
            <a:pPr marL="0" indent="0">
              <a:buNone/>
            </a:pPr>
            <a:r>
              <a:rPr lang="en-US" sz="1100" dirty="0">
                <a:solidFill>
                  <a:srgbClr val="FFFFFF"/>
                </a:solidFill>
                <a:latin typeface="Arial" pitchFamily="34" charset="0"/>
                <a:ea typeface="Arial" pitchFamily="34" charset="-122"/>
                <a:cs typeface="Arial" pitchFamily="34" charset="-120"/>
              </a:rPr>
              <a:t>Chapter 7 is a self-sufficient resource - client can manage SEO independently post-project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C1200"/>
        </a:solidFill>
        <a:effectLst/>
      </p:bgPr>
    </p:bg>
    <p:spTree>
      <p:nvGrpSpPr>
        <p:cNvPr id="1" name=""/>
        <p:cNvGrpSpPr/>
        <p:nvPr/>
      </p:nvGrpSpPr>
      <p:grpSpPr>
        <a:xfrm>
          <a:off x="0" y="0"/>
          <a:ext cx="0" cy="0"/>
          <a:chOff x="0" y="0"/>
          <a:chExt cx="0" cy="0"/>
        </a:xfrm>
      </p:grpSpPr>
      <p:sp>
        <p:nvSpPr>
          <p:cNvPr id="2" name="Shape 0"/>
          <p:cNvSpPr/>
          <p:nvPr/>
        </p:nvSpPr>
        <p:spPr>
          <a:xfrm>
            <a:off x="7406640" y="164592"/>
            <a:ext cx="438912" cy="438912"/>
          </a:xfrm>
          <a:prstGeom prst="ellipse">
            <a:avLst/>
          </a:prstGeom>
          <a:solidFill>
            <a:srgbClr val="D4870A">
              <a:alpha val="22000"/>
            </a:srgbClr>
          </a:solidFill>
          <a:ln w="6350">
            <a:solidFill>
              <a:srgbClr val="D4870A">
                <a:alpha val="50000"/>
              </a:srgbClr>
            </a:solidFill>
            <a:prstDash val="solid"/>
          </a:ln>
        </p:spPr>
      </p:sp>
      <p:sp>
        <p:nvSpPr>
          <p:cNvPr id="3" name="Shape 1"/>
          <p:cNvSpPr/>
          <p:nvPr/>
        </p:nvSpPr>
        <p:spPr>
          <a:xfrm>
            <a:off x="7955280" y="164592"/>
            <a:ext cx="438912" cy="438912"/>
          </a:xfrm>
          <a:prstGeom prst="ellipse">
            <a:avLst/>
          </a:prstGeom>
          <a:solidFill>
            <a:srgbClr val="D4870A">
              <a:alpha val="22000"/>
            </a:srgbClr>
          </a:solidFill>
          <a:ln w="6350">
            <a:solidFill>
              <a:srgbClr val="D4870A">
                <a:alpha val="50000"/>
              </a:srgbClr>
            </a:solidFill>
            <a:prstDash val="solid"/>
          </a:ln>
        </p:spPr>
      </p:sp>
      <p:sp>
        <p:nvSpPr>
          <p:cNvPr id="4" name="Shape 2"/>
          <p:cNvSpPr/>
          <p:nvPr/>
        </p:nvSpPr>
        <p:spPr>
          <a:xfrm>
            <a:off x="8503920" y="164592"/>
            <a:ext cx="438912" cy="438912"/>
          </a:xfrm>
          <a:prstGeom prst="ellipse">
            <a:avLst/>
          </a:prstGeom>
          <a:solidFill>
            <a:srgbClr val="D4870A">
              <a:alpha val="22000"/>
            </a:srgbClr>
          </a:solidFill>
          <a:ln w="6350">
            <a:solidFill>
              <a:srgbClr val="D4870A">
                <a:alpha val="50000"/>
              </a:srgbClr>
            </a:solidFill>
            <a:prstDash val="solid"/>
          </a:ln>
        </p:spPr>
      </p:sp>
      <p:sp>
        <p:nvSpPr>
          <p:cNvPr id="5" name="Shape 3"/>
          <p:cNvSpPr/>
          <p:nvPr/>
        </p:nvSpPr>
        <p:spPr>
          <a:xfrm>
            <a:off x="7132320" y="594360"/>
            <a:ext cx="438912" cy="438912"/>
          </a:xfrm>
          <a:prstGeom prst="ellipse">
            <a:avLst/>
          </a:prstGeom>
          <a:solidFill>
            <a:srgbClr val="D4870A">
              <a:alpha val="22000"/>
            </a:srgbClr>
          </a:solidFill>
          <a:ln w="6350">
            <a:solidFill>
              <a:srgbClr val="D4870A">
                <a:alpha val="50000"/>
              </a:srgbClr>
            </a:solidFill>
            <a:prstDash val="solid"/>
          </a:ln>
        </p:spPr>
      </p:sp>
      <p:sp>
        <p:nvSpPr>
          <p:cNvPr id="6" name="Shape 4"/>
          <p:cNvSpPr/>
          <p:nvPr/>
        </p:nvSpPr>
        <p:spPr>
          <a:xfrm>
            <a:off x="7680960" y="594360"/>
            <a:ext cx="438912" cy="438912"/>
          </a:xfrm>
          <a:prstGeom prst="ellipse">
            <a:avLst/>
          </a:prstGeom>
          <a:solidFill>
            <a:srgbClr val="D4870A">
              <a:alpha val="22000"/>
            </a:srgbClr>
          </a:solidFill>
          <a:ln w="6350">
            <a:solidFill>
              <a:srgbClr val="D4870A">
                <a:alpha val="50000"/>
              </a:srgbClr>
            </a:solidFill>
            <a:prstDash val="solid"/>
          </a:ln>
        </p:spPr>
      </p:sp>
      <p:sp>
        <p:nvSpPr>
          <p:cNvPr id="7" name="Shape 5"/>
          <p:cNvSpPr/>
          <p:nvPr/>
        </p:nvSpPr>
        <p:spPr>
          <a:xfrm>
            <a:off x="8229600" y="594360"/>
            <a:ext cx="438912" cy="438912"/>
          </a:xfrm>
          <a:prstGeom prst="ellipse">
            <a:avLst/>
          </a:prstGeom>
          <a:solidFill>
            <a:srgbClr val="D4870A">
              <a:alpha val="22000"/>
            </a:srgbClr>
          </a:solidFill>
          <a:ln w="6350">
            <a:solidFill>
              <a:srgbClr val="D4870A">
                <a:alpha val="50000"/>
              </a:srgbClr>
            </a:solidFill>
            <a:prstDash val="solid"/>
          </a:ln>
        </p:spPr>
      </p:sp>
      <p:sp>
        <p:nvSpPr>
          <p:cNvPr id="8" name="Shape 6"/>
          <p:cNvSpPr/>
          <p:nvPr/>
        </p:nvSpPr>
        <p:spPr>
          <a:xfrm>
            <a:off x="8778240" y="594360"/>
            <a:ext cx="438912" cy="438912"/>
          </a:xfrm>
          <a:prstGeom prst="ellipse">
            <a:avLst/>
          </a:prstGeom>
          <a:solidFill>
            <a:srgbClr val="D4870A">
              <a:alpha val="22000"/>
            </a:srgbClr>
          </a:solidFill>
          <a:ln w="6350">
            <a:solidFill>
              <a:srgbClr val="D4870A">
                <a:alpha val="50000"/>
              </a:srgbClr>
            </a:solidFill>
            <a:prstDash val="solid"/>
          </a:ln>
        </p:spPr>
      </p:sp>
      <p:sp>
        <p:nvSpPr>
          <p:cNvPr id="9" name="Shape 7"/>
          <p:cNvSpPr/>
          <p:nvPr/>
        </p:nvSpPr>
        <p:spPr>
          <a:xfrm>
            <a:off x="7406640" y="1024128"/>
            <a:ext cx="438912" cy="438912"/>
          </a:xfrm>
          <a:prstGeom prst="ellipse">
            <a:avLst/>
          </a:prstGeom>
          <a:solidFill>
            <a:srgbClr val="D4870A">
              <a:alpha val="22000"/>
            </a:srgbClr>
          </a:solidFill>
          <a:ln w="6350">
            <a:solidFill>
              <a:srgbClr val="D4870A">
                <a:alpha val="50000"/>
              </a:srgbClr>
            </a:solidFill>
            <a:prstDash val="solid"/>
          </a:ln>
        </p:spPr>
      </p:sp>
      <p:sp>
        <p:nvSpPr>
          <p:cNvPr id="10" name="Shape 8"/>
          <p:cNvSpPr/>
          <p:nvPr/>
        </p:nvSpPr>
        <p:spPr>
          <a:xfrm>
            <a:off x="7955280" y="1024128"/>
            <a:ext cx="438912" cy="438912"/>
          </a:xfrm>
          <a:prstGeom prst="ellipse">
            <a:avLst/>
          </a:prstGeom>
          <a:solidFill>
            <a:srgbClr val="D4870A">
              <a:alpha val="22000"/>
            </a:srgbClr>
          </a:solidFill>
          <a:ln w="6350">
            <a:solidFill>
              <a:srgbClr val="D4870A">
                <a:alpha val="50000"/>
              </a:srgbClr>
            </a:solidFill>
            <a:prstDash val="solid"/>
          </a:ln>
        </p:spPr>
      </p:sp>
      <p:sp>
        <p:nvSpPr>
          <p:cNvPr id="11" name="Shape 9"/>
          <p:cNvSpPr/>
          <p:nvPr/>
        </p:nvSpPr>
        <p:spPr>
          <a:xfrm>
            <a:off x="8503920" y="1024128"/>
            <a:ext cx="438912" cy="438912"/>
          </a:xfrm>
          <a:prstGeom prst="ellipse">
            <a:avLst/>
          </a:prstGeom>
          <a:solidFill>
            <a:srgbClr val="D4870A">
              <a:alpha val="22000"/>
            </a:srgbClr>
          </a:solidFill>
          <a:ln w="6350">
            <a:solidFill>
              <a:srgbClr val="D4870A">
                <a:alpha val="50000"/>
              </a:srgbClr>
            </a:solidFill>
            <a:prstDash val="solid"/>
          </a:ln>
        </p:spPr>
      </p:sp>
      <p:sp>
        <p:nvSpPr>
          <p:cNvPr id="12" name="Text 10"/>
          <p:cNvSpPr/>
          <p:nvPr/>
        </p:nvSpPr>
        <p:spPr>
          <a:xfrm>
            <a:off x="3657600" y="548640"/>
            <a:ext cx="1828800" cy="1097280"/>
          </a:xfrm>
          <a:prstGeom prst="rect">
            <a:avLst/>
          </a:prstGeom>
          <a:noFill/>
          <a:ln/>
        </p:spPr>
        <p:txBody>
          <a:bodyPr wrap="square" rtlCol="0" anchor="ctr"/>
          <a:lstStyle/>
          <a:p>
            <a:pPr marL="0" indent="0" algn="ctr">
              <a:buNone/>
            </a:pPr>
            <a:r>
              <a:rPr lang="en-US" sz="5600" dirty="0">
                <a:solidFill>
                  <a:srgbClr val="000000"/>
                </a:solidFill>
              </a:rPr>
              <a:t>🐝</a:t>
            </a:r>
            <a:endParaRPr lang="en-US" sz="5600" dirty="0"/>
          </a:p>
        </p:txBody>
      </p:sp>
      <p:sp>
        <p:nvSpPr>
          <p:cNvPr id="13" name="Text 11"/>
          <p:cNvSpPr/>
          <p:nvPr/>
        </p:nvSpPr>
        <p:spPr>
          <a:xfrm>
            <a:off x="914400" y="1645920"/>
            <a:ext cx="7315200" cy="640080"/>
          </a:xfrm>
          <a:prstGeom prst="rect">
            <a:avLst/>
          </a:prstGeom>
          <a:noFill/>
          <a:ln/>
        </p:spPr>
        <p:txBody>
          <a:bodyPr wrap="square" lIns="0" tIns="0" rIns="0" bIns="0" rtlCol="0" anchor="ctr"/>
          <a:lstStyle/>
          <a:p>
            <a:pPr marL="0" indent="0" algn="ctr">
              <a:buNone/>
            </a:pPr>
            <a:r>
              <a:rPr lang="en-US" sz="3400" b="1" dirty="0">
                <a:solidFill>
                  <a:srgbClr val="F5A623"/>
                </a:solidFill>
                <a:latin typeface="Arial" pitchFamily="34" charset="0"/>
                <a:ea typeface="Arial" pitchFamily="34" charset="-122"/>
                <a:cs typeface="Arial" pitchFamily="34" charset="-120"/>
              </a:rPr>
              <a:t>Ready for Questions</a:t>
            </a:r>
            <a:endParaRPr lang="en-US" sz="3400" dirty="0"/>
          </a:p>
        </p:txBody>
      </p:sp>
      <p:sp>
        <p:nvSpPr>
          <p:cNvPr id="14" name="Shape 12"/>
          <p:cNvSpPr/>
          <p:nvPr/>
        </p:nvSpPr>
        <p:spPr>
          <a:xfrm>
            <a:off x="2286000" y="2331720"/>
            <a:ext cx="4572000" cy="22860"/>
          </a:xfrm>
          <a:prstGeom prst="rect">
            <a:avLst/>
          </a:prstGeom>
          <a:solidFill>
            <a:srgbClr val="D4870A"/>
          </a:solidFill>
          <a:ln w="12700">
            <a:solidFill>
              <a:srgbClr val="FFFFFF">
                <a:alpha val="0"/>
              </a:srgbClr>
            </a:solidFill>
            <a:prstDash val="solid"/>
          </a:ln>
        </p:spPr>
      </p:sp>
      <p:sp>
        <p:nvSpPr>
          <p:cNvPr id="15" name="Text 13"/>
          <p:cNvSpPr/>
          <p:nvPr/>
        </p:nvSpPr>
        <p:spPr>
          <a:xfrm>
            <a:off x="914400" y="2468880"/>
            <a:ext cx="7315200" cy="365760"/>
          </a:xfrm>
          <a:prstGeom prst="rect">
            <a:avLst/>
          </a:prstGeom>
          <a:noFill/>
          <a:ln/>
        </p:spPr>
        <p:txBody>
          <a:bodyPr wrap="square" lIns="0" tIns="0" rIns="0" bIns="0" rtlCol="0" anchor="ctr"/>
          <a:lstStyle/>
          <a:p>
            <a:pPr marL="0" indent="0" algn="ctr">
              <a:buNone/>
            </a:pPr>
            <a:r>
              <a:rPr lang="en-US" sz="1400" dirty="0">
                <a:solidFill>
                  <a:srgbClr val="D4870A"/>
                </a:solidFill>
                <a:latin typeface="Arial" pitchFamily="34" charset="0"/>
                <a:ea typeface="Arial" pitchFamily="34" charset="-122"/>
                <a:cs typeface="Arial" pitchFamily="34" charset="-120"/>
              </a:rPr>
              <a:t>Nathan  |  A1963344  </a:t>
            </a:r>
            <a:r>
              <a:rPr lang="en-US" sz="1400">
                <a:solidFill>
                  <a:srgbClr val="D4870A"/>
                </a:solidFill>
                <a:latin typeface="Arial" pitchFamily="34" charset="0"/>
                <a:ea typeface="Arial" pitchFamily="34" charset="-122"/>
                <a:cs typeface="Arial" pitchFamily="34" charset="-120"/>
              </a:rPr>
              <a:t>|  CAPSTONE   </a:t>
            </a:r>
            <a:r>
              <a:rPr lang="en-US" sz="1400" dirty="0">
                <a:solidFill>
                  <a:srgbClr val="D4870A"/>
                </a:solidFill>
                <a:latin typeface="Arial" pitchFamily="34" charset="0"/>
                <a:ea typeface="Arial" pitchFamily="34" charset="-122"/>
                <a:cs typeface="Arial" pitchFamily="34" charset="-120"/>
              </a:rPr>
              <a:t>|  12 June 2026</a:t>
            </a:r>
            <a:endParaRPr lang="en-US" sz="1400" dirty="0"/>
          </a:p>
        </p:txBody>
      </p:sp>
      <p:sp>
        <p:nvSpPr>
          <p:cNvPr id="16" name="Text 14"/>
          <p:cNvSpPr/>
          <p:nvPr/>
        </p:nvSpPr>
        <p:spPr>
          <a:xfrm>
            <a:off x="914400" y="2880360"/>
            <a:ext cx="7315200" cy="320040"/>
          </a:xfrm>
          <a:prstGeom prst="rect">
            <a:avLst/>
          </a:prstGeom>
          <a:noFill/>
          <a:ln/>
        </p:spPr>
        <p:txBody>
          <a:bodyPr wrap="square" lIns="0" tIns="0" rIns="0" bIns="0" rtlCol="0" anchor="ctr"/>
          <a:lstStyle/>
          <a:p>
            <a:pPr marL="0" indent="0" algn="ctr">
              <a:buNone/>
            </a:pPr>
            <a:r>
              <a:rPr lang="en-US" sz="1300" dirty="0">
                <a:solidFill>
                  <a:srgbClr val="AAAAAA"/>
                </a:solidFill>
                <a:latin typeface="Arial" pitchFamily="34" charset="0"/>
                <a:ea typeface="Arial" pitchFamily="34" charset="-122"/>
                <a:cs typeface="Arial" pitchFamily="34" charset="-120"/>
              </a:rPr>
              <a:t>aphroditesharvest.com.au</a:t>
            </a:r>
            <a:endParaRPr lang="en-US" sz="1300" dirty="0"/>
          </a:p>
        </p:txBody>
      </p:sp>
      <p:sp>
        <p:nvSpPr>
          <p:cNvPr id="17" name="Shape 15"/>
          <p:cNvSpPr/>
          <p:nvPr/>
        </p:nvSpPr>
        <p:spPr>
          <a:xfrm>
            <a:off x="914400" y="3429000"/>
            <a:ext cx="7315200" cy="1463040"/>
          </a:xfrm>
          <a:prstGeom prst="roundRect">
            <a:avLst>
              <a:gd name="adj" fmla="val 6250"/>
            </a:avLst>
          </a:prstGeom>
          <a:solidFill>
            <a:srgbClr val="2A1800"/>
          </a:solidFill>
          <a:ln w="12700">
            <a:solidFill>
              <a:srgbClr val="D4870A"/>
            </a:solidFill>
            <a:prstDash val="solid"/>
          </a:ln>
        </p:spPr>
      </p:sp>
      <p:sp>
        <p:nvSpPr>
          <p:cNvPr id="18" name="Text 16"/>
          <p:cNvSpPr/>
          <p:nvPr/>
        </p:nvSpPr>
        <p:spPr>
          <a:xfrm>
            <a:off x="1097280" y="3493008"/>
            <a:ext cx="6949440" cy="274320"/>
          </a:xfrm>
          <a:prstGeom prst="rect">
            <a:avLst/>
          </a:prstGeom>
          <a:noFill/>
          <a:ln/>
        </p:spPr>
        <p:txBody>
          <a:bodyPr wrap="square" lIns="0" tIns="0" rIns="0" bIns="0" rtlCol="0" anchor="ctr"/>
          <a:lstStyle/>
          <a:p>
            <a:pPr marL="0" indent="0" algn="ctr">
              <a:buNone/>
            </a:pPr>
            <a:r>
              <a:rPr lang="en-US" sz="1100" b="1" dirty="0">
                <a:solidFill>
                  <a:srgbClr val="F5A623"/>
                </a:solidFill>
                <a:latin typeface="Arial" pitchFamily="34" charset="0"/>
                <a:ea typeface="Arial" pitchFamily="34" charset="-122"/>
                <a:cs typeface="Arial" pitchFamily="34" charset="-120"/>
              </a:rPr>
              <a:t>Quick Reference</a:t>
            </a:r>
            <a:endParaRPr lang="en-US" sz="1100" dirty="0"/>
          </a:p>
        </p:txBody>
      </p:sp>
      <p:sp>
        <p:nvSpPr>
          <p:cNvPr id="19" name="Text 17"/>
          <p:cNvSpPr/>
          <p:nvPr/>
        </p:nvSpPr>
        <p:spPr>
          <a:xfrm>
            <a:off x="1188720" y="3794760"/>
            <a:ext cx="6766560" cy="1005840"/>
          </a:xfrm>
          <a:prstGeom prst="rect">
            <a:avLst/>
          </a:prstGeom>
          <a:noFill/>
          <a:ln/>
        </p:spPr>
        <p:txBody>
          <a:bodyPr wrap="square" rtlCol="0" anchor="t"/>
          <a:lstStyle/>
          <a:p>
            <a:pPr marL="342900" indent="-342900">
              <a:spcAft>
                <a:spcPts val="200"/>
              </a:spcAft>
              <a:buSzPct val="100000"/>
              <a:buChar char="•"/>
            </a:pPr>
            <a:r>
              <a:rPr lang="en-US" sz="1100" dirty="0">
                <a:solidFill>
                  <a:srgbClr val="FFFFFF"/>
                </a:solidFill>
                <a:latin typeface="Arial" pitchFamily="34" charset="0"/>
                <a:ea typeface="Arial" pitchFamily="34" charset="-122"/>
                <a:cs typeface="Arial" pitchFamily="34" charset="-120"/>
              </a:rPr>
              <a:t>Chapter 7 Toolkit - Word doc</a:t>
            </a:r>
            <a:endParaRPr lang="en-US" sz="1100" dirty="0"/>
          </a:p>
          <a:p>
            <a:pPr marL="342900" indent="-342900">
              <a:spcAft>
                <a:spcPts val="200"/>
              </a:spcAft>
              <a:buSzPct val="100000"/>
              <a:buChar char="•"/>
            </a:pPr>
            <a:r>
              <a:rPr lang="en-US" sz="1100" dirty="0">
                <a:solidFill>
                  <a:srgbClr val="FFFFFF"/>
                </a:solidFill>
                <a:latin typeface="Arial" pitchFamily="34" charset="0"/>
                <a:ea typeface="Arial" pitchFamily="34" charset="-122"/>
                <a:cs typeface="Arial" pitchFamily="34" charset="-120"/>
              </a:rPr>
              <a:t>Live site - aphroditesharvest.com.au</a:t>
            </a:r>
            <a:endParaRPr lang="en-US" sz="1100" dirty="0"/>
          </a:p>
          <a:p>
            <a:pPr marL="342900" indent="-342900">
              <a:spcAft>
                <a:spcPts val="200"/>
              </a:spcAft>
              <a:buSzPct val="100000"/>
              <a:buChar char="•"/>
            </a:pPr>
            <a:r>
              <a:rPr lang="en-US" sz="1100" dirty="0">
                <a:solidFill>
                  <a:srgbClr val="FFFFFF"/>
                </a:solidFill>
                <a:latin typeface="Arial" pitchFamily="34" charset="0"/>
                <a:ea typeface="Arial" pitchFamily="34" charset="-122"/>
                <a:cs typeface="Arial" pitchFamily="34" charset="-120"/>
              </a:rPr>
              <a:t>Staging - staging2.aphroditesharvest.com.au</a:t>
            </a:r>
            <a:endParaRPr lang="en-US" sz="1100" dirty="0"/>
          </a:p>
          <a:p>
            <a:pPr marL="342900" indent="-342900">
              <a:spcAft>
                <a:spcPts val="200"/>
              </a:spcAft>
              <a:buSzPct val="100000"/>
              <a:buChar char="•"/>
            </a:pPr>
            <a:r>
              <a:rPr lang="en-US" sz="1100" dirty="0" err="1">
                <a:solidFill>
                  <a:srgbClr val="FFFFFF"/>
                </a:solidFill>
                <a:latin typeface="Arial" pitchFamily="34" charset="0"/>
                <a:ea typeface="Arial" pitchFamily="34" charset="-122"/>
                <a:cs typeface="Arial" pitchFamily="34" charset="-120"/>
              </a:rPr>
              <a:t>RankMath</a:t>
            </a:r>
            <a:r>
              <a:rPr lang="en-US" sz="1100" dirty="0">
                <a:solidFill>
                  <a:srgbClr val="FFFFFF"/>
                </a:solidFill>
                <a:latin typeface="Arial" pitchFamily="34" charset="0"/>
                <a:ea typeface="Arial" pitchFamily="34" charset="-122"/>
                <a:cs typeface="Arial" pitchFamily="34" charset="-120"/>
              </a:rPr>
              <a:t> - WP Admin</a:t>
            </a:r>
            <a:endParaRPr lang="en-US" sz="1100" dirty="0"/>
          </a:p>
          <a:p>
            <a:pPr marL="342900" indent="-342900">
              <a:spcAft>
                <a:spcPts val="200"/>
              </a:spcAft>
              <a:buSzPct val="100000"/>
              <a:buChar char="•"/>
            </a:pPr>
            <a:r>
              <a:rPr lang="en-US" sz="1100" dirty="0">
                <a:solidFill>
                  <a:srgbClr val="FFFFFF"/>
                </a:solidFill>
                <a:latin typeface="Arial" pitchFamily="34" charset="0"/>
                <a:ea typeface="Arial" pitchFamily="34" charset="-122"/>
                <a:cs typeface="Arial" pitchFamily="34" charset="-120"/>
              </a:rPr>
              <a:t>Blog Posts - 2 × published 9 June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TotalTime>
  <Words>1454</Words>
  <Application>Microsoft Office PowerPoint</Application>
  <PresentationFormat>On-screen Show (16:9)</PresentationFormat>
  <Paragraphs>253</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Aphrodite's Harvest — SEO Product Review</dc:title>
  <dc:subject>PptxGenJS Presentation</dc:subject>
  <dc:creator>Nathan A1963344</dc:creator>
  <cp:lastModifiedBy>Nathan Njonge</cp:lastModifiedBy>
  <cp:revision>2</cp:revision>
  <dcterms:created xsi:type="dcterms:W3CDTF">2026-06-11T00:01:54Z</dcterms:created>
  <dcterms:modified xsi:type="dcterms:W3CDTF">2026-06-11T02:07:28Z</dcterms:modified>
</cp:coreProperties>
</file>